
<file path=[Content_Types].xml><?xml version="1.0" encoding="utf-8"?>
<Types xmlns="http://schemas.openxmlformats.org/package/2006/content-types">
  <Default Extension="bin" ContentType="application/vnd.openxmlformats-officedocument.oleObject"/>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841" r:id="rId2"/>
    <p:sldId id="664" r:id="rId3"/>
    <p:sldId id="643" r:id="rId4"/>
    <p:sldId id="685" r:id="rId5"/>
    <p:sldId id="700" r:id="rId6"/>
    <p:sldId id="650" r:id="rId7"/>
    <p:sldId id="842" r:id="rId8"/>
    <p:sldId id="688" r:id="rId9"/>
    <p:sldId id="843" r:id="rId10"/>
    <p:sldId id="844" r:id="rId11"/>
    <p:sldId id="846" r:id="rId12"/>
    <p:sldId id="845" r:id="rId13"/>
    <p:sldId id="847" r:id="rId14"/>
    <p:sldId id="687" r:id="rId15"/>
    <p:sldId id="848" r:id="rId16"/>
    <p:sldId id="665" r:id="rId17"/>
    <p:sldId id="850" r:id="rId18"/>
    <p:sldId id="693" r:id="rId19"/>
    <p:sldId id="672" r:id="rId20"/>
    <p:sldId id="849" r:id="rId21"/>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A73AE"/>
    <a:srgbClr val="D4EBE3"/>
    <a:srgbClr val="538B4B"/>
    <a:srgbClr val="E8FAE5"/>
    <a:srgbClr val="9DA953"/>
    <a:srgbClr val="285023"/>
    <a:srgbClr val="FFD1CD"/>
    <a:srgbClr val="FFE3E1"/>
    <a:srgbClr val="0965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2A7FCD-1DB1-455F-AB84-95524E98C6B5}" v="3" dt="2023-08-21T02:40:34.70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87142" autoAdjust="0"/>
  </p:normalViewPr>
  <p:slideViewPr>
    <p:cSldViewPr snapToGrid="0">
      <p:cViewPr varScale="1">
        <p:scale>
          <a:sx n="96" d="100"/>
          <a:sy n="96" d="100"/>
        </p:scale>
        <p:origin x="776" y="68"/>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7B469C68-B96B-4B00-A936-4ED691395EEA}" type="datetimeFigureOut">
              <a:rPr lang="zh-CN" altLang="en-US" smtClean="0"/>
              <a:pPr/>
              <a:t>2024-06-03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957953-4CC8-4E4A-AD2D-7A5A0B36E814}" type="slidenum">
              <a:rPr lang="zh-CN" altLang="en-US" smtClean="0"/>
              <a:pPr/>
              <a:t>‹#›</a:t>
            </a:fld>
            <a:endParaRPr lang="zh-CN" altLang="en-US" dirty="0"/>
          </a:p>
        </p:txBody>
      </p:sp>
    </p:spTree>
    <p:extLst>
      <p:ext uri="{BB962C8B-B14F-4D97-AF65-F5344CB8AC3E}">
        <p14:creationId xmlns:p14="http://schemas.microsoft.com/office/powerpoint/2010/main" val="1880156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各位评委老师好，我是来自数据科学与大数据技术专业的周兴龙，我的指导老师是杨燕老师，我的毕设题目为基于</a:t>
            </a:r>
            <a:r>
              <a:rPr lang="en-US" altLang="zh-CN" dirty="0"/>
              <a:t>NLP</a:t>
            </a:r>
            <a:r>
              <a:rPr lang="zh-CN" altLang="en-US" dirty="0"/>
              <a:t>的情感分析系统的设计与实现</a:t>
            </a:r>
          </a:p>
        </p:txBody>
      </p:sp>
      <p:sp>
        <p:nvSpPr>
          <p:cNvPr id="4" name="灯片编号占位符 3"/>
          <p:cNvSpPr>
            <a:spLocks noGrp="1"/>
          </p:cNvSpPr>
          <p:nvPr>
            <p:ph type="sldNum" sz="quarter" idx="10"/>
          </p:nvPr>
        </p:nvSpPr>
        <p:spPr/>
        <p:txBody>
          <a:bodyPr/>
          <a:lstStyle/>
          <a:p>
            <a:fld id="{18C2FA54-A0C2-4F87-BC89-CBD56D30EC9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我将从如下四个方面进行介绍</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2</a:t>
            </a:fld>
            <a:endParaRPr lang="zh-CN" altLang="en-US" dirty="0"/>
          </a:p>
        </p:txBody>
      </p:sp>
    </p:spTree>
    <p:extLst>
      <p:ext uri="{BB962C8B-B14F-4D97-AF65-F5344CB8AC3E}">
        <p14:creationId xmlns:p14="http://schemas.microsoft.com/office/powerpoint/2010/main" val="2956185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首先是研究背景</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3</a:t>
            </a:fld>
            <a:endParaRPr lang="zh-CN" altLang="en-US" dirty="0"/>
          </a:p>
        </p:txBody>
      </p:sp>
    </p:spTree>
    <p:extLst>
      <p:ext uri="{BB962C8B-B14F-4D97-AF65-F5344CB8AC3E}">
        <p14:creationId xmlns:p14="http://schemas.microsoft.com/office/powerpoint/2010/main" val="3531390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情感分析的发展主要分为四个阶段，首先是基于规则的方法，此方法依赖于预定义的规则来进行情感分析，此方法简单易懂但他存在较大的局限性；第二个阶段是传统的机器学习方法，此方法相比于之前的规则方法已经有了很大的提升，但他需要人们手动提取构造特征；第三个阶段是深度学习，他最大的特点是不用手工构造特征，而依靠神经网络的自动学习就能实现较好的效果；但随着时间的推移，人们对情感分析分析的需求愈发上涨，基于预训练模型的方法也随之出现，此方法通过预先训练学习，可获得更好的性能。</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4</a:t>
            </a:fld>
            <a:endParaRPr lang="zh-CN" altLang="en-US" dirty="0"/>
          </a:p>
        </p:txBody>
      </p:sp>
    </p:spTree>
    <p:extLst>
      <p:ext uri="{BB962C8B-B14F-4D97-AF65-F5344CB8AC3E}">
        <p14:creationId xmlns:p14="http://schemas.microsoft.com/office/powerpoint/2010/main" val="3714094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随着预训练模型的不断发展，自然语言处理的性能也在随之提高，也给情感分析带来了新的挑战。本文后续的方案也主要是基于预训练模型来实现的，以进一步的提升情感分析的效果</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5</a:t>
            </a:fld>
            <a:endParaRPr lang="zh-CN" altLang="en-US" dirty="0"/>
          </a:p>
        </p:txBody>
      </p:sp>
    </p:spTree>
    <p:extLst>
      <p:ext uri="{BB962C8B-B14F-4D97-AF65-F5344CB8AC3E}">
        <p14:creationId xmlns:p14="http://schemas.microsoft.com/office/powerpoint/2010/main" val="1562600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接下来是研究内容</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6</a:t>
            </a:fld>
            <a:endParaRPr lang="zh-CN" altLang="en-US" dirty="0"/>
          </a:p>
        </p:txBody>
      </p:sp>
    </p:spTree>
    <p:extLst>
      <p:ext uri="{BB962C8B-B14F-4D97-AF65-F5344CB8AC3E}">
        <p14:creationId xmlns:p14="http://schemas.microsoft.com/office/powerpoint/2010/main" val="305878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算法的构建流程分为：数据分析、然后进行上下文建模、模型构建等</a:t>
            </a:r>
            <a:r>
              <a:rPr lang="en-US" altLang="zh-CN" dirty="0"/>
              <a:t>5</a:t>
            </a:r>
            <a:r>
              <a:rPr lang="zh-CN" altLang="en-US" dirty="0"/>
              <a:t>项</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7</a:t>
            </a:fld>
            <a:endParaRPr lang="zh-CN" altLang="en-US" dirty="0"/>
          </a:p>
        </p:txBody>
      </p:sp>
    </p:spTree>
    <p:extLst>
      <p:ext uri="{BB962C8B-B14F-4D97-AF65-F5344CB8AC3E}">
        <p14:creationId xmlns:p14="http://schemas.microsoft.com/office/powerpoint/2010/main" val="281363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数据分析方面，本文首先进行了文本长度分析，发现本赛题提供的数据集文本长度都偏短，所以后续会对文本进行扩充；</a:t>
            </a:r>
            <a:endParaRPr lang="en-US" altLang="zh-CN" dirty="0"/>
          </a:p>
          <a:p>
            <a:r>
              <a:rPr lang="zh-CN" altLang="en-US" dirty="0"/>
              <a:t>对情感标签进行了统计分析 从标签上的分布来看，数据标签分布不均匀，随着情感程度的加深，标签数量越少。</a:t>
            </a:r>
            <a:endParaRPr lang="en-US" altLang="zh-CN" dirty="0"/>
          </a:p>
          <a:p>
            <a:r>
              <a:rPr lang="zh-CN" altLang="en-US" dirty="0"/>
              <a:t>然后赛题提供的</a:t>
            </a:r>
            <a:r>
              <a:rPr lang="en-US" altLang="zh-CN" dirty="0"/>
              <a:t>42790</a:t>
            </a:r>
            <a:r>
              <a:rPr lang="zh-CN" altLang="en-US" dirty="0"/>
              <a:t>条训练样本中，存在</a:t>
            </a:r>
            <a:r>
              <a:rPr lang="en-US" altLang="zh-CN" dirty="0"/>
              <a:t>14.04%</a:t>
            </a:r>
            <a:r>
              <a:rPr lang="zh-CN" altLang="en-US" dirty="0"/>
              <a:t>的情感标签为缺失，由于整体上缺失情况为场景描写文本，因此直接对缺失标签进行剔除处理。</a:t>
            </a:r>
            <a:endParaRPr lang="en-US" altLang="zh-CN" dirty="0"/>
          </a:p>
          <a:p>
            <a:r>
              <a:rPr lang="zh-CN" altLang="en-US" dirty="0"/>
              <a:t>训练数据中存在</a:t>
            </a:r>
            <a:r>
              <a:rPr lang="en-US" altLang="zh-CN" dirty="0"/>
              <a:t>12.69%</a:t>
            </a:r>
            <a:r>
              <a:rPr lang="zh-CN" altLang="en-US" dirty="0"/>
              <a:t>的角色标签缺失情况，我们对该情况的场景进行了额外的文本标识。</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8</a:t>
            </a:fld>
            <a:endParaRPr lang="zh-CN" altLang="en-US" dirty="0"/>
          </a:p>
        </p:txBody>
      </p:sp>
    </p:spTree>
    <p:extLst>
      <p:ext uri="{BB962C8B-B14F-4D97-AF65-F5344CB8AC3E}">
        <p14:creationId xmlns:p14="http://schemas.microsoft.com/office/powerpoint/2010/main" val="597394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上下文建模分为三种方案：上面说</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9</a:t>
            </a:fld>
            <a:endParaRPr lang="zh-CN" altLang="en-US" dirty="0"/>
          </a:p>
        </p:txBody>
      </p:sp>
    </p:spTree>
    <p:extLst>
      <p:ext uri="{BB962C8B-B14F-4D97-AF65-F5344CB8AC3E}">
        <p14:creationId xmlns:p14="http://schemas.microsoft.com/office/powerpoint/2010/main" val="2148007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首先是</a:t>
            </a:r>
            <a:r>
              <a:rPr lang="en-US" altLang="zh-CN" dirty="0"/>
              <a:t>BERT+MMOE</a:t>
            </a:r>
            <a:r>
              <a:rPr lang="zh-CN" altLang="en-US" dirty="0"/>
              <a:t>方案，</a:t>
            </a:r>
            <a:r>
              <a:rPr lang="en-US" altLang="zh-CN" dirty="0"/>
              <a:t>MMOE</a:t>
            </a:r>
            <a:r>
              <a:rPr lang="zh-CN" altLang="en-US" dirty="0"/>
              <a:t>是针对多任务设计的一种网络结构，在多任务中有不错的表现，其结构如左图。结合</a:t>
            </a:r>
            <a:r>
              <a:rPr lang="en-US" altLang="zh-CN" dirty="0"/>
              <a:t>BERT</a:t>
            </a:r>
            <a:r>
              <a:rPr lang="zh-CN" altLang="en-US" dirty="0"/>
              <a:t>构建的模型结构如右图：首先将上下文文本拼接后，取角色对应位置的特征聚合后，直接接</a:t>
            </a:r>
            <a:r>
              <a:rPr lang="en-US" altLang="zh-CN" dirty="0"/>
              <a:t>MMOE</a:t>
            </a:r>
            <a:r>
              <a:rPr lang="zh-CN" altLang="en-US" dirty="0"/>
              <a:t>后进行回归任务的训练</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10</a:t>
            </a:fld>
            <a:endParaRPr lang="zh-CN" altLang="en-US" dirty="0"/>
          </a:p>
        </p:txBody>
      </p:sp>
    </p:spTree>
    <p:extLst>
      <p:ext uri="{BB962C8B-B14F-4D97-AF65-F5344CB8AC3E}">
        <p14:creationId xmlns:p14="http://schemas.microsoft.com/office/powerpoint/2010/main" val="1456355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a:t>
            </a:r>
            <a:r>
              <a:rPr lang="en-US" altLang="zh-CN" dirty="0"/>
              <a:t>BERT+AT-LSTM</a:t>
            </a:r>
            <a:r>
              <a:rPr lang="zh-CN" altLang="en-US" dirty="0"/>
              <a:t>方案：对象级细粒度情感分析不仅仅需要模型理解较长范围内的文本信息，同时还需要精确定位到“角色”。标准</a:t>
            </a:r>
            <a:r>
              <a:rPr lang="en-US" altLang="zh-CN" dirty="0"/>
              <a:t>LSTM</a:t>
            </a:r>
            <a:r>
              <a:rPr lang="zh-CN" altLang="en-US" dirty="0"/>
              <a:t>无法检测哪个是方面级情感分类的重要部分，本文使用了一种注意力机制，可以根据给定的方面捕获句子的关键部分。让目标词学习到更多与之相关的信息，即</a:t>
            </a:r>
            <a:r>
              <a:rPr lang="en-US" altLang="zh-CN" dirty="0"/>
              <a:t>AT-LSTM</a:t>
            </a:r>
            <a:r>
              <a:rPr lang="zh-CN" altLang="en-US" dirty="0"/>
              <a:t>，其结构如左图。最后构建的模型结构如右图，将上下文文本拼接后，取角色对应位置输入到</a:t>
            </a:r>
            <a:r>
              <a:rPr lang="en-US" altLang="zh-CN" dirty="0"/>
              <a:t>AT-LSTM</a:t>
            </a:r>
            <a:r>
              <a:rPr lang="zh-CN" altLang="en-US" dirty="0"/>
              <a:t>，</a:t>
            </a:r>
            <a:r>
              <a:rPr lang="en-US" altLang="zh-CN" dirty="0"/>
              <a:t>AT-LSTM</a:t>
            </a:r>
            <a:r>
              <a:rPr lang="zh-CN" altLang="en-US" dirty="0"/>
              <a:t>使用注意力机制加强模型对目标词上下文信息，然后进行回归任务。</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11</a:t>
            </a:fld>
            <a:endParaRPr lang="zh-CN" altLang="en-US" dirty="0"/>
          </a:p>
        </p:txBody>
      </p:sp>
    </p:spTree>
    <p:extLst>
      <p:ext uri="{BB962C8B-B14F-4D97-AF65-F5344CB8AC3E}">
        <p14:creationId xmlns:p14="http://schemas.microsoft.com/office/powerpoint/2010/main" val="1850031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a:t>
            </a:r>
            <a:r>
              <a:rPr lang="en-US" altLang="zh-CN" dirty="0"/>
              <a:t>BERT+</a:t>
            </a:r>
            <a:r>
              <a:rPr lang="zh-CN" altLang="en-US" dirty="0"/>
              <a:t>多头注意力机制：上下文中目标角色的情感对当前角色情感的影响程度可能不同，同时，不同的情感受到上下文影响也可能不一样，因此我们利用多头注意力机制获取不同情感下的上下文角色特征，结合</a:t>
            </a:r>
            <a:r>
              <a:rPr lang="en-US" altLang="zh-CN" dirty="0"/>
              <a:t>BERT</a:t>
            </a:r>
            <a:r>
              <a:rPr lang="zh-CN" altLang="en-US" dirty="0"/>
              <a:t>构建的模型结构如右图</a:t>
            </a:r>
            <a:r>
              <a:rPr lang="en-US" altLang="zh-CN" dirty="0"/>
              <a:t>:</a:t>
            </a:r>
            <a:r>
              <a:rPr lang="zh-CN" altLang="en-US" dirty="0"/>
              <a:t>将上下文文本拼接后，通过</a:t>
            </a:r>
            <a:r>
              <a:rPr lang="en-US" altLang="zh-CN" dirty="0"/>
              <a:t>BERT</a:t>
            </a:r>
            <a:r>
              <a:rPr lang="zh-CN" altLang="en-US" dirty="0"/>
              <a:t>模型分别提取当前文本以及不同上下文文本中目标角色位置的最后一层隐藏层表示，再为六个情感设置对应的神经注意力网络进行回归任务训练预测。</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12</a:t>
            </a:fld>
            <a:endParaRPr lang="zh-CN" altLang="en-US" dirty="0"/>
          </a:p>
        </p:txBody>
      </p:sp>
    </p:spTree>
    <p:extLst>
      <p:ext uri="{BB962C8B-B14F-4D97-AF65-F5344CB8AC3E}">
        <p14:creationId xmlns:p14="http://schemas.microsoft.com/office/powerpoint/2010/main" val="55348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在训练策略部分，本文采用了混合精度训练，加快模型训练和推理计算，提高训练效率。并使用多种模型训练技巧，提高了模型的泛化能力和鲁棒性。</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13</a:t>
            </a:fld>
            <a:endParaRPr lang="zh-CN" altLang="en-US" dirty="0"/>
          </a:p>
        </p:txBody>
      </p:sp>
    </p:spTree>
    <p:extLst>
      <p:ext uri="{BB962C8B-B14F-4D97-AF65-F5344CB8AC3E}">
        <p14:creationId xmlns:p14="http://schemas.microsoft.com/office/powerpoint/2010/main" val="3334907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首先是进行数据集的介绍，本文采用的数据集是来源于中国计算机学会主办的一个比赛，该比赛的主要任务就是对给定的数据出现的角色进行</a:t>
            </a:r>
            <a:r>
              <a:rPr lang="en-US" altLang="zh-CN" dirty="0"/>
              <a:t>6</a:t>
            </a:r>
            <a:r>
              <a:rPr lang="zh-CN" altLang="en-US" dirty="0"/>
              <a:t>种情感分析识别，下面的表格就是数据示例，每条数据包含四项，数据</a:t>
            </a:r>
            <a:r>
              <a:rPr lang="en-US" altLang="zh-CN" dirty="0"/>
              <a:t>id</a:t>
            </a:r>
            <a:r>
              <a:rPr lang="zh-CN" altLang="en-US" dirty="0"/>
              <a:t>，文本内容，文本角色，角色情感，赛题采用的评价指标是</a:t>
            </a:r>
            <a:r>
              <a:rPr lang="en-US" altLang="zh-CN" dirty="0"/>
              <a:t>RMSE</a:t>
            </a:r>
            <a:r>
              <a:rPr lang="zh-CN" altLang="en-US" dirty="0"/>
              <a:t>，从数据集我们可以看出，数据偏向口语化，与常见的书面化数据有较大差异；文段存在多个角色，角色也可能包含多种情感，所以后构建的模型需要有区分不同角色和同时识别多种情感的能力。</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14</a:t>
            </a:fld>
            <a:endParaRPr lang="zh-CN" altLang="en-US" dirty="0"/>
          </a:p>
        </p:txBody>
      </p:sp>
    </p:spTree>
    <p:extLst>
      <p:ext uri="{BB962C8B-B14F-4D97-AF65-F5344CB8AC3E}">
        <p14:creationId xmlns:p14="http://schemas.microsoft.com/office/powerpoint/2010/main" val="288056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最后是实验结果分析和模型融合，表格给出了各种方案的最优结果，从中可以得出，三个基础模型的效果都在</a:t>
            </a:r>
            <a:r>
              <a:rPr lang="en-US" altLang="zh-CN" dirty="0"/>
              <a:t>0.705+</a:t>
            </a:r>
            <a:r>
              <a:rPr lang="zh-CN" altLang="en-US" dirty="0"/>
              <a:t>，然后结果不同的训练技巧，最终的效果都在</a:t>
            </a:r>
            <a:r>
              <a:rPr lang="en-US" altLang="zh-CN" dirty="0"/>
              <a:t>0.71+</a:t>
            </a:r>
            <a:r>
              <a:rPr lang="zh-CN" altLang="en-US" dirty="0"/>
              <a:t>，最后结合了几个模型进行融合后的效果达到了</a:t>
            </a:r>
            <a:r>
              <a:rPr lang="en-US" altLang="zh-CN" dirty="0"/>
              <a:t>0.7126.</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15</a:t>
            </a:fld>
            <a:endParaRPr lang="zh-CN" altLang="en-US" dirty="0"/>
          </a:p>
        </p:txBody>
      </p:sp>
    </p:spTree>
    <p:extLst>
      <p:ext uri="{BB962C8B-B14F-4D97-AF65-F5344CB8AC3E}">
        <p14:creationId xmlns:p14="http://schemas.microsoft.com/office/powerpoint/2010/main" val="1338170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接下来是系统展示</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16</a:t>
            </a:fld>
            <a:endParaRPr lang="zh-CN" altLang="en-US" dirty="0"/>
          </a:p>
        </p:txBody>
      </p:sp>
    </p:spTree>
    <p:extLst>
      <p:ext uri="{BB962C8B-B14F-4D97-AF65-F5344CB8AC3E}">
        <p14:creationId xmlns:p14="http://schemas.microsoft.com/office/powerpoint/2010/main" val="1213492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17</a:t>
            </a:fld>
            <a:endParaRPr lang="zh-CN" altLang="en-US" dirty="0"/>
          </a:p>
        </p:txBody>
      </p:sp>
    </p:spTree>
    <p:extLst>
      <p:ext uri="{BB962C8B-B14F-4D97-AF65-F5344CB8AC3E}">
        <p14:creationId xmlns:p14="http://schemas.microsoft.com/office/powerpoint/2010/main" val="1840296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18</a:t>
            </a:fld>
            <a:endParaRPr lang="zh-CN" altLang="en-US" dirty="0"/>
          </a:p>
        </p:txBody>
      </p:sp>
    </p:spTree>
    <p:extLst>
      <p:ext uri="{BB962C8B-B14F-4D97-AF65-F5344CB8AC3E}">
        <p14:creationId xmlns:p14="http://schemas.microsoft.com/office/powerpoint/2010/main" val="1323144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进行研究总结，本文主要采用了三种方案进行构建模型、通过混合精度训练加快训练效率、使用训练技巧提高模型的效果，通过模型融合集齐了每个模型的优点，最终进行了直观的系统展示。此外，通过在重邮的四年学习，我也有幸推免至中国科学院大学。</a:t>
            </a:r>
          </a:p>
        </p:txBody>
      </p:sp>
      <p:sp>
        <p:nvSpPr>
          <p:cNvPr id="4" name="灯片编号占位符 3"/>
          <p:cNvSpPr>
            <a:spLocks noGrp="1"/>
          </p:cNvSpPr>
          <p:nvPr>
            <p:ph type="sldNum" sz="quarter" idx="5"/>
          </p:nvPr>
        </p:nvSpPr>
        <p:spPr/>
        <p:txBody>
          <a:bodyPr/>
          <a:lstStyle/>
          <a:p>
            <a:fld id="{78957953-4CC8-4E4A-AD2D-7A5A0B36E814}" type="slidenum">
              <a:rPr lang="zh-CN" altLang="en-US" smtClean="0"/>
              <a:pPr/>
              <a:t>19</a:t>
            </a:fld>
            <a:endParaRPr lang="zh-CN" altLang="en-US" dirty="0"/>
          </a:p>
        </p:txBody>
      </p:sp>
    </p:spTree>
    <p:extLst>
      <p:ext uri="{BB962C8B-B14F-4D97-AF65-F5344CB8AC3E}">
        <p14:creationId xmlns:p14="http://schemas.microsoft.com/office/powerpoint/2010/main" val="40164855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我的展示完毕，欢迎各位评委老师批评指正。</a:t>
            </a:r>
          </a:p>
        </p:txBody>
      </p:sp>
      <p:sp>
        <p:nvSpPr>
          <p:cNvPr id="4" name="灯片编号占位符 3"/>
          <p:cNvSpPr>
            <a:spLocks noGrp="1"/>
          </p:cNvSpPr>
          <p:nvPr>
            <p:ph type="sldNum" sz="quarter" idx="10"/>
          </p:nvPr>
        </p:nvSpPr>
        <p:spPr/>
        <p:txBody>
          <a:bodyPr/>
          <a:lstStyle/>
          <a:p>
            <a:fld id="{18C2FA54-A0C2-4F87-BC89-CBD56D30EC99}" type="slidenum">
              <a:rPr lang="zh-CN" altLang="en-US" smtClean="0"/>
              <a:t>20</a:t>
            </a:fld>
            <a:endParaRPr lang="zh-CN" altLang="en-US"/>
          </a:p>
        </p:txBody>
      </p:sp>
    </p:spTree>
    <p:extLst>
      <p:ext uri="{BB962C8B-B14F-4D97-AF65-F5344CB8AC3E}">
        <p14:creationId xmlns:p14="http://schemas.microsoft.com/office/powerpoint/2010/main" val="1755834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103" name="日期占位符 3">
            <a:extLst>
              <a:ext uri="{FF2B5EF4-FFF2-40B4-BE49-F238E27FC236}">
                <a16:creationId xmlns:a16="http://schemas.microsoft.com/office/drawing/2014/main" id="{73A8F9A3-69A1-4DCC-98A1-EA4A9E3C3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104" name="页脚占位符 4">
            <a:extLst>
              <a:ext uri="{FF2B5EF4-FFF2-40B4-BE49-F238E27FC236}">
                <a16:creationId xmlns:a16="http://schemas.microsoft.com/office/drawing/2014/main" id="{83DB2E34-1C69-470B-8823-9A91D9A28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6" name="灯片编号占位符 5">
            <a:extLst>
              <a:ext uri="{FF2B5EF4-FFF2-40B4-BE49-F238E27FC236}">
                <a16:creationId xmlns:a16="http://schemas.microsoft.com/office/drawing/2014/main" id="{C0D5BB13-F272-4047-A20E-C3C544356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t>‹#›</a:t>
            </a:fld>
            <a:endParaRPr lang="zh-CN" altLang="en-US"/>
          </a:p>
        </p:txBody>
      </p:sp>
    </p:spTree>
    <p:extLst>
      <p:ext uri="{BB962C8B-B14F-4D97-AF65-F5344CB8AC3E}">
        <p14:creationId xmlns:p14="http://schemas.microsoft.com/office/powerpoint/2010/main" val="30086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cxnSp>
        <p:nvCxnSpPr>
          <p:cNvPr id="60" name="直接连接符 59">
            <a:extLst>
              <a:ext uri="{FF2B5EF4-FFF2-40B4-BE49-F238E27FC236}">
                <a16:creationId xmlns:a16="http://schemas.microsoft.com/office/drawing/2014/main" id="{717F6FE9-3FE5-F76B-DF84-9A6112C0C266}"/>
              </a:ext>
            </a:extLst>
          </p:cNvPr>
          <p:cNvCxnSpPr>
            <a:cxnSpLocks/>
          </p:cNvCxnSpPr>
          <p:nvPr userDrawn="1"/>
        </p:nvCxnSpPr>
        <p:spPr>
          <a:xfrm>
            <a:off x="3522388" y="4530266"/>
            <a:ext cx="514722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文本占位符 13"/>
          <p:cNvSpPr>
            <a:spLocks noGrp="1"/>
          </p:cNvSpPr>
          <p:nvPr userDrawn="1">
            <p:ph type="body" sz="quarter" idx="12" hasCustomPrompt="1"/>
          </p:nvPr>
        </p:nvSpPr>
        <p:spPr>
          <a:xfrm>
            <a:off x="3522388" y="3642379"/>
            <a:ext cx="5147224" cy="830997"/>
          </a:xfrm>
          <a:prstGeom prst="rect">
            <a:avLst/>
          </a:prstGeom>
        </p:spPr>
        <p:txBody>
          <a:bodyPr wrap="square" lIns="0" tIns="0" rIns="0" bIns="0">
            <a:spAutoFit/>
          </a:bodyPr>
          <a:lstStyle>
            <a:lvl1pPr marL="0" indent="0" algn="ctr">
              <a:buNone/>
              <a:defRPr lang="zh-CN" altLang="en-US" sz="6000" b="1" spc="600" dirty="0">
                <a:solidFill>
                  <a:schemeClr val="accent1"/>
                </a:solidFill>
                <a:latin typeface="+mj-ea"/>
                <a:ea typeface="+mj-ea"/>
              </a:defRPr>
            </a:lvl1pPr>
          </a:lstStyle>
          <a:p>
            <a:pPr marL="0" lvl="0" algn="dist" fontAlgn="base"/>
            <a:r>
              <a:rPr lang="zh-CN" altLang="en-US" dirty="0"/>
              <a:t>输入标题</a:t>
            </a:r>
          </a:p>
        </p:txBody>
      </p:sp>
      <p:sp>
        <p:nvSpPr>
          <p:cNvPr id="4" name="文本占位符 3"/>
          <p:cNvSpPr>
            <a:spLocks noGrp="1"/>
          </p:cNvSpPr>
          <p:nvPr userDrawn="1">
            <p:ph type="body" sz="quarter" idx="14" hasCustomPrompt="1"/>
          </p:nvPr>
        </p:nvSpPr>
        <p:spPr>
          <a:xfrm>
            <a:off x="3808179" y="4688846"/>
            <a:ext cx="4575642" cy="263525"/>
          </a:xfrm>
          <a:prstGeom prst="rect">
            <a:avLst/>
          </a:prstGeom>
        </p:spPr>
        <p:txBody>
          <a:bodyPr lIns="0" tIns="0" rIns="0" bIns="0"/>
          <a:lstStyle>
            <a:lvl1pPr marL="0" indent="0" algn="ctr">
              <a:buNone/>
              <a:defRPr sz="1200" spc="3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
        <p:nvSpPr>
          <p:cNvPr id="120" name="日期占位符 3">
            <a:extLst>
              <a:ext uri="{FF2B5EF4-FFF2-40B4-BE49-F238E27FC236}">
                <a16:creationId xmlns:a16="http://schemas.microsoft.com/office/drawing/2014/main" id="{A48B684A-3B8B-481D-A266-6B88C45A51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121" name="页脚占位符 4">
            <a:extLst>
              <a:ext uri="{FF2B5EF4-FFF2-40B4-BE49-F238E27FC236}">
                <a16:creationId xmlns:a16="http://schemas.microsoft.com/office/drawing/2014/main" id="{86FDFE89-AFE5-4E84-9AAD-857C93FE09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2" name="灯片编号占位符 5">
            <a:extLst>
              <a:ext uri="{FF2B5EF4-FFF2-40B4-BE49-F238E27FC236}">
                <a16:creationId xmlns:a16="http://schemas.microsoft.com/office/drawing/2014/main" id="{64E5C7C6-4A25-4ADC-917D-C1DBB61EA0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t>‹#›</a:t>
            </a:fld>
            <a:endParaRPr lang="zh-CN" altLang="en-US"/>
          </a:p>
        </p:txBody>
      </p:sp>
      <p:grpSp>
        <p:nvGrpSpPr>
          <p:cNvPr id="2" name="组合 1">
            <a:extLst>
              <a:ext uri="{FF2B5EF4-FFF2-40B4-BE49-F238E27FC236}">
                <a16:creationId xmlns:a16="http://schemas.microsoft.com/office/drawing/2014/main" id="{B0015712-D034-9EA4-C966-C5D5D20880E9}"/>
              </a:ext>
            </a:extLst>
          </p:cNvPr>
          <p:cNvGrpSpPr/>
          <p:nvPr userDrawn="1"/>
        </p:nvGrpSpPr>
        <p:grpSpPr>
          <a:xfrm rot="5400000">
            <a:off x="5155806" y="927874"/>
            <a:ext cx="1880388" cy="2091432"/>
            <a:chOff x="971677" y="965546"/>
            <a:chExt cx="4549076" cy="5132692"/>
          </a:xfrm>
        </p:grpSpPr>
        <p:sp>
          <p:nvSpPr>
            <p:cNvPr id="3" name="Freeform 5">
              <a:extLst>
                <a:ext uri="{FF2B5EF4-FFF2-40B4-BE49-F238E27FC236}">
                  <a16:creationId xmlns:a16="http://schemas.microsoft.com/office/drawing/2014/main" id="{E905E319-E888-FDBE-49B4-D9FB0F134CC0}"/>
                </a:ext>
              </a:extLst>
            </p:cNvPr>
            <p:cNvSpPr/>
            <p:nvPr/>
          </p:nvSpPr>
          <p:spPr bwMode="auto">
            <a:xfrm rot="16200000">
              <a:off x="679869" y="1257354"/>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blipFill dpi="0" rotWithShape="0">
              <a:blip r:embed="rId2" cstate="print">
                <a:extLst>
                  <a:ext uri="{28A0092B-C50C-407E-A947-70E740481C1C}">
                    <a14:useLocalDpi xmlns:a14="http://schemas.microsoft.com/office/drawing/2010/main" val="0"/>
                  </a:ext>
                </a:extLst>
              </a:blip>
              <a:srcRect/>
              <a:stretch>
                <a:fillRect/>
              </a:stretch>
            </a:blip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800" b="0" i="0" u="none" strike="noStrike" kern="0" cap="none" spc="0" normalizeH="0" baseline="0" noProof="0" dirty="0">
                <a:ln>
                  <a:noFill/>
                </a:ln>
                <a:solidFill>
                  <a:prstClr val="black">
                    <a:lumMod val="75000"/>
                    <a:lumOff val="25000"/>
                  </a:prstClr>
                </a:solidFill>
                <a:effectLst/>
                <a:uLnTx/>
                <a:uFillTx/>
                <a:latin typeface="微软雅黑"/>
                <a:cs typeface="+mn-ea"/>
                <a:sym typeface="+mn-lt"/>
              </a:endParaRPr>
            </a:p>
          </p:txBody>
        </p:sp>
        <p:sp>
          <p:nvSpPr>
            <p:cNvPr id="5" name="Freeform 5">
              <a:extLst>
                <a:ext uri="{FF2B5EF4-FFF2-40B4-BE49-F238E27FC236}">
                  <a16:creationId xmlns:a16="http://schemas.microsoft.com/office/drawing/2014/main" id="{D03619C5-F969-65FE-81F9-156AA8309EB0}"/>
                </a:ext>
              </a:extLst>
            </p:cNvPr>
            <p:cNvSpPr/>
            <p:nvPr/>
          </p:nvSpPr>
          <p:spPr bwMode="auto">
            <a:xfrm rot="16200000">
              <a:off x="679869" y="1257354"/>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solidFill>
            <a:ln w="25400">
              <a:solidFill>
                <a:schemeClr val="accent1"/>
              </a:solidFill>
            </a:ln>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800" b="0" i="0" u="none" strike="noStrike" kern="0" cap="none" spc="0" normalizeH="0" baseline="0" noProof="0" dirty="0">
                <a:ln>
                  <a:noFill/>
                </a:ln>
                <a:solidFill>
                  <a:prstClr val="black">
                    <a:lumMod val="75000"/>
                    <a:lumOff val="25000"/>
                  </a:prstClr>
                </a:solidFill>
                <a:effectLst/>
                <a:uLnTx/>
                <a:uFillTx/>
                <a:latin typeface="微软雅黑"/>
                <a:cs typeface="+mn-ea"/>
                <a:sym typeface="+mn-lt"/>
              </a:endParaRPr>
            </a:p>
          </p:txBody>
        </p:sp>
        <p:sp>
          <p:nvSpPr>
            <p:cNvPr id="6" name="Freeform 5">
              <a:extLst>
                <a:ext uri="{FF2B5EF4-FFF2-40B4-BE49-F238E27FC236}">
                  <a16:creationId xmlns:a16="http://schemas.microsoft.com/office/drawing/2014/main" id="{2B6EAA53-FDB3-4337-2523-963AB12D5806}"/>
                </a:ext>
              </a:extLst>
            </p:cNvPr>
            <p:cNvSpPr/>
            <p:nvPr/>
          </p:nvSpPr>
          <p:spPr bwMode="auto">
            <a:xfrm rot="16200000">
              <a:off x="1090391" y="1688496"/>
              <a:ext cx="4159785" cy="368679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30000">
                  <a:sysClr val="window" lastClr="FFFFFF"/>
                </a:gs>
                <a:gs pos="100000">
                  <a:sysClr val="window" lastClr="FFFFFF">
                    <a:lumMod val="95000"/>
                  </a:sys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4800" b="0" i="0" u="none" strike="noStrike" kern="0" cap="none" spc="0" normalizeH="0" baseline="0" noProof="0" dirty="0">
                <a:ln>
                  <a:noFill/>
                </a:ln>
                <a:solidFill>
                  <a:prstClr val="black">
                    <a:lumMod val="75000"/>
                    <a:lumOff val="25000"/>
                  </a:prstClr>
                </a:solidFill>
                <a:effectLst/>
                <a:uLnTx/>
                <a:uFillTx/>
                <a:latin typeface="微软雅黑"/>
                <a:cs typeface="+mn-ea"/>
                <a:sym typeface="+mn-lt"/>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4800" b="0" i="0" u="none" strike="noStrike" kern="0" cap="none" spc="0" normalizeH="0" baseline="0" noProof="0" dirty="0">
                <a:ln>
                  <a:noFill/>
                </a:ln>
                <a:solidFill>
                  <a:prstClr val="black">
                    <a:lumMod val="75000"/>
                    <a:lumOff val="25000"/>
                  </a:prstClr>
                </a:solidFill>
                <a:effectLst/>
                <a:uLnTx/>
                <a:uFillTx/>
                <a:latin typeface="微软雅黑"/>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92DDB496-5386-4919-B149-1D404CC301B5}"/>
              </a:ext>
            </a:extLst>
          </p:cNvPr>
          <p:cNvGrpSpPr/>
          <p:nvPr userDrawn="1"/>
        </p:nvGrpSpPr>
        <p:grpSpPr>
          <a:xfrm flipV="1">
            <a:off x="11623041" y="6303058"/>
            <a:ext cx="568960" cy="554941"/>
            <a:chOff x="-3067387" y="5853843"/>
            <a:chExt cx="763656" cy="744840"/>
          </a:xfrm>
          <a:solidFill>
            <a:schemeClr val="bg1">
              <a:lumMod val="95000"/>
            </a:schemeClr>
          </a:solidFill>
        </p:grpSpPr>
        <p:sp>
          <p:nvSpPr>
            <p:cNvPr id="71" name="任意多边形: 形状 70">
              <a:extLst>
                <a:ext uri="{FF2B5EF4-FFF2-40B4-BE49-F238E27FC236}">
                  <a16:creationId xmlns:a16="http://schemas.microsoft.com/office/drawing/2014/main" id="{67A05C32-DD8F-4D6B-995B-56723CF3CE6C}"/>
                </a:ext>
              </a:extLst>
            </p:cNvPr>
            <p:cNvSpPr/>
            <p:nvPr/>
          </p:nvSpPr>
          <p:spPr>
            <a:xfrm>
              <a:off x="-3067387" y="5853843"/>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9807327F-D7EE-434C-BD96-F1AEA4E6B1FC}"/>
                </a:ext>
              </a:extLst>
            </p:cNvPr>
            <p:cNvSpPr/>
            <p:nvPr/>
          </p:nvSpPr>
          <p:spPr>
            <a:xfrm>
              <a:off x="-3067387" y="5973977"/>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0818E12B-8957-4FA7-BDB7-B077E3194EE8}"/>
                </a:ext>
              </a:extLst>
            </p:cNvPr>
            <p:cNvSpPr/>
            <p:nvPr/>
          </p:nvSpPr>
          <p:spPr>
            <a:xfrm>
              <a:off x="-3067387" y="6091445"/>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8" y="13335"/>
                  </a:cubicBezTo>
                  <a:cubicBezTo>
                    <a:pt x="2857" y="13335"/>
                    <a:pt x="0" y="10477"/>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91500211-5C6D-4E1D-913B-470E77F4BBED}"/>
                </a:ext>
              </a:extLst>
            </p:cNvPr>
            <p:cNvSpPr/>
            <p:nvPr/>
          </p:nvSpPr>
          <p:spPr>
            <a:xfrm>
              <a:off x="-3067387" y="6208908"/>
              <a:ext cx="37375" cy="37375"/>
            </a:xfrm>
            <a:custGeom>
              <a:avLst/>
              <a:gdLst>
                <a:gd name="connsiteX0" fmla="*/ 13335 w 13335"/>
                <a:gd name="connsiteY0" fmla="*/ 6667 h 13335"/>
                <a:gd name="connsiteX1" fmla="*/ 6668 w 13335"/>
                <a:gd name="connsiteY1" fmla="*/ 13335 h 13335"/>
                <a:gd name="connsiteX2" fmla="*/ 0 w 13335"/>
                <a:gd name="connsiteY2" fmla="*/ 6667 h 13335"/>
                <a:gd name="connsiteX3" fmla="*/ 6668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8" y="13335"/>
                  </a:cubicBezTo>
                  <a:cubicBezTo>
                    <a:pt x="2857" y="13335"/>
                    <a:pt x="0" y="10478"/>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1BB3BB59-455E-495E-96DC-508B9A9BC2A6}"/>
                </a:ext>
              </a:extLst>
            </p:cNvPr>
            <p:cNvSpPr/>
            <p:nvPr/>
          </p:nvSpPr>
          <p:spPr>
            <a:xfrm>
              <a:off x="-3067387" y="6326376"/>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8" y="13335"/>
                  </a:cubicBezTo>
                  <a:cubicBezTo>
                    <a:pt x="2857" y="13335"/>
                    <a:pt x="0" y="10477"/>
                    <a:pt x="0" y="6667"/>
                  </a:cubicBezTo>
                  <a:cubicBezTo>
                    <a:pt x="0" y="2857"/>
                    <a:pt x="2857" y="0"/>
                    <a:pt x="6668"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76" name="任意多边形: 形状 75">
              <a:extLst>
                <a:ext uri="{FF2B5EF4-FFF2-40B4-BE49-F238E27FC236}">
                  <a16:creationId xmlns:a16="http://schemas.microsoft.com/office/drawing/2014/main" id="{70E26222-C4D0-4D45-A4F0-30A56B64370B}"/>
                </a:ext>
              </a:extLst>
            </p:cNvPr>
            <p:cNvSpPr/>
            <p:nvPr/>
          </p:nvSpPr>
          <p:spPr>
            <a:xfrm>
              <a:off x="-3067387" y="6443842"/>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8" y="13335"/>
                  </a:cubicBezTo>
                  <a:cubicBezTo>
                    <a:pt x="2857" y="13335"/>
                    <a:pt x="0" y="10478"/>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B93ED65A-6469-4F5E-827B-92D2DB4E1764}"/>
                </a:ext>
              </a:extLst>
            </p:cNvPr>
            <p:cNvSpPr/>
            <p:nvPr/>
          </p:nvSpPr>
          <p:spPr>
            <a:xfrm>
              <a:off x="-3067387" y="6561305"/>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EF1B6837-DA8B-4C0D-8767-101B7C0CA8A5}"/>
                </a:ext>
              </a:extLst>
            </p:cNvPr>
            <p:cNvSpPr/>
            <p:nvPr/>
          </p:nvSpPr>
          <p:spPr>
            <a:xfrm>
              <a:off x="-2922131"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981C5525-7097-4DBB-A7D5-CF6266BEDF45}"/>
                </a:ext>
              </a:extLst>
            </p:cNvPr>
            <p:cNvSpPr/>
            <p:nvPr/>
          </p:nvSpPr>
          <p:spPr>
            <a:xfrm>
              <a:off x="-2922131"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B9F4429D-711E-4E22-91EF-E920BDC85C7A}"/>
                </a:ext>
              </a:extLst>
            </p:cNvPr>
            <p:cNvSpPr/>
            <p:nvPr/>
          </p:nvSpPr>
          <p:spPr>
            <a:xfrm>
              <a:off x="-2922131"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2F3F1606-1047-4E85-A9AF-0ADC2A526D99}"/>
                </a:ext>
              </a:extLst>
            </p:cNvPr>
            <p:cNvSpPr/>
            <p:nvPr/>
          </p:nvSpPr>
          <p:spPr>
            <a:xfrm>
              <a:off x="-2922131"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82" name="任意多边形: 形状 81">
              <a:extLst>
                <a:ext uri="{FF2B5EF4-FFF2-40B4-BE49-F238E27FC236}">
                  <a16:creationId xmlns:a16="http://schemas.microsoft.com/office/drawing/2014/main" id="{7CFD9171-58F0-4C8C-BF89-5F948B9DDD5D}"/>
                </a:ext>
              </a:extLst>
            </p:cNvPr>
            <p:cNvSpPr/>
            <p:nvPr/>
          </p:nvSpPr>
          <p:spPr>
            <a:xfrm>
              <a:off x="-2922131"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7CC9923A-B2A6-4EC5-ABC6-1DAA4F73AD2C}"/>
                </a:ext>
              </a:extLst>
            </p:cNvPr>
            <p:cNvSpPr/>
            <p:nvPr/>
          </p:nvSpPr>
          <p:spPr>
            <a:xfrm>
              <a:off x="-2922131"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4" name="任意多边形: 形状 83">
              <a:extLst>
                <a:ext uri="{FF2B5EF4-FFF2-40B4-BE49-F238E27FC236}">
                  <a16:creationId xmlns:a16="http://schemas.microsoft.com/office/drawing/2014/main" id="{4DB3B242-250A-4240-9430-5750AFB6F129}"/>
                </a:ext>
              </a:extLst>
            </p:cNvPr>
            <p:cNvSpPr/>
            <p:nvPr/>
          </p:nvSpPr>
          <p:spPr>
            <a:xfrm>
              <a:off x="-2922131"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85" name="任意多边形: 形状 84">
              <a:extLst>
                <a:ext uri="{FF2B5EF4-FFF2-40B4-BE49-F238E27FC236}">
                  <a16:creationId xmlns:a16="http://schemas.microsoft.com/office/drawing/2014/main" id="{A6BE318E-53D4-4357-87F3-AA13038235DE}"/>
                </a:ext>
              </a:extLst>
            </p:cNvPr>
            <p:cNvSpPr/>
            <p:nvPr/>
          </p:nvSpPr>
          <p:spPr>
            <a:xfrm>
              <a:off x="-2776875"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86" name="任意多边形: 形状 85">
              <a:extLst>
                <a:ext uri="{FF2B5EF4-FFF2-40B4-BE49-F238E27FC236}">
                  <a16:creationId xmlns:a16="http://schemas.microsoft.com/office/drawing/2014/main" id="{5EA3680C-F107-48C1-9A5A-F8CD9E899171}"/>
                </a:ext>
              </a:extLst>
            </p:cNvPr>
            <p:cNvSpPr/>
            <p:nvPr/>
          </p:nvSpPr>
          <p:spPr>
            <a:xfrm>
              <a:off x="-2776875"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45A9E066-AD56-4539-A264-D97EA475FB17}"/>
                </a:ext>
              </a:extLst>
            </p:cNvPr>
            <p:cNvSpPr/>
            <p:nvPr/>
          </p:nvSpPr>
          <p:spPr>
            <a:xfrm>
              <a:off x="-2776875"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8" name="任意多边形: 形状 87">
              <a:extLst>
                <a:ext uri="{FF2B5EF4-FFF2-40B4-BE49-F238E27FC236}">
                  <a16:creationId xmlns:a16="http://schemas.microsoft.com/office/drawing/2014/main" id="{648894FD-F216-4519-BC6E-69DD117020DA}"/>
                </a:ext>
              </a:extLst>
            </p:cNvPr>
            <p:cNvSpPr/>
            <p:nvPr/>
          </p:nvSpPr>
          <p:spPr>
            <a:xfrm>
              <a:off x="-2776875"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76BB14F6-336B-44CC-AB34-6AEFB602C02D}"/>
                </a:ext>
              </a:extLst>
            </p:cNvPr>
            <p:cNvSpPr/>
            <p:nvPr/>
          </p:nvSpPr>
          <p:spPr>
            <a:xfrm>
              <a:off x="-2776875"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1C52295B-7956-4B3B-9E04-FA509EDCD58C}"/>
                </a:ext>
              </a:extLst>
            </p:cNvPr>
            <p:cNvSpPr/>
            <p:nvPr/>
          </p:nvSpPr>
          <p:spPr>
            <a:xfrm>
              <a:off x="-2776875"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1" name="任意多边形: 形状 90">
              <a:extLst>
                <a:ext uri="{FF2B5EF4-FFF2-40B4-BE49-F238E27FC236}">
                  <a16:creationId xmlns:a16="http://schemas.microsoft.com/office/drawing/2014/main" id="{D7A55B85-3E93-4666-A4AA-798C58F776E1}"/>
                </a:ext>
              </a:extLst>
            </p:cNvPr>
            <p:cNvSpPr/>
            <p:nvPr/>
          </p:nvSpPr>
          <p:spPr>
            <a:xfrm>
              <a:off x="-2776875"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0C9D98AA-DB08-4FF8-8492-A1409D5ABCDB}"/>
                </a:ext>
              </a:extLst>
            </p:cNvPr>
            <p:cNvSpPr/>
            <p:nvPr/>
          </p:nvSpPr>
          <p:spPr>
            <a:xfrm>
              <a:off x="-2631618"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3" name="任意多边形: 形状 92">
              <a:extLst>
                <a:ext uri="{FF2B5EF4-FFF2-40B4-BE49-F238E27FC236}">
                  <a16:creationId xmlns:a16="http://schemas.microsoft.com/office/drawing/2014/main" id="{448DE71A-8A2A-472B-A6CE-9DCE6555AE55}"/>
                </a:ext>
              </a:extLst>
            </p:cNvPr>
            <p:cNvSpPr/>
            <p:nvPr/>
          </p:nvSpPr>
          <p:spPr>
            <a:xfrm>
              <a:off x="-2631618"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C93318E3-4B81-4B80-906B-6A49F3227F73}"/>
                </a:ext>
              </a:extLst>
            </p:cNvPr>
            <p:cNvSpPr/>
            <p:nvPr/>
          </p:nvSpPr>
          <p:spPr>
            <a:xfrm>
              <a:off x="-2631618"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79D6BF81-3B51-4D12-8B69-E5EA86C55A70}"/>
                </a:ext>
              </a:extLst>
            </p:cNvPr>
            <p:cNvSpPr/>
            <p:nvPr/>
          </p:nvSpPr>
          <p:spPr>
            <a:xfrm>
              <a:off x="-2631618"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589F4F86-7293-496C-9F44-87A135022ECC}"/>
                </a:ext>
              </a:extLst>
            </p:cNvPr>
            <p:cNvSpPr/>
            <p:nvPr/>
          </p:nvSpPr>
          <p:spPr>
            <a:xfrm>
              <a:off x="-2631618"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97" name="任意多边形: 形状 96">
              <a:extLst>
                <a:ext uri="{FF2B5EF4-FFF2-40B4-BE49-F238E27FC236}">
                  <a16:creationId xmlns:a16="http://schemas.microsoft.com/office/drawing/2014/main" id="{74593300-C8B2-4FC2-AEF9-E007F2008397}"/>
                </a:ext>
              </a:extLst>
            </p:cNvPr>
            <p:cNvSpPr/>
            <p:nvPr/>
          </p:nvSpPr>
          <p:spPr>
            <a:xfrm>
              <a:off x="-2631618"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74F68DFC-CF75-41BC-915E-9BB63E7AE167}"/>
                </a:ext>
              </a:extLst>
            </p:cNvPr>
            <p:cNvSpPr/>
            <p:nvPr/>
          </p:nvSpPr>
          <p:spPr>
            <a:xfrm>
              <a:off x="-2631618"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854BE94F-1290-4C33-8B92-EB09A3810DD1}"/>
                </a:ext>
              </a:extLst>
            </p:cNvPr>
            <p:cNvSpPr/>
            <p:nvPr/>
          </p:nvSpPr>
          <p:spPr>
            <a:xfrm>
              <a:off x="-2486362"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D295C5E3-979C-4B0E-B63E-97151C61850E}"/>
                </a:ext>
              </a:extLst>
            </p:cNvPr>
            <p:cNvSpPr/>
            <p:nvPr/>
          </p:nvSpPr>
          <p:spPr>
            <a:xfrm>
              <a:off x="-2486362"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6CD22037-3982-4CBD-AB07-0B2B464402B3}"/>
                </a:ext>
              </a:extLst>
            </p:cNvPr>
            <p:cNvSpPr/>
            <p:nvPr/>
          </p:nvSpPr>
          <p:spPr>
            <a:xfrm>
              <a:off x="-2486362"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09D7105B-5DB2-4FBD-8F89-D50F73420B32}"/>
                </a:ext>
              </a:extLst>
            </p:cNvPr>
            <p:cNvSpPr/>
            <p:nvPr/>
          </p:nvSpPr>
          <p:spPr>
            <a:xfrm>
              <a:off x="-2486362"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103" name="任意多边形: 形状 102">
              <a:extLst>
                <a:ext uri="{FF2B5EF4-FFF2-40B4-BE49-F238E27FC236}">
                  <a16:creationId xmlns:a16="http://schemas.microsoft.com/office/drawing/2014/main" id="{0C55FD3A-FA9F-43A9-B50E-728D3B9D4E94}"/>
                </a:ext>
              </a:extLst>
            </p:cNvPr>
            <p:cNvSpPr/>
            <p:nvPr/>
          </p:nvSpPr>
          <p:spPr>
            <a:xfrm>
              <a:off x="-2486362"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08819219-761B-494F-8F89-B52057C3FEBE}"/>
                </a:ext>
              </a:extLst>
            </p:cNvPr>
            <p:cNvSpPr/>
            <p:nvPr/>
          </p:nvSpPr>
          <p:spPr>
            <a:xfrm>
              <a:off x="-2486362"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07E8E0CF-E66A-417F-87F6-D0F2EA4703FA}"/>
                </a:ext>
              </a:extLst>
            </p:cNvPr>
            <p:cNvSpPr/>
            <p:nvPr/>
          </p:nvSpPr>
          <p:spPr>
            <a:xfrm>
              <a:off x="-2486362"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29B5B6E4-BA78-496F-AC84-76053DF5605F}"/>
                </a:ext>
              </a:extLst>
            </p:cNvPr>
            <p:cNvSpPr/>
            <p:nvPr/>
          </p:nvSpPr>
          <p:spPr>
            <a:xfrm>
              <a:off x="-2341106"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7" name="任意多边形: 形状 106">
              <a:extLst>
                <a:ext uri="{FF2B5EF4-FFF2-40B4-BE49-F238E27FC236}">
                  <a16:creationId xmlns:a16="http://schemas.microsoft.com/office/drawing/2014/main" id="{3BFE4A81-7AEE-4E4D-9F0C-70D092409C97}"/>
                </a:ext>
              </a:extLst>
            </p:cNvPr>
            <p:cNvSpPr/>
            <p:nvPr/>
          </p:nvSpPr>
          <p:spPr>
            <a:xfrm>
              <a:off x="-2341106"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FEBC0F99-7305-444B-BEE3-62AA3F997846}"/>
                </a:ext>
              </a:extLst>
            </p:cNvPr>
            <p:cNvSpPr/>
            <p:nvPr/>
          </p:nvSpPr>
          <p:spPr>
            <a:xfrm>
              <a:off x="-2341106"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EE8547D4-0756-441F-B00C-C0529FABA4B5}"/>
                </a:ext>
              </a:extLst>
            </p:cNvPr>
            <p:cNvSpPr/>
            <p:nvPr/>
          </p:nvSpPr>
          <p:spPr>
            <a:xfrm>
              <a:off x="-2341106"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110" name="任意多边形: 形状 109">
              <a:extLst>
                <a:ext uri="{FF2B5EF4-FFF2-40B4-BE49-F238E27FC236}">
                  <a16:creationId xmlns:a16="http://schemas.microsoft.com/office/drawing/2014/main" id="{BB9DB7C7-2A91-48ED-93A4-39E9D149E7A6}"/>
                </a:ext>
              </a:extLst>
            </p:cNvPr>
            <p:cNvSpPr/>
            <p:nvPr/>
          </p:nvSpPr>
          <p:spPr>
            <a:xfrm>
              <a:off x="-2341106"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111" name="任意多边形: 形状 110">
              <a:extLst>
                <a:ext uri="{FF2B5EF4-FFF2-40B4-BE49-F238E27FC236}">
                  <a16:creationId xmlns:a16="http://schemas.microsoft.com/office/drawing/2014/main" id="{0E8954ED-2611-4B1F-9EDE-D40F7D553920}"/>
                </a:ext>
              </a:extLst>
            </p:cNvPr>
            <p:cNvSpPr/>
            <p:nvPr/>
          </p:nvSpPr>
          <p:spPr>
            <a:xfrm>
              <a:off x="-2341106"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B33E13C0-8C3F-4179-8C35-2E97AFCB3E8F}"/>
                </a:ext>
              </a:extLst>
            </p:cNvPr>
            <p:cNvSpPr/>
            <p:nvPr/>
          </p:nvSpPr>
          <p:spPr>
            <a:xfrm>
              <a:off x="-2341106"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grpSp>
      <p:sp>
        <p:nvSpPr>
          <p:cNvPr id="4" name="标题 1"/>
          <p:cNvSpPr>
            <a:spLocks noGrp="1"/>
          </p:cNvSpPr>
          <p:nvPr>
            <p:ph type="title" hasCustomPrompt="1"/>
          </p:nvPr>
        </p:nvSpPr>
        <p:spPr>
          <a:xfrm>
            <a:off x="1357017" y="575069"/>
            <a:ext cx="6012872" cy="405102"/>
          </a:xfrm>
          <a:prstGeom prst="rect">
            <a:avLst/>
          </a:prstGeom>
        </p:spPr>
        <p:txBody>
          <a:bodyPr wrap="square" lIns="72000" tIns="36000" rIns="72000" bIns="36000">
            <a:spAutoFit/>
          </a:bodyPr>
          <a:lstStyle>
            <a:lvl1pPr algn="ctr">
              <a:defRPr lang="zh-CN" altLang="en-US" sz="2400" b="1" spc="300" dirty="0">
                <a:solidFill>
                  <a:schemeClr val="accent1"/>
                </a:solidFill>
                <a:latin typeface="+mj-ea"/>
                <a:ea typeface="+mj-ea"/>
                <a:cs typeface="+mn-cs"/>
              </a:defRPr>
            </a:lvl1pPr>
          </a:lstStyle>
          <a:p>
            <a:pPr marL="0" lvl="0" algn="dist" fontAlgn="base"/>
            <a:r>
              <a:rPr lang="zh-CN" altLang="en-US" dirty="0"/>
              <a:t>单击此处标题</a:t>
            </a:r>
          </a:p>
        </p:txBody>
      </p:sp>
      <p:cxnSp>
        <p:nvCxnSpPr>
          <p:cNvPr id="113" name="直接连接符 112">
            <a:extLst>
              <a:ext uri="{FF2B5EF4-FFF2-40B4-BE49-F238E27FC236}">
                <a16:creationId xmlns:a16="http://schemas.microsoft.com/office/drawing/2014/main" id="{8DABCEBE-48D4-43E4-A4EB-011BB1F086D9}"/>
              </a:ext>
            </a:extLst>
          </p:cNvPr>
          <p:cNvCxnSpPr>
            <a:cxnSpLocks/>
          </p:cNvCxnSpPr>
          <p:nvPr userDrawn="1"/>
        </p:nvCxnSpPr>
        <p:spPr>
          <a:xfrm>
            <a:off x="1057314" y="1108106"/>
            <a:ext cx="2715789"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1" name="日期占位符 3">
            <a:extLst>
              <a:ext uri="{FF2B5EF4-FFF2-40B4-BE49-F238E27FC236}">
                <a16:creationId xmlns:a16="http://schemas.microsoft.com/office/drawing/2014/main" id="{476D7DCC-2EAF-4049-A6E9-E15DBA1C1A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122" name="页脚占位符 4">
            <a:extLst>
              <a:ext uri="{FF2B5EF4-FFF2-40B4-BE49-F238E27FC236}">
                <a16:creationId xmlns:a16="http://schemas.microsoft.com/office/drawing/2014/main" id="{D1E2184E-AB19-4FBC-A35A-0B3623088A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3" name="灯片编号占位符 5">
            <a:extLst>
              <a:ext uri="{FF2B5EF4-FFF2-40B4-BE49-F238E27FC236}">
                <a16:creationId xmlns:a16="http://schemas.microsoft.com/office/drawing/2014/main" id="{88E40C16-8631-471A-81C9-2E611C5C5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t>‹#›</a:t>
            </a:fld>
            <a:endParaRPr lang="zh-CN" altLang="en-US"/>
          </a:p>
        </p:txBody>
      </p:sp>
      <p:sp>
        <p:nvSpPr>
          <p:cNvPr id="5" name="矩形 4">
            <a:extLst>
              <a:ext uri="{FF2B5EF4-FFF2-40B4-BE49-F238E27FC236}">
                <a16:creationId xmlns:a16="http://schemas.microsoft.com/office/drawing/2014/main" id="{FEBA5811-A1D8-1C8B-F17C-5E638483A685}"/>
              </a:ext>
            </a:extLst>
          </p:cNvPr>
          <p:cNvSpPr/>
          <p:nvPr userDrawn="1"/>
        </p:nvSpPr>
        <p:spPr>
          <a:xfrm rot="2700000">
            <a:off x="-189043" y="-266187"/>
            <a:ext cx="1032516" cy="1032516"/>
          </a:xfrm>
          <a:prstGeom prst="rect">
            <a:avLst/>
          </a:prstGeom>
          <a:solidFill>
            <a:schemeClr val="accent1"/>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7200" b="1">
              <a:solidFill>
                <a:schemeClr val="tx1">
                  <a:lumMod val="75000"/>
                  <a:lumOff val="25000"/>
                </a:schemeClr>
              </a:solidFill>
              <a:effectLst>
                <a:outerShdw blurRad="38100" dist="38100" dir="2700000" algn="tl">
                  <a:srgbClr val="000000">
                    <a:alpha val="43137"/>
                  </a:srgbClr>
                </a:outerShdw>
              </a:effectLst>
              <a:cs typeface="+mn-ea"/>
              <a:sym typeface="+mn-lt"/>
            </a:endParaRPr>
          </a:p>
        </p:txBody>
      </p:sp>
      <p:sp>
        <p:nvSpPr>
          <p:cNvPr id="3" name="矩形 2">
            <a:extLst>
              <a:ext uri="{FF2B5EF4-FFF2-40B4-BE49-F238E27FC236}">
                <a16:creationId xmlns:a16="http://schemas.microsoft.com/office/drawing/2014/main" id="{32791652-F20C-8B9A-A641-55A5A7FE2F03}"/>
              </a:ext>
            </a:extLst>
          </p:cNvPr>
          <p:cNvSpPr/>
          <p:nvPr userDrawn="1"/>
        </p:nvSpPr>
        <p:spPr>
          <a:xfrm rot="2700000">
            <a:off x="321942" y="-265384"/>
            <a:ext cx="1032516" cy="1032516"/>
          </a:xfrm>
          <a:prstGeom prst="rect">
            <a:avLst/>
          </a:prstGeom>
          <a:solidFill>
            <a:schemeClr val="accent1"/>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7200" b="1">
              <a:solidFill>
                <a:schemeClr val="tx1">
                  <a:lumMod val="75000"/>
                  <a:lumOff val="25000"/>
                </a:schemeClr>
              </a:solidFill>
              <a:effectLst>
                <a:outerShdw blurRad="38100" dist="38100" dir="2700000" algn="tl">
                  <a:srgbClr val="000000">
                    <a:alpha val="43137"/>
                  </a:srgbClr>
                </a:outerShdw>
              </a:effectLs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14:presetBounceEnd="4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0000">
                                          <p:cBhvr additive="base">
                                            <p:cTn id="7" dur="750" fill="hold"/>
                                            <p:tgtEl>
                                              <p:spTgt spid="3"/>
                                            </p:tgtEl>
                                            <p:attrNameLst>
                                              <p:attrName>ppt_x</p:attrName>
                                            </p:attrNameLst>
                                          </p:cBhvr>
                                          <p:tavLst>
                                            <p:tav tm="0">
                                              <p:val>
                                                <p:strVal val="1+#ppt_w/2"/>
                                              </p:val>
                                            </p:tav>
                                            <p:tav tm="100000">
                                              <p:val>
                                                <p:strVal val="#ppt_x"/>
                                              </p:val>
                                            </p:tav>
                                          </p:tavLst>
                                        </p:anim>
                                        <p:anim calcmode="lin" valueType="num" p14:bounceEnd="40000">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40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750" fill="hold"/>
                                            <p:tgtEl>
                                              <p:spTgt spid="5"/>
                                            </p:tgtEl>
                                            <p:attrNameLst>
                                              <p:attrName>ppt_x</p:attrName>
                                            </p:attrNameLst>
                                          </p:cBhvr>
                                          <p:tavLst>
                                            <p:tav tm="0">
                                              <p:val>
                                                <p:strVal val="1+#ppt_w/2"/>
                                              </p:val>
                                            </p:tav>
                                            <p:tav tm="100000">
                                              <p:val>
                                                <p:strVal val="#ppt_x"/>
                                              </p:val>
                                            </p:tav>
                                          </p:tavLst>
                                        </p:anim>
                                        <p:anim calcmode="lin" valueType="num" p14:bounceEnd="40000">
                                          <p:cBhvr additive="base">
                                            <p:cTn id="12" dur="75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1+#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750" fill="hold"/>
                                            <p:tgtEl>
                                              <p:spTgt spid="5"/>
                                            </p:tgtEl>
                                            <p:attrNameLst>
                                              <p:attrName>ppt_x</p:attrName>
                                            </p:attrNameLst>
                                          </p:cBhvr>
                                          <p:tavLst>
                                            <p:tav tm="0">
                                              <p:val>
                                                <p:strVal val="1+#ppt_w/2"/>
                                              </p:val>
                                            </p:tav>
                                            <p:tav tm="100000">
                                              <p:val>
                                                <p:strVal val="#ppt_x"/>
                                              </p:val>
                                            </p:tav>
                                          </p:tavLst>
                                        </p:anim>
                                        <p:anim calcmode="lin" valueType="num">
                                          <p:cBhvr additive="base">
                                            <p:cTn id="12" dur="75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spTree>
      <p:nvGrpSpPr>
        <p:cNvPr id="1" name=""/>
        <p:cNvGrpSpPr/>
        <p:nvPr/>
      </p:nvGrpSpPr>
      <p:grpSpPr>
        <a:xfrm>
          <a:off x="0" y="0"/>
          <a:ext cx="0" cy="0"/>
          <a:chOff x="0" y="0"/>
          <a:chExt cx="0" cy="0"/>
        </a:xfrm>
      </p:grpSpPr>
      <p:sp>
        <p:nvSpPr>
          <p:cNvPr id="103" name="日期占位符 3">
            <a:extLst>
              <a:ext uri="{FF2B5EF4-FFF2-40B4-BE49-F238E27FC236}">
                <a16:creationId xmlns:a16="http://schemas.microsoft.com/office/drawing/2014/main" id="{73A8F9A3-69A1-4DCC-98A1-EA4A9E3C3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104" name="页脚占位符 4">
            <a:extLst>
              <a:ext uri="{FF2B5EF4-FFF2-40B4-BE49-F238E27FC236}">
                <a16:creationId xmlns:a16="http://schemas.microsoft.com/office/drawing/2014/main" id="{83DB2E34-1C69-470B-8823-9A91D9A28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6" name="灯片编号占位符 5">
            <a:extLst>
              <a:ext uri="{FF2B5EF4-FFF2-40B4-BE49-F238E27FC236}">
                <a16:creationId xmlns:a16="http://schemas.microsoft.com/office/drawing/2014/main" id="{C0D5BB13-F272-4047-A20E-C3C5443564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t>‹#›</a:t>
            </a:fld>
            <a:endParaRPr lang="zh-CN" altLang="en-US"/>
          </a:p>
        </p:txBody>
      </p:sp>
    </p:spTree>
    <p:extLst>
      <p:ext uri="{BB962C8B-B14F-4D97-AF65-F5344CB8AC3E}">
        <p14:creationId xmlns:p14="http://schemas.microsoft.com/office/powerpoint/2010/main" val="1898080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5506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6D32F2-2783-9875-7FD7-CB80D00BDC8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0" name="矩形 9">
            <a:extLst>
              <a:ext uri="{FF2B5EF4-FFF2-40B4-BE49-F238E27FC236}">
                <a16:creationId xmlns:a16="http://schemas.microsoft.com/office/drawing/2014/main" id="{51B980A1-6EE2-69F7-44D6-8E8EE52A30C2}"/>
              </a:ext>
            </a:extLst>
          </p:cNvPr>
          <p:cNvSpPr/>
          <p:nvPr userDrawn="1"/>
        </p:nvSpPr>
        <p:spPr>
          <a:xfrm>
            <a:off x="213360" y="205740"/>
            <a:ext cx="11765280" cy="6446520"/>
          </a:xfrm>
          <a:prstGeom prst="rect">
            <a:avLst/>
          </a:prstGeom>
          <a:solidFill>
            <a:schemeClr val="bg1"/>
          </a:solidFill>
          <a:ln w="12700" cap="flat" cmpd="sng" algn="ctr">
            <a:noFill/>
            <a:prstDash val="solid"/>
            <a:miter lim="800000"/>
          </a:ln>
          <a:effectLst>
            <a:outerShdw blurRad="228600" sx="98000" sy="98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27BA2027-B061-F2F7-0D62-86A113BA6A2D}"/>
              </a:ext>
            </a:extLst>
          </p:cNvPr>
          <p:cNvSpPr/>
          <p:nvPr userDrawn="1"/>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3">
            <a:extLst>
              <a:ext uri="{FF2B5EF4-FFF2-40B4-BE49-F238E27FC236}">
                <a16:creationId xmlns:a16="http://schemas.microsoft.com/office/drawing/2014/main" id="{54C4A8C9-6C6B-40B5-B7E5-7BE505086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a:extLst>
              <a:ext uri="{FF2B5EF4-FFF2-40B4-BE49-F238E27FC236}">
                <a16:creationId xmlns:a16="http://schemas.microsoft.com/office/drawing/2014/main" id="{01527A92-A487-45EF-9481-818379FE88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4" name="灯片编号占位符 5">
            <a:extLst>
              <a:ext uri="{FF2B5EF4-FFF2-40B4-BE49-F238E27FC236}">
                <a16:creationId xmlns:a16="http://schemas.microsoft.com/office/drawing/2014/main" id="{720BEA35-CB1A-4EA7-A920-AD3AB361B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50" r:id="rId2"/>
    <p:sldLayoutId id="2147483651" r:id="rId3"/>
    <p:sldLayoutId id="2147483652" r:id="rId4"/>
    <p:sldLayoutId id="2147483654"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image" Target="../media/image7.png"/><Relationship Id="rId2" Type="http://schemas.openxmlformats.org/officeDocument/2006/relationships/tags" Target="../tags/tag4.xml"/><Relationship Id="rId16" Type="http://schemas.openxmlformats.org/officeDocument/2006/relationships/notesSlide" Target="../notesSlides/notesSlide7.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slideLayout" Target="../slideLayouts/slideLayout3.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0.xml"/><Relationship Id="rId7"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3.wmf"/><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25.wmf"/><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oleObject" Target="../embeddings/oleObject3.bin"/><Relationship Id="rId5" Type="http://schemas.openxmlformats.org/officeDocument/2006/relationships/image" Target="../media/image24.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media" Target="../media/media1.mp4"/><Relationship Id="rId7" Type="http://schemas.openxmlformats.org/officeDocument/2006/relationships/image" Target="../media/image26.png"/><Relationship Id="rId2" Type="http://schemas.openxmlformats.org/officeDocument/2006/relationships/video" Target="NULL" TargetMode="External"/><Relationship Id="rId1" Type="http://schemas.openxmlformats.org/officeDocument/2006/relationships/tags" Target="../tags/tag19.xml"/><Relationship Id="rId6" Type="http://schemas.openxmlformats.org/officeDocument/2006/relationships/image" Target="../media/image7.png"/><Relationship Id="rId5" Type="http://schemas.openxmlformats.org/officeDocument/2006/relationships/notesSlide" Target="../notesSlides/notesSlide17.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xml"/><Relationship Id="rId7" Type="http://schemas.openxmlformats.org/officeDocument/2006/relationships/notesSlide" Target="../notesSlides/notesSlide19.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3.xml"/><Relationship Id="rId5" Type="http://schemas.openxmlformats.org/officeDocument/2006/relationships/tags" Target="../tags/tag24.xml"/><Relationship Id="rId4" Type="http://schemas.openxmlformats.org/officeDocument/2006/relationships/tags" Target="../tags/tag2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27991" y="1624036"/>
            <a:ext cx="11569148" cy="297634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2" rIns="85683" bIns="42842" numCol="1" spcCol="0" rtlCol="0" fromWordArt="0" anchor="ctr" anchorCtr="0" forceAA="0" compatLnSpc="1">
            <a:noAutofit/>
          </a:bodyPr>
          <a:lstStyle/>
          <a:p>
            <a:pPr algn="ctr"/>
            <a:endParaRPr lang="zh-CN" altLang="en-US" sz="4125" b="1" dirty="0">
              <a:latin typeface="印品黑体" panose="00000500000000000000" pitchFamily="2" charset="-122"/>
              <a:ea typeface="印品黑体" panose="00000500000000000000" pitchFamily="2" charset="-122"/>
            </a:endParaRPr>
          </a:p>
        </p:txBody>
      </p:sp>
      <p:sp>
        <p:nvSpPr>
          <p:cNvPr id="116" name="等腰三角形 115"/>
          <p:cNvSpPr/>
          <p:nvPr/>
        </p:nvSpPr>
        <p:spPr>
          <a:xfrm flipV="1">
            <a:off x="5939807" y="4600379"/>
            <a:ext cx="312387" cy="187653"/>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2" rIns="85683" bIns="42842" numCol="1" spcCol="0" rtlCol="0" fromWordArt="0" anchor="ctr" anchorCtr="0" forceAA="0" compatLnSpc="1">
            <a:noAutofit/>
          </a:bodyPr>
          <a:lstStyle/>
          <a:p>
            <a:pPr algn="ctr"/>
            <a:endParaRPr lang="zh-CN" altLang="en-US" sz="1580" dirty="0">
              <a:latin typeface="印品黑体" panose="00000500000000000000" pitchFamily="2" charset="-122"/>
              <a:ea typeface="印品黑体" panose="00000500000000000000" pitchFamily="2" charset="-122"/>
            </a:endParaRPr>
          </a:p>
        </p:txBody>
      </p:sp>
      <p:sp>
        <p:nvSpPr>
          <p:cNvPr id="2" name="文本框 1"/>
          <p:cNvSpPr txBox="1"/>
          <p:nvPr/>
        </p:nvSpPr>
        <p:spPr>
          <a:xfrm>
            <a:off x="733886" y="2782795"/>
            <a:ext cx="10724225" cy="769441"/>
          </a:xfrm>
          <a:prstGeom prst="rect">
            <a:avLst/>
          </a:prstGeom>
          <a:noFill/>
        </p:spPr>
        <p:txBody>
          <a:bodyPr wrap="square" rtlCol="0">
            <a:spAutoFit/>
          </a:bodyPr>
          <a:lstStyle/>
          <a:p>
            <a:pPr algn="ctr"/>
            <a:r>
              <a:rPr lang="zh-CN" altLang="en-US" sz="4400" b="1" dirty="0">
                <a:solidFill>
                  <a:schemeClr val="bg1"/>
                </a:solidFill>
                <a:latin typeface="印品黑体" panose="00000500000000000000" pitchFamily="2" charset="-122"/>
                <a:ea typeface="印品黑体" panose="00000500000000000000" pitchFamily="2" charset="-122"/>
              </a:rPr>
              <a:t>基于</a:t>
            </a:r>
            <a:r>
              <a:rPr lang="en-US" altLang="zh-CN" sz="4400" b="1" dirty="0">
                <a:solidFill>
                  <a:schemeClr val="bg1"/>
                </a:solidFill>
                <a:latin typeface="印品黑体" panose="00000500000000000000" pitchFamily="2" charset="-122"/>
                <a:ea typeface="印品黑体" panose="00000500000000000000" pitchFamily="2" charset="-122"/>
              </a:rPr>
              <a:t>NLP</a:t>
            </a:r>
            <a:r>
              <a:rPr lang="zh-CN" altLang="en-US" sz="4400" b="1" dirty="0">
                <a:solidFill>
                  <a:schemeClr val="bg1"/>
                </a:solidFill>
                <a:latin typeface="印品黑体" panose="00000500000000000000" pitchFamily="2" charset="-122"/>
                <a:ea typeface="印品黑体" panose="00000500000000000000" pitchFamily="2" charset="-122"/>
              </a:rPr>
              <a:t>的情感分析系统的设计与实现</a:t>
            </a:r>
          </a:p>
        </p:txBody>
      </p:sp>
      <p:pic>
        <p:nvPicPr>
          <p:cNvPr id="18" name="Picture 2"/>
          <p:cNvPicPr>
            <a:picLocks noChangeAspect="1" noChangeArrowheads="1"/>
          </p:cNvPicPr>
          <p:nvPr/>
        </p:nvPicPr>
        <p:blipFill>
          <a:blip r:embed="rId3" cstate="print"/>
          <a:srcRect/>
          <a:stretch>
            <a:fillRect/>
          </a:stretch>
        </p:blipFill>
        <p:spPr bwMode="auto">
          <a:xfrm>
            <a:off x="445861" y="346957"/>
            <a:ext cx="576050" cy="606937"/>
          </a:xfrm>
          <a:prstGeom prst="rect">
            <a:avLst/>
          </a:prstGeom>
          <a:ln>
            <a:noFill/>
          </a:ln>
          <a:effectLst>
            <a:outerShdw blurRad="50800" dist="38100" dir="2700000" algn="tl" rotWithShape="0">
              <a:prstClr val="black">
                <a:alpha val="40000"/>
              </a:prstClr>
            </a:outerShdw>
            <a:reflection blurRad="6350" stA="50000" endA="300" endPos="55000" dir="5400000" sy="-100000" algn="bl" rotWithShape="0"/>
          </a:effectLst>
        </p:spPr>
      </p:pic>
      <p:pic>
        <p:nvPicPr>
          <p:cNvPr id="19" name="Picture 8" descr="白校名"/>
          <p:cNvPicPr>
            <a:picLocks noChangeAspect="1" noChangeArrowheads="1"/>
          </p:cNvPicPr>
          <p:nvPr/>
        </p:nvPicPr>
        <p:blipFill>
          <a:blip r:embed="rId4" cstate="print">
            <a:duotone>
              <a:prstClr val="black"/>
              <a:srgbClr val="0070C0">
                <a:tint val="45000"/>
                <a:satMod val="400000"/>
              </a:srgbClr>
            </a:duotone>
          </a:blip>
          <a:srcRect/>
          <a:stretch>
            <a:fillRect/>
          </a:stretch>
        </p:blipFill>
        <p:spPr bwMode="auto">
          <a:xfrm>
            <a:off x="1021911" y="337415"/>
            <a:ext cx="2736238" cy="711579"/>
          </a:xfrm>
          <a:prstGeom prst="rect">
            <a:avLst/>
          </a:prstGeom>
          <a:ln>
            <a:noFill/>
          </a:ln>
          <a:effectLst>
            <a:innerShdw blurRad="63500" dist="50800" dir="5400000">
              <a:prstClr val="black">
                <a:alpha val="50000"/>
              </a:prstClr>
            </a:innerShdw>
          </a:effectLst>
        </p:spPr>
      </p:pic>
      <p:sp>
        <p:nvSpPr>
          <p:cNvPr id="20" name="TextBox 7"/>
          <p:cNvSpPr txBox="1"/>
          <p:nvPr/>
        </p:nvSpPr>
        <p:spPr>
          <a:xfrm>
            <a:off x="1067066" y="844073"/>
            <a:ext cx="4865332" cy="231140"/>
          </a:xfrm>
          <a:prstGeom prst="rect">
            <a:avLst/>
          </a:prstGeom>
          <a:noFill/>
          <a:effectLst>
            <a:reflection blurRad="6350" stA="50000" endA="300" endPos="55000" dir="5400000" sy="-100000" algn="bl" rotWithShape="0"/>
          </a:effectLst>
        </p:spPr>
        <p:txBody>
          <a:bodyPr lIns="109161" tIns="54581" rIns="109161" bIns="5458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chemeClr val="bg2">
                    <a:lumMod val="10000"/>
                  </a:schemeClr>
                </a:solidFill>
                <a:effectLst/>
                <a:uLnTx/>
                <a:uFillTx/>
                <a:latin typeface="Calibri" panose="020F0502020204030204" charset="0"/>
                <a:ea typeface="+mn-ea"/>
                <a:cs typeface="Arial" panose="020B0604020202020204" pitchFamily="34" charset="0"/>
              </a:rPr>
              <a:t>CHONGQING  </a:t>
            </a:r>
            <a:r>
              <a:rPr lang="en-US" altLang="zh-CN" sz="800" b="1" dirty="0">
                <a:solidFill>
                  <a:schemeClr val="bg2">
                    <a:lumMod val="10000"/>
                  </a:schemeClr>
                </a:solidFill>
                <a:latin typeface="Calibri" panose="020F0502020204030204" charset="0"/>
                <a:cs typeface="Arial" panose="020B0604020202020204" pitchFamily="34" charset="0"/>
              </a:rPr>
              <a:t>U</a:t>
            </a:r>
            <a:r>
              <a:rPr kumimoji="0" lang="en-US" altLang="zh-CN" sz="800" b="1" i="0" u="none" strike="noStrike" kern="1200" cap="none" spc="0" normalizeH="0" baseline="0" noProof="0" dirty="0">
                <a:ln>
                  <a:noFill/>
                </a:ln>
                <a:solidFill>
                  <a:schemeClr val="bg2">
                    <a:lumMod val="10000"/>
                  </a:schemeClr>
                </a:solidFill>
                <a:effectLst/>
                <a:uLnTx/>
                <a:uFillTx/>
                <a:latin typeface="Calibri" panose="020F0502020204030204" charset="0"/>
                <a:ea typeface="+mn-ea"/>
                <a:cs typeface="Arial" panose="020B0604020202020204" pitchFamily="34" charset="0"/>
              </a:rPr>
              <a:t>NIVERCITY  OF  POSTS  AND  TELECOMMUBCATIONS</a:t>
            </a:r>
          </a:p>
        </p:txBody>
      </p:sp>
      <p:grpSp>
        <p:nvGrpSpPr>
          <p:cNvPr id="26" name="组合 25">
            <a:extLst>
              <a:ext uri="{FF2B5EF4-FFF2-40B4-BE49-F238E27FC236}">
                <a16:creationId xmlns:a16="http://schemas.microsoft.com/office/drawing/2014/main" id="{25A75C88-14A8-4E2E-B710-5D9CCC783098}"/>
              </a:ext>
            </a:extLst>
          </p:cNvPr>
          <p:cNvGrpSpPr/>
          <p:nvPr/>
        </p:nvGrpSpPr>
        <p:grpSpPr>
          <a:xfrm>
            <a:off x="445861" y="5149202"/>
            <a:ext cx="2264452" cy="876396"/>
            <a:chOff x="1435337" y="4941155"/>
            <a:chExt cx="2264452" cy="876396"/>
          </a:xfrm>
        </p:grpSpPr>
        <p:grpSp>
          <p:nvGrpSpPr>
            <p:cNvPr id="29" name="组合 28">
              <a:extLst>
                <a:ext uri="{FF2B5EF4-FFF2-40B4-BE49-F238E27FC236}">
                  <a16:creationId xmlns:a16="http://schemas.microsoft.com/office/drawing/2014/main" id="{262B6C1E-5261-4D11-BDF3-514C463E5880}"/>
                </a:ext>
              </a:extLst>
            </p:cNvPr>
            <p:cNvGrpSpPr/>
            <p:nvPr/>
          </p:nvGrpSpPr>
          <p:grpSpPr>
            <a:xfrm>
              <a:off x="2352214" y="4941155"/>
              <a:ext cx="439400" cy="439400"/>
              <a:chOff x="3972379" y="5134847"/>
              <a:chExt cx="439400" cy="439400"/>
            </a:xfrm>
          </p:grpSpPr>
          <p:sp>
            <p:nvSpPr>
              <p:cNvPr id="31" name="椭圆 30">
                <a:extLst>
                  <a:ext uri="{FF2B5EF4-FFF2-40B4-BE49-F238E27FC236}">
                    <a16:creationId xmlns:a16="http://schemas.microsoft.com/office/drawing/2014/main" id="{B643545D-4649-4886-B532-886CDF3A54BA}"/>
                  </a:ext>
                </a:extLst>
              </p:cNvPr>
              <p:cNvSpPr/>
              <p:nvPr/>
            </p:nvSpPr>
            <p:spPr>
              <a:xfrm>
                <a:off x="3972379" y="5134847"/>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32" name="male-university-graduate-silhouette-with-the-cap_46143">
                <a:extLst>
                  <a:ext uri="{FF2B5EF4-FFF2-40B4-BE49-F238E27FC236}">
                    <a16:creationId xmlns:a16="http://schemas.microsoft.com/office/drawing/2014/main" id="{130C17B1-29E6-4456-A096-456DE4282426}"/>
                  </a:ext>
                </a:extLst>
              </p:cNvPr>
              <p:cNvSpPr>
                <a:spLocks noChangeAspect="1"/>
              </p:cNvSpPr>
              <p:nvPr/>
            </p:nvSpPr>
            <p:spPr bwMode="auto">
              <a:xfrm>
                <a:off x="4076421" y="5229947"/>
                <a:ext cx="231316" cy="249201"/>
              </a:xfrm>
              <a:custGeom>
                <a:avLst/>
                <a:gdLst>
                  <a:gd name="T0" fmla="*/ 233 w 238"/>
                  <a:gd name="T1" fmla="*/ 236 h 256"/>
                  <a:gd name="T2" fmla="*/ 173 w 238"/>
                  <a:gd name="T3" fmla="*/ 210 h 256"/>
                  <a:gd name="T4" fmla="*/ 168 w 238"/>
                  <a:gd name="T5" fmla="*/ 207 h 256"/>
                  <a:gd name="T6" fmla="*/ 164 w 238"/>
                  <a:gd name="T7" fmla="*/ 195 h 256"/>
                  <a:gd name="T8" fmla="*/ 159 w 238"/>
                  <a:gd name="T9" fmla="*/ 189 h 256"/>
                  <a:gd name="T10" fmla="*/ 157 w 238"/>
                  <a:gd name="T11" fmla="*/ 186 h 256"/>
                  <a:gd name="T12" fmla="*/ 158 w 238"/>
                  <a:gd name="T13" fmla="*/ 167 h 256"/>
                  <a:gd name="T14" fmla="*/ 167 w 238"/>
                  <a:gd name="T15" fmla="*/ 149 h 256"/>
                  <a:gd name="T16" fmla="*/ 178 w 238"/>
                  <a:gd name="T17" fmla="*/ 113 h 256"/>
                  <a:gd name="T18" fmla="*/ 172 w 238"/>
                  <a:gd name="T19" fmla="*/ 109 h 256"/>
                  <a:gd name="T20" fmla="*/ 179 w 238"/>
                  <a:gd name="T21" fmla="*/ 77 h 256"/>
                  <a:gd name="T22" fmla="*/ 180 w 238"/>
                  <a:gd name="T23" fmla="*/ 84 h 256"/>
                  <a:gd name="T24" fmla="*/ 180 w 238"/>
                  <a:gd name="T25" fmla="*/ 86 h 256"/>
                  <a:gd name="T26" fmla="*/ 216 w 238"/>
                  <a:gd name="T27" fmla="*/ 63 h 256"/>
                  <a:gd name="T28" fmla="*/ 119 w 238"/>
                  <a:gd name="T29" fmla="*/ 0 h 256"/>
                  <a:gd name="T30" fmla="*/ 21 w 238"/>
                  <a:gd name="T31" fmla="*/ 63 h 256"/>
                  <a:gd name="T32" fmla="*/ 30 w 238"/>
                  <a:gd name="T33" fmla="*/ 69 h 256"/>
                  <a:gd name="T34" fmla="*/ 30 w 238"/>
                  <a:gd name="T35" fmla="*/ 82 h 256"/>
                  <a:gd name="T36" fmla="*/ 27 w 238"/>
                  <a:gd name="T37" fmla="*/ 85 h 256"/>
                  <a:gd name="T38" fmla="*/ 29 w 238"/>
                  <a:gd name="T39" fmla="*/ 89 h 256"/>
                  <a:gd name="T40" fmla="*/ 21 w 238"/>
                  <a:gd name="T41" fmla="*/ 133 h 256"/>
                  <a:gd name="T42" fmla="*/ 41 w 238"/>
                  <a:gd name="T43" fmla="*/ 133 h 256"/>
                  <a:gd name="T44" fmla="*/ 33 w 238"/>
                  <a:gd name="T45" fmla="*/ 89 h 256"/>
                  <a:gd name="T46" fmla="*/ 35 w 238"/>
                  <a:gd name="T47" fmla="*/ 85 h 256"/>
                  <a:gd name="T48" fmla="*/ 32 w 238"/>
                  <a:gd name="T49" fmla="*/ 82 h 256"/>
                  <a:gd name="T50" fmla="*/ 32 w 238"/>
                  <a:gd name="T51" fmla="*/ 70 h 256"/>
                  <a:gd name="T52" fmla="*/ 57 w 238"/>
                  <a:gd name="T53" fmla="*/ 86 h 256"/>
                  <a:gd name="T54" fmla="*/ 57 w 238"/>
                  <a:gd name="T55" fmla="*/ 85 h 256"/>
                  <a:gd name="T56" fmla="*/ 58 w 238"/>
                  <a:gd name="T57" fmla="*/ 92 h 256"/>
                  <a:gd name="T58" fmla="*/ 67 w 238"/>
                  <a:gd name="T59" fmla="*/ 109 h 256"/>
                  <a:gd name="T60" fmla="*/ 67 w 238"/>
                  <a:gd name="T61" fmla="*/ 110 h 256"/>
                  <a:gd name="T62" fmla="*/ 67 w 238"/>
                  <a:gd name="T63" fmla="*/ 110 h 256"/>
                  <a:gd name="T64" fmla="*/ 65 w 238"/>
                  <a:gd name="T65" fmla="*/ 113 h 256"/>
                  <a:gd name="T66" fmla="*/ 62 w 238"/>
                  <a:gd name="T67" fmla="*/ 118 h 256"/>
                  <a:gd name="T68" fmla="*/ 66 w 238"/>
                  <a:gd name="T69" fmla="*/ 138 h 256"/>
                  <a:gd name="T70" fmla="*/ 70 w 238"/>
                  <a:gd name="T71" fmla="*/ 148 h 256"/>
                  <a:gd name="T72" fmla="*/ 80 w 238"/>
                  <a:gd name="T73" fmla="*/ 166 h 256"/>
                  <a:gd name="T74" fmla="*/ 82 w 238"/>
                  <a:gd name="T75" fmla="*/ 170 h 256"/>
                  <a:gd name="T76" fmla="*/ 80 w 238"/>
                  <a:gd name="T77" fmla="*/ 186 h 256"/>
                  <a:gd name="T78" fmla="*/ 77 w 238"/>
                  <a:gd name="T79" fmla="*/ 189 h 256"/>
                  <a:gd name="T80" fmla="*/ 71 w 238"/>
                  <a:gd name="T81" fmla="*/ 195 h 256"/>
                  <a:gd name="T82" fmla="*/ 67 w 238"/>
                  <a:gd name="T83" fmla="*/ 206 h 256"/>
                  <a:gd name="T84" fmla="*/ 64 w 238"/>
                  <a:gd name="T85" fmla="*/ 209 h 256"/>
                  <a:gd name="T86" fmla="*/ 41 w 238"/>
                  <a:gd name="T87" fmla="*/ 217 h 256"/>
                  <a:gd name="T88" fmla="*/ 4 w 238"/>
                  <a:gd name="T89" fmla="*/ 237 h 256"/>
                  <a:gd name="T90" fmla="*/ 2 w 238"/>
                  <a:gd name="T91" fmla="*/ 256 h 256"/>
                  <a:gd name="T92" fmla="*/ 235 w 238"/>
                  <a:gd name="T93" fmla="*/ 256 h 256"/>
                  <a:gd name="T94" fmla="*/ 233 w 238"/>
                  <a:gd name="T95" fmla="*/ 2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56">
                    <a:moveTo>
                      <a:pt x="233" y="236"/>
                    </a:moveTo>
                    <a:cubicBezTo>
                      <a:pt x="210" y="226"/>
                      <a:pt x="197" y="218"/>
                      <a:pt x="173" y="210"/>
                    </a:cubicBezTo>
                    <a:cubicBezTo>
                      <a:pt x="171" y="209"/>
                      <a:pt x="169" y="208"/>
                      <a:pt x="168" y="207"/>
                    </a:cubicBezTo>
                    <a:cubicBezTo>
                      <a:pt x="166" y="203"/>
                      <a:pt x="165" y="199"/>
                      <a:pt x="164" y="195"/>
                    </a:cubicBezTo>
                    <a:cubicBezTo>
                      <a:pt x="163" y="193"/>
                      <a:pt x="162" y="190"/>
                      <a:pt x="159" y="189"/>
                    </a:cubicBezTo>
                    <a:cubicBezTo>
                      <a:pt x="158" y="189"/>
                      <a:pt x="157" y="187"/>
                      <a:pt x="157" y="186"/>
                    </a:cubicBezTo>
                    <a:cubicBezTo>
                      <a:pt x="157" y="177"/>
                      <a:pt x="154" y="171"/>
                      <a:pt x="158" y="167"/>
                    </a:cubicBezTo>
                    <a:cubicBezTo>
                      <a:pt x="165" y="161"/>
                      <a:pt x="164" y="153"/>
                      <a:pt x="167" y="149"/>
                    </a:cubicBezTo>
                    <a:cubicBezTo>
                      <a:pt x="171" y="145"/>
                      <a:pt x="180" y="117"/>
                      <a:pt x="178" y="113"/>
                    </a:cubicBezTo>
                    <a:cubicBezTo>
                      <a:pt x="176" y="109"/>
                      <a:pt x="170" y="111"/>
                      <a:pt x="172" y="109"/>
                    </a:cubicBezTo>
                    <a:cubicBezTo>
                      <a:pt x="177" y="102"/>
                      <a:pt x="179" y="89"/>
                      <a:pt x="179" y="77"/>
                    </a:cubicBezTo>
                    <a:cubicBezTo>
                      <a:pt x="180" y="79"/>
                      <a:pt x="180" y="81"/>
                      <a:pt x="180" y="84"/>
                    </a:cubicBezTo>
                    <a:cubicBezTo>
                      <a:pt x="180" y="86"/>
                      <a:pt x="180" y="86"/>
                      <a:pt x="180" y="86"/>
                    </a:cubicBezTo>
                    <a:cubicBezTo>
                      <a:pt x="216" y="63"/>
                      <a:pt x="216" y="63"/>
                      <a:pt x="216" y="63"/>
                    </a:cubicBezTo>
                    <a:cubicBezTo>
                      <a:pt x="119" y="0"/>
                      <a:pt x="119" y="0"/>
                      <a:pt x="119" y="0"/>
                    </a:cubicBezTo>
                    <a:cubicBezTo>
                      <a:pt x="21" y="63"/>
                      <a:pt x="21" y="63"/>
                      <a:pt x="21" y="63"/>
                    </a:cubicBezTo>
                    <a:cubicBezTo>
                      <a:pt x="30" y="69"/>
                      <a:pt x="30" y="69"/>
                      <a:pt x="30" y="69"/>
                    </a:cubicBezTo>
                    <a:cubicBezTo>
                      <a:pt x="30" y="82"/>
                      <a:pt x="30" y="82"/>
                      <a:pt x="30" y="82"/>
                    </a:cubicBezTo>
                    <a:cubicBezTo>
                      <a:pt x="29" y="82"/>
                      <a:pt x="27" y="84"/>
                      <a:pt x="27" y="85"/>
                    </a:cubicBezTo>
                    <a:cubicBezTo>
                      <a:pt x="27" y="87"/>
                      <a:pt x="28" y="88"/>
                      <a:pt x="29" y="89"/>
                    </a:cubicBezTo>
                    <a:cubicBezTo>
                      <a:pt x="21" y="133"/>
                      <a:pt x="21" y="133"/>
                      <a:pt x="21" y="133"/>
                    </a:cubicBezTo>
                    <a:cubicBezTo>
                      <a:pt x="41" y="133"/>
                      <a:pt x="41" y="133"/>
                      <a:pt x="41" y="133"/>
                    </a:cubicBezTo>
                    <a:cubicBezTo>
                      <a:pt x="33" y="89"/>
                      <a:pt x="33" y="89"/>
                      <a:pt x="33" y="89"/>
                    </a:cubicBezTo>
                    <a:cubicBezTo>
                      <a:pt x="34" y="88"/>
                      <a:pt x="35" y="87"/>
                      <a:pt x="35" y="85"/>
                    </a:cubicBezTo>
                    <a:cubicBezTo>
                      <a:pt x="35" y="84"/>
                      <a:pt x="34" y="82"/>
                      <a:pt x="32" y="82"/>
                    </a:cubicBezTo>
                    <a:cubicBezTo>
                      <a:pt x="32" y="70"/>
                      <a:pt x="32" y="70"/>
                      <a:pt x="32" y="70"/>
                    </a:cubicBezTo>
                    <a:cubicBezTo>
                      <a:pt x="57" y="86"/>
                      <a:pt x="57" y="86"/>
                      <a:pt x="57" y="86"/>
                    </a:cubicBezTo>
                    <a:cubicBezTo>
                      <a:pt x="57" y="85"/>
                      <a:pt x="57" y="85"/>
                      <a:pt x="57" y="85"/>
                    </a:cubicBezTo>
                    <a:cubicBezTo>
                      <a:pt x="57" y="87"/>
                      <a:pt x="57" y="89"/>
                      <a:pt x="58" y="92"/>
                    </a:cubicBezTo>
                    <a:cubicBezTo>
                      <a:pt x="60" y="100"/>
                      <a:pt x="64" y="100"/>
                      <a:pt x="67" y="109"/>
                    </a:cubicBezTo>
                    <a:cubicBezTo>
                      <a:pt x="67" y="109"/>
                      <a:pt x="67" y="110"/>
                      <a:pt x="67" y="110"/>
                    </a:cubicBezTo>
                    <a:cubicBezTo>
                      <a:pt x="67" y="110"/>
                      <a:pt x="67" y="110"/>
                      <a:pt x="67" y="110"/>
                    </a:cubicBezTo>
                    <a:cubicBezTo>
                      <a:pt x="66" y="111"/>
                      <a:pt x="66" y="113"/>
                      <a:pt x="65" y="113"/>
                    </a:cubicBezTo>
                    <a:cubicBezTo>
                      <a:pt x="61" y="114"/>
                      <a:pt x="61" y="116"/>
                      <a:pt x="62" y="118"/>
                    </a:cubicBezTo>
                    <a:cubicBezTo>
                      <a:pt x="62" y="120"/>
                      <a:pt x="65" y="133"/>
                      <a:pt x="66" y="138"/>
                    </a:cubicBezTo>
                    <a:cubicBezTo>
                      <a:pt x="67" y="141"/>
                      <a:pt x="70" y="144"/>
                      <a:pt x="70" y="148"/>
                    </a:cubicBezTo>
                    <a:cubicBezTo>
                      <a:pt x="72" y="155"/>
                      <a:pt x="75" y="161"/>
                      <a:pt x="80" y="166"/>
                    </a:cubicBezTo>
                    <a:cubicBezTo>
                      <a:pt x="81" y="167"/>
                      <a:pt x="82" y="169"/>
                      <a:pt x="82" y="170"/>
                    </a:cubicBezTo>
                    <a:cubicBezTo>
                      <a:pt x="81" y="175"/>
                      <a:pt x="81" y="181"/>
                      <a:pt x="80" y="186"/>
                    </a:cubicBezTo>
                    <a:cubicBezTo>
                      <a:pt x="80" y="187"/>
                      <a:pt x="78" y="189"/>
                      <a:pt x="77" y="189"/>
                    </a:cubicBezTo>
                    <a:cubicBezTo>
                      <a:pt x="73" y="190"/>
                      <a:pt x="72" y="193"/>
                      <a:pt x="71" y="195"/>
                    </a:cubicBezTo>
                    <a:cubicBezTo>
                      <a:pt x="70" y="199"/>
                      <a:pt x="69" y="203"/>
                      <a:pt x="67" y="206"/>
                    </a:cubicBezTo>
                    <a:cubicBezTo>
                      <a:pt x="67" y="207"/>
                      <a:pt x="65" y="209"/>
                      <a:pt x="64" y="209"/>
                    </a:cubicBezTo>
                    <a:cubicBezTo>
                      <a:pt x="56" y="212"/>
                      <a:pt x="49" y="214"/>
                      <a:pt x="41" y="217"/>
                    </a:cubicBezTo>
                    <a:cubicBezTo>
                      <a:pt x="33" y="220"/>
                      <a:pt x="12" y="233"/>
                      <a:pt x="4" y="237"/>
                    </a:cubicBezTo>
                    <a:cubicBezTo>
                      <a:pt x="0" y="239"/>
                      <a:pt x="2" y="256"/>
                      <a:pt x="2" y="256"/>
                    </a:cubicBezTo>
                    <a:cubicBezTo>
                      <a:pt x="235" y="256"/>
                      <a:pt x="235" y="256"/>
                      <a:pt x="235" y="256"/>
                    </a:cubicBezTo>
                    <a:cubicBezTo>
                      <a:pt x="235" y="256"/>
                      <a:pt x="238" y="238"/>
                      <a:pt x="233" y="236"/>
                    </a:cubicBezTo>
                    <a:close/>
                  </a:path>
                </a:pathLst>
              </a:custGeom>
              <a:solidFill>
                <a:schemeClr val="bg1"/>
              </a:solidFill>
              <a:ln>
                <a:noFill/>
              </a:ln>
            </p:spPr>
          </p:sp>
        </p:grpSp>
        <p:sp>
          <p:nvSpPr>
            <p:cNvPr id="30" name="文本框 29">
              <a:extLst>
                <a:ext uri="{FF2B5EF4-FFF2-40B4-BE49-F238E27FC236}">
                  <a16:creationId xmlns:a16="http://schemas.microsoft.com/office/drawing/2014/main" id="{3B6701EA-141F-4FE8-A8D9-C1D66C939077}"/>
                </a:ext>
              </a:extLst>
            </p:cNvPr>
            <p:cNvSpPr txBox="1"/>
            <p:nvPr/>
          </p:nvSpPr>
          <p:spPr>
            <a:xfrm>
              <a:off x="1435337" y="5478997"/>
              <a:ext cx="2264452" cy="338554"/>
            </a:xfrm>
            <a:prstGeom prst="rect">
              <a:avLst/>
            </a:prstGeom>
            <a:noFill/>
          </p:spPr>
          <p:txBody>
            <a:bodyPr wrap="square" rtlCol="0">
              <a:spAutoFit/>
            </a:bodyPr>
            <a:lstStyle/>
            <a:p>
              <a:pPr algn="ctr"/>
              <a:r>
                <a:rPr lang="zh-CN" altLang="en-US" sz="1600" b="1" dirty="0">
                  <a:solidFill>
                    <a:srgbClr val="0070C0"/>
                  </a:solidFill>
                  <a:latin typeface="印品黑体" panose="00000500000000000000" pitchFamily="2" charset="-122"/>
                  <a:ea typeface="印品黑体" panose="00000500000000000000" pitchFamily="2" charset="-122"/>
                </a:rPr>
                <a:t>答辩人：周兴龙</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grpSp>
        <p:nvGrpSpPr>
          <p:cNvPr id="33" name="组合 32">
            <a:extLst>
              <a:ext uri="{FF2B5EF4-FFF2-40B4-BE49-F238E27FC236}">
                <a16:creationId xmlns:a16="http://schemas.microsoft.com/office/drawing/2014/main" id="{EB3F6066-73F5-4E5C-ADEF-34A0CF072B11}"/>
              </a:ext>
            </a:extLst>
          </p:cNvPr>
          <p:cNvGrpSpPr/>
          <p:nvPr/>
        </p:nvGrpSpPr>
        <p:grpSpPr>
          <a:xfrm>
            <a:off x="6252194" y="5136188"/>
            <a:ext cx="2430167" cy="885873"/>
            <a:chOff x="1555122" y="4941155"/>
            <a:chExt cx="2430167" cy="885873"/>
          </a:xfrm>
        </p:grpSpPr>
        <p:grpSp>
          <p:nvGrpSpPr>
            <p:cNvPr id="34" name="组合 33">
              <a:extLst>
                <a:ext uri="{FF2B5EF4-FFF2-40B4-BE49-F238E27FC236}">
                  <a16:creationId xmlns:a16="http://schemas.microsoft.com/office/drawing/2014/main" id="{EBE491B4-6E5C-4611-9081-5E67089EF340}"/>
                </a:ext>
              </a:extLst>
            </p:cNvPr>
            <p:cNvGrpSpPr/>
            <p:nvPr/>
          </p:nvGrpSpPr>
          <p:grpSpPr>
            <a:xfrm>
              <a:off x="2548042" y="4941155"/>
              <a:ext cx="439400" cy="439400"/>
              <a:chOff x="4168207" y="5134847"/>
              <a:chExt cx="439400" cy="439400"/>
            </a:xfrm>
          </p:grpSpPr>
          <p:sp>
            <p:nvSpPr>
              <p:cNvPr id="36" name="椭圆 35">
                <a:extLst>
                  <a:ext uri="{FF2B5EF4-FFF2-40B4-BE49-F238E27FC236}">
                    <a16:creationId xmlns:a16="http://schemas.microsoft.com/office/drawing/2014/main" id="{82B10009-9B4C-4800-A79F-13104E037D6C}"/>
                  </a:ext>
                </a:extLst>
              </p:cNvPr>
              <p:cNvSpPr/>
              <p:nvPr/>
            </p:nvSpPr>
            <p:spPr>
              <a:xfrm>
                <a:off x="4168207" y="5134847"/>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印品黑体" panose="00000500000000000000" pitchFamily="2" charset="-122"/>
                  <a:ea typeface="印品黑体" panose="00000500000000000000" pitchFamily="2" charset="-122"/>
                </a:endParaRPr>
              </a:p>
            </p:txBody>
          </p:sp>
          <p:sp>
            <p:nvSpPr>
              <p:cNvPr id="37" name="male-university-graduate-silhouette-with-the-cap_46143">
                <a:extLst>
                  <a:ext uri="{FF2B5EF4-FFF2-40B4-BE49-F238E27FC236}">
                    <a16:creationId xmlns:a16="http://schemas.microsoft.com/office/drawing/2014/main" id="{A631E450-6E8C-4D15-96E7-B16E50F653E2}"/>
                  </a:ext>
                </a:extLst>
              </p:cNvPr>
              <p:cNvSpPr>
                <a:spLocks noChangeAspect="1"/>
              </p:cNvSpPr>
              <p:nvPr/>
            </p:nvSpPr>
            <p:spPr bwMode="auto">
              <a:xfrm>
                <a:off x="4276825" y="5224072"/>
                <a:ext cx="222164" cy="249201"/>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bg1"/>
              </a:solidFill>
              <a:ln>
                <a:noFill/>
              </a:ln>
            </p:spPr>
            <p:txBody>
              <a:bodyPr/>
              <a:lstStyle/>
              <a:p>
                <a:endParaRPr lang="zh-CN" altLang="en-US" dirty="0">
                  <a:latin typeface="印品黑体" panose="00000500000000000000" pitchFamily="2" charset="-122"/>
                  <a:ea typeface="印品黑体" panose="00000500000000000000" pitchFamily="2" charset="-122"/>
                </a:endParaRPr>
              </a:p>
            </p:txBody>
          </p:sp>
        </p:grpSp>
        <p:sp>
          <p:nvSpPr>
            <p:cNvPr id="35" name="文本框 35">
              <a:extLst>
                <a:ext uri="{FF2B5EF4-FFF2-40B4-BE49-F238E27FC236}">
                  <a16:creationId xmlns:a16="http://schemas.microsoft.com/office/drawing/2014/main" id="{635FED66-C209-4671-8668-15246C6B9B1D}"/>
                </a:ext>
              </a:extLst>
            </p:cNvPr>
            <p:cNvSpPr txBox="1"/>
            <p:nvPr/>
          </p:nvSpPr>
          <p:spPr>
            <a:xfrm>
              <a:off x="1555122" y="5488474"/>
              <a:ext cx="243016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0070C0"/>
                  </a:solidFill>
                  <a:latin typeface="印品黑体" panose="00000500000000000000" pitchFamily="2" charset="-122"/>
                  <a:ea typeface="印品黑体" panose="00000500000000000000" pitchFamily="2" charset="-122"/>
                </a:rPr>
                <a:t>指导老师：杨燕 </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grpSp>
        <p:nvGrpSpPr>
          <p:cNvPr id="38" name="组合 37">
            <a:extLst>
              <a:ext uri="{FF2B5EF4-FFF2-40B4-BE49-F238E27FC236}">
                <a16:creationId xmlns:a16="http://schemas.microsoft.com/office/drawing/2014/main" id="{A38F6FC4-C068-46B3-9FB2-EE5C21DF1A00}"/>
              </a:ext>
            </a:extLst>
          </p:cNvPr>
          <p:cNvGrpSpPr/>
          <p:nvPr/>
        </p:nvGrpSpPr>
        <p:grpSpPr>
          <a:xfrm>
            <a:off x="2850240" y="5139725"/>
            <a:ext cx="2901317" cy="885873"/>
            <a:chOff x="1207531" y="5074676"/>
            <a:chExt cx="2901317" cy="885873"/>
          </a:xfrm>
        </p:grpSpPr>
        <p:grpSp>
          <p:nvGrpSpPr>
            <p:cNvPr id="39" name="组合 38">
              <a:extLst>
                <a:ext uri="{FF2B5EF4-FFF2-40B4-BE49-F238E27FC236}">
                  <a16:creationId xmlns:a16="http://schemas.microsoft.com/office/drawing/2014/main" id="{265AA26D-B804-4076-B52E-6B06EC3AB45F}"/>
                </a:ext>
              </a:extLst>
            </p:cNvPr>
            <p:cNvGrpSpPr/>
            <p:nvPr/>
          </p:nvGrpSpPr>
          <p:grpSpPr>
            <a:xfrm>
              <a:off x="1207531" y="5074676"/>
              <a:ext cx="2901317" cy="885873"/>
              <a:chOff x="1276063" y="4931678"/>
              <a:chExt cx="2901317" cy="885873"/>
            </a:xfrm>
          </p:grpSpPr>
          <p:sp>
            <p:nvSpPr>
              <p:cNvPr id="46" name="椭圆 45">
                <a:extLst>
                  <a:ext uri="{FF2B5EF4-FFF2-40B4-BE49-F238E27FC236}">
                    <a16:creationId xmlns:a16="http://schemas.microsoft.com/office/drawing/2014/main" id="{0140EDCD-5F19-4128-B3C8-606476550FB9}"/>
                  </a:ext>
                </a:extLst>
              </p:cNvPr>
              <p:cNvSpPr/>
              <p:nvPr/>
            </p:nvSpPr>
            <p:spPr>
              <a:xfrm>
                <a:off x="2498343" y="4931678"/>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47" name="文本框 46">
                <a:extLst>
                  <a:ext uri="{FF2B5EF4-FFF2-40B4-BE49-F238E27FC236}">
                    <a16:creationId xmlns:a16="http://schemas.microsoft.com/office/drawing/2014/main" id="{D5D29D1C-F68D-4F67-B905-9E9374222BC1}"/>
                  </a:ext>
                </a:extLst>
              </p:cNvPr>
              <p:cNvSpPr txBox="1"/>
              <p:nvPr/>
            </p:nvSpPr>
            <p:spPr>
              <a:xfrm>
                <a:off x="1276063" y="5478997"/>
                <a:ext cx="2901317" cy="338554"/>
              </a:xfrm>
              <a:prstGeom prst="rect">
                <a:avLst/>
              </a:prstGeom>
              <a:noFill/>
            </p:spPr>
            <p:txBody>
              <a:bodyPr wrap="square" rtlCol="0">
                <a:spAutoFit/>
              </a:bodyPr>
              <a:lstStyle/>
              <a:p>
                <a:pPr algn="ctr"/>
                <a:r>
                  <a:rPr lang="zh-CN" altLang="en-US" sz="1600" b="1" dirty="0">
                    <a:solidFill>
                      <a:srgbClr val="0070C0"/>
                    </a:solidFill>
                    <a:latin typeface="印品黑体" panose="00000500000000000000" pitchFamily="2" charset="-122"/>
                    <a:ea typeface="印品黑体" panose="00000500000000000000" pitchFamily="2" charset="-122"/>
                  </a:rPr>
                  <a:t>专业：数据科学与大数据技术</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pic>
          <p:nvPicPr>
            <p:cNvPr id="45" name="图片 44">
              <a:extLst>
                <a:ext uri="{FF2B5EF4-FFF2-40B4-BE49-F238E27FC236}">
                  <a16:creationId xmlns:a16="http://schemas.microsoft.com/office/drawing/2014/main" id="{3552E52F-D45B-4650-A51F-056A18628D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6617" y="5162079"/>
              <a:ext cx="265788" cy="248400"/>
            </a:xfrm>
            <a:prstGeom prst="rect">
              <a:avLst/>
            </a:prstGeom>
          </p:spPr>
        </p:pic>
      </p:grpSp>
      <p:grpSp>
        <p:nvGrpSpPr>
          <p:cNvPr id="11" name="组合 10">
            <a:extLst>
              <a:ext uri="{FF2B5EF4-FFF2-40B4-BE49-F238E27FC236}">
                <a16:creationId xmlns:a16="http://schemas.microsoft.com/office/drawing/2014/main" id="{52C6DBC1-3B52-F17D-E7C2-D6A7E5975B09}"/>
              </a:ext>
            </a:extLst>
          </p:cNvPr>
          <p:cNvGrpSpPr/>
          <p:nvPr/>
        </p:nvGrpSpPr>
        <p:grpSpPr>
          <a:xfrm>
            <a:off x="9061688" y="5132651"/>
            <a:ext cx="2353867" cy="885873"/>
            <a:chOff x="9027944" y="5233964"/>
            <a:chExt cx="2430167" cy="885873"/>
          </a:xfrm>
        </p:grpSpPr>
        <p:grpSp>
          <p:nvGrpSpPr>
            <p:cNvPr id="4" name="组合 3">
              <a:extLst>
                <a:ext uri="{FF2B5EF4-FFF2-40B4-BE49-F238E27FC236}">
                  <a16:creationId xmlns:a16="http://schemas.microsoft.com/office/drawing/2014/main" id="{8C1B1D3F-C2B8-0928-C009-C3AF95BD7055}"/>
                </a:ext>
              </a:extLst>
            </p:cNvPr>
            <p:cNvGrpSpPr/>
            <p:nvPr/>
          </p:nvGrpSpPr>
          <p:grpSpPr>
            <a:xfrm>
              <a:off x="9027944" y="5233964"/>
              <a:ext cx="2430167" cy="885873"/>
              <a:chOff x="1555122" y="4941155"/>
              <a:chExt cx="2430167" cy="885873"/>
            </a:xfrm>
          </p:grpSpPr>
          <p:sp>
            <p:nvSpPr>
              <p:cNvPr id="7" name="椭圆 6">
                <a:extLst>
                  <a:ext uri="{FF2B5EF4-FFF2-40B4-BE49-F238E27FC236}">
                    <a16:creationId xmlns:a16="http://schemas.microsoft.com/office/drawing/2014/main" id="{CE1A0A7F-A21E-3246-79B6-D43CC5C4E940}"/>
                  </a:ext>
                </a:extLst>
              </p:cNvPr>
              <p:cNvSpPr/>
              <p:nvPr/>
            </p:nvSpPr>
            <p:spPr>
              <a:xfrm>
                <a:off x="2548042" y="4941155"/>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印品黑体" panose="00000500000000000000" pitchFamily="2" charset="-122"/>
                  <a:ea typeface="印品黑体" panose="00000500000000000000" pitchFamily="2" charset="-122"/>
                </a:endParaRPr>
              </a:p>
            </p:txBody>
          </p:sp>
          <p:sp>
            <p:nvSpPr>
              <p:cNvPr id="6" name="文本框 35">
                <a:extLst>
                  <a:ext uri="{FF2B5EF4-FFF2-40B4-BE49-F238E27FC236}">
                    <a16:creationId xmlns:a16="http://schemas.microsoft.com/office/drawing/2014/main" id="{EFAEBD7B-A2CC-AFC9-28D8-B8622B8E2089}"/>
                  </a:ext>
                </a:extLst>
              </p:cNvPr>
              <p:cNvSpPr txBox="1"/>
              <p:nvPr/>
            </p:nvSpPr>
            <p:spPr>
              <a:xfrm>
                <a:off x="1555122" y="5488474"/>
                <a:ext cx="243016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0070C0"/>
                    </a:solidFill>
                    <a:latin typeface="印品黑体" panose="00000500000000000000" pitchFamily="2" charset="-122"/>
                    <a:ea typeface="印品黑体" panose="00000500000000000000" pitchFamily="2" charset="-122"/>
                  </a:rPr>
                  <a:t>答辩时间：</a:t>
                </a:r>
                <a:r>
                  <a:rPr lang="en-US" altLang="zh-CN" sz="1600" b="1" dirty="0">
                    <a:solidFill>
                      <a:srgbClr val="0070C0"/>
                    </a:solidFill>
                    <a:latin typeface="印品黑体" panose="00000500000000000000" pitchFamily="2" charset="-122"/>
                    <a:ea typeface="印品黑体" panose="00000500000000000000" pitchFamily="2" charset="-122"/>
                  </a:rPr>
                  <a:t>5</a:t>
                </a:r>
                <a:r>
                  <a:rPr lang="zh-CN" altLang="en-US" sz="1600" b="1" dirty="0">
                    <a:solidFill>
                      <a:srgbClr val="0070C0"/>
                    </a:solidFill>
                    <a:latin typeface="印品黑体" panose="00000500000000000000" pitchFamily="2" charset="-122"/>
                    <a:ea typeface="印品黑体" panose="00000500000000000000" pitchFamily="2" charset="-122"/>
                  </a:rPr>
                  <a:t>月</a:t>
                </a:r>
                <a:r>
                  <a:rPr lang="en-US" altLang="zh-CN" sz="1600" b="1" dirty="0">
                    <a:solidFill>
                      <a:srgbClr val="0070C0"/>
                    </a:solidFill>
                    <a:latin typeface="印品黑体" panose="00000500000000000000" pitchFamily="2" charset="-122"/>
                    <a:ea typeface="印品黑体" panose="00000500000000000000" pitchFamily="2" charset="-122"/>
                  </a:rPr>
                  <a:t>31</a:t>
                </a:r>
                <a:r>
                  <a:rPr lang="zh-CN" altLang="en-US" sz="1600" b="1" dirty="0">
                    <a:solidFill>
                      <a:srgbClr val="0070C0"/>
                    </a:solidFill>
                    <a:latin typeface="印品黑体" panose="00000500000000000000" pitchFamily="2" charset="-122"/>
                    <a:ea typeface="印品黑体" panose="00000500000000000000" pitchFamily="2" charset="-122"/>
                  </a:rPr>
                  <a:t>日</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pic>
          <p:nvPicPr>
            <p:cNvPr id="10" name="图片 9">
              <a:extLst>
                <a:ext uri="{FF2B5EF4-FFF2-40B4-BE49-F238E27FC236}">
                  <a16:creationId xmlns:a16="http://schemas.microsoft.com/office/drawing/2014/main" id="{237AF278-9744-B4C9-ADE0-CAA24258A87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16364" y="5329464"/>
              <a:ext cx="248400" cy="248400"/>
            </a:xfrm>
            <a:prstGeom prst="rect">
              <a:avLst/>
            </a:prstGeom>
          </p:spPr>
        </p:pic>
      </p:grpSp>
      <p:sp>
        <p:nvSpPr>
          <p:cNvPr id="12" name="文本框 11">
            <a:extLst>
              <a:ext uri="{FF2B5EF4-FFF2-40B4-BE49-F238E27FC236}">
                <a16:creationId xmlns:a16="http://schemas.microsoft.com/office/drawing/2014/main" id="{E87C5CB4-F900-5610-E269-5A34EF7EBF91}"/>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a:t>
            </a:fld>
            <a:endParaRPr lang="zh-CN" altLang="en-US" sz="1400" dirty="0">
              <a:solidFill>
                <a:srgbClr val="0070C0"/>
              </a:solidFill>
              <a:ea typeface="印品黑体" panose="00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advTm="12331">
        <p:fade/>
      </p:transition>
    </mc:Choice>
    <mc:Fallback xmlns="">
      <p:transition spd="med" advTm="1233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8911D84-0999-4BCE-3554-F098BBE77634}"/>
              </a:ext>
            </a:extLst>
          </p:cNvPr>
          <p:cNvGrpSpPr/>
          <p:nvPr/>
        </p:nvGrpSpPr>
        <p:grpSpPr>
          <a:xfrm>
            <a:off x="1294788" y="1208190"/>
            <a:ext cx="3902854" cy="4403564"/>
            <a:chOff x="971677" y="965546"/>
            <a:chExt cx="4549076" cy="5132692"/>
          </a:xfrm>
        </p:grpSpPr>
        <p:sp>
          <p:nvSpPr>
            <p:cNvPr id="7" name="Freeform 5">
              <a:extLst>
                <a:ext uri="{FF2B5EF4-FFF2-40B4-BE49-F238E27FC236}">
                  <a16:creationId xmlns:a16="http://schemas.microsoft.com/office/drawing/2014/main" id="{F4D4436A-0553-4CA7-F98C-CBF671DEE2EC}"/>
                </a:ext>
              </a:extLst>
            </p:cNvPr>
            <p:cNvSpPr/>
            <p:nvPr/>
          </p:nvSpPr>
          <p:spPr bwMode="auto">
            <a:xfrm rot="16200000">
              <a:off x="679869" y="1257354"/>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blipFill dpi="0" rotWithShape="0">
              <a:blip r:embed="rId3" cstate="print">
                <a:extLst>
                  <a:ext uri="{28A0092B-C50C-407E-A947-70E740481C1C}">
                    <a14:useLocalDpi xmlns:a14="http://schemas.microsoft.com/office/drawing/2010/main" val="0"/>
                  </a:ext>
                </a:extLst>
              </a:blip>
              <a:srcRect/>
              <a:stretch>
                <a:fillRect/>
              </a:stretch>
            </a:blip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8" name="Freeform 5">
              <a:extLst>
                <a:ext uri="{FF2B5EF4-FFF2-40B4-BE49-F238E27FC236}">
                  <a16:creationId xmlns:a16="http://schemas.microsoft.com/office/drawing/2014/main" id="{81344581-8B63-1124-FAD8-0ABF314635A3}"/>
                </a:ext>
              </a:extLst>
            </p:cNvPr>
            <p:cNvSpPr/>
            <p:nvPr/>
          </p:nvSpPr>
          <p:spPr bwMode="auto">
            <a:xfrm rot="16200000">
              <a:off x="679869" y="1257354"/>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9" name="Freeform 5">
              <a:extLst>
                <a:ext uri="{FF2B5EF4-FFF2-40B4-BE49-F238E27FC236}">
                  <a16:creationId xmlns:a16="http://schemas.microsoft.com/office/drawing/2014/main" id="{DA1673CD-93FE-BF95-54F4-5003C0A7038E}"/>
                </a:ext>
              </a:extLst>
            </p:cNvPr>
            <p:cNvSpPr/>
            <p:nvPr/>
          </p:nvSpPr>
          <p:spPr bwMode="auto">
            <a:xfrm rot="16200000">
              <a:off x="1166321" y="1688495"/>
              <a:ext cx="4159786"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30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sp>
        <p:nvSpPr>
          <p:cNvPr id="10" name="文本框 9">
            <a:extLst>
              <a:ext uri="{FF2B5EF4-FFF2-40B4-BE49-F238E27FC236}">
                <a16:creationId xmlns:a16="http://schemas.microsoft.com/office/drawing/2014/main" id="{F03C4D62-44DF-3E30-C496-4C922F2C6316}"/>
              </a:ext>
            </a:extLst>
          </p:cNvPr>
          <p:cNvSpPr txBox="1"/>
          <p:nvPr/>
        </p:nvSpPr>
        <p:spPr>
          <a:xfrm>
            <a:off x="1515565" y="2544174"/>
            <a:ext cx="3366791" cy="1107996"/>
          </a:xfrm>
          <a:prstGeom prst="rect">
            <a:avLst/>
          </a:prstGeom>
          <a:noFill/>
        </p:spPr>
        <p:txBody>
          <a:bodyPr wrap="square" rtlCol="0">
            <a:spAutoFit/>
          </a:bodyPr>
          <a:lstStyle/>
          <a:p>
            <a:pPr algn="ctr"/>
            <a:r>
              <a:rPr lang="zh-CN" altLang="en-US" sz="6600" b="1" dirty="0">
                <a:solidFill>
                  <a:schemeClr val="tx1">
                    <a:lumMod val="75000"/>
                    <a:lumOff val="25000"/>
                  </a:schemeClr>
                </a:solidFill>
                <a:cs typeface="+mn-ea"/>
                <a:sym typeface="+mn-lt"/>
              </a:rPr>
              <a:t>目录</a:t>
            </a:r>
          </a:p>
        </p:txBody>
      </p:sp>
      <p:sp>
        <p:nvSpPr>
          <p:cNvPr id="11" name="文本框 10">
            <a:extLst>
              <a:ext uri="{FF2B5EF4-FFF2-40B4-BE49-F238E27FC236}">
                <a16:creationId xmlns:a16="http://schemas.microsoft.com/office/drawing/2014/main" id="{05199920-97EC-AB77-8202-A1098A7253E7}"/>
              </a:ext>
            </a:extLst>
          </p:cNvPr>
          <p:cNvSpPr txBox="1"/>
          <p:nvPr/>
        </p:nvSpPr>
        <p:spPr>
          <a:xfrm>
            <a:off x="1562818" y="3638437"/>
            <a:ext cx="3366791" cy="584775"/>
          </a:xfrm>
          <a:prstGeom prst="rect">
            <a:avLst/>
          </a:prstGeom>
          <a:noFill/>
        </p:spPr>
        <p:txBody>
          <a:bodyPr wrap="square" rtlCol="0">
            <a:spAutoFit/>
          </a:bodyPr>
          <a:lstStyle/>
          <a:p>
            <a:pPr algn="ctr"/>
            <a:r>
              <a:rPr lang="en-US" altLang="zh-CN" sz="3200" dirty="0">
                <a:solidFill>
                  <a:schemeClr val="accent1">
                    <a:lumMod val="100000"/>
                  </a:schemeClr>
                </a:solidFill>
                <a:effectLst>
                  <a:outerShdw blurRad="25400" dist="25400" dir="2700000" algn="tl">
                    <a:srgbClr val="000000">
                      <a:alpha val="34000"/>
                    </a:srgbClr>
                  </a:outerShdw>
                </a:effectLst>
                <a:cs typeface="+mn-ea"/>
                <a:sym typeface="+mn-lt"/>
              </a:rPr>
              <a:t>CONTENTS</a:t>
            </a:r>
            <a:endParaRPr lang="zh-CN" altLang="en-US" sz="3200" dirty="0">
              <a:solidFill>
                <a:schemeClr val="accent1">
                  <a:lumMod val="100000"/>
                </a:schemeClr>
              </a:solidFill>
              <a:effectLst>
                <a:outerShdw blurRad="25400" dist="25400" dir="2700000" algn="tl">
                  <a:srgbClr val="000000">
                    <a:alpha val="34000"/>
                  </a:srgbClr>
                </a:outerShdw>
              </a:effectLst>
              <a:cs typeface="+mn-ea"/>
              <a:sym typeface="+mn-lt"/>
            </a:endParaRPr>
          </a:p>
        </p:txBody>
      </p:sp>
      <p:grpSp>
        <p:nvGrpSpPr>
          <p:cNvPr id="12" name="组合 11">
            <a:extLst>
              <a:ext uri="{FF2B5EF4-FFF2-40B4-BE49-F238E27FC236}">
                <a16:creationId xmlns:a16="http://schemas.microsoft.com/office/drawing/2014/main" id="{D32EEF51-26AA-9CDE-6D04-FF0682B2D12F}"/>
              </a:ext>
            </a:extLst>
          </p:cNvPr>
          <p:cNvGrpSpPr/>
          <p:nvPr/>
        </p:nvGrpSpPr>
        <p:grpSpPr>
          <a:xfrm>
            <a:off x="1673664" y="5208857"/>
            <a:ext cx="355387" cy="400980"/>
            <a:chOff x="-1246321" y="823697"/>
            <a:chExt cx="4549076" cy="5132692"/>
          </a:xfrm>
        </p:grpSpPr>
        <p:sp>
          <p:nvSpPr>
            <p:cNvPr id="13" name="Freeform 5">
              <a:extLst>
                <a:ext uri="{FF2B5EF4-FFF2-40B4-BE49-F238E27FC236}">
                  <a16:creationId xmlns:a16="http://schemas.microsoft.com/office/drawing/2014/main" id="{6D5E274C-9637-31AD-5F96-2DDEB9580AC2}"/>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14" name="Freeform 5">
              <a:extLst>
                <a:ext uri="{FF2B5EF4-FFF2-40B4-BE49-F238E27FC236}">
                  <a16:creationId xmlns:a16="http://schemas.microsoft.com/office/drawing/2014/main" id="{F766C17F-F2D4-1F81-85DC-E8BBA5ECB698}"/>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grpSp>
        <p:nvGrpSpPr>
          <p:cNvPr id="15" name="组合 14">
            <a:extLst>
              <a:ext uri="{FF2B5EF4-FFF2-40B4-BE49-F238E27FC236}">
                <a16:creationId xmlns:a16="http://schemas.microsoft.com/office/drawing/2014/main" id="{239DE6B5-B924-2D41-4E2C-BD5B7861AE0F}"/>
              </a:ext>
            </a:extLst>
          </p:cNvPr>
          <p:cNvGrpSpPr/>
          <p:nvPr/>
        </p:nvGrpSpPr>
        <p:grpSpPr>
          <a:xfrm>
            <a:off x="6373839" y="1707516"/>
            <a:ext cx="569982" cy="643106"/>
            <a:chOff x="-1246321" y="823697"/>
            <a:chExt cx="4549076" cy="5132692"/>
          </a:xfrm>
        </p:grpSpPr>
        <p:sp>
          <p:nvSpPr>
            <p:cNvPr id="16" name="Freeform 5">
              <a:extLst>
                <a:ext uri="{FF2B5EF4-FFF2-40B4-BE49-F238E27FC236}">
                  <a16:creationId xmlns:a16="http://schemas.microsoft.com/office/drawing/2014/main" id="{00034378-C265-4710-A576-309D1712D67C}"/>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17" name="Freeform 5">
              <a:extLst>
                <a:ext uri="{FF2B5EF4-FFF2-40B4-BE49-F238E27FC236}">
                  <a16:creationId xmlns:a16="http://schemas.microsoft.com/office/drawing/2014/main" id="{C86E8336-8585-FB4E-D74E-A10023075EBA}"/>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grpSp>
        <p:nvGrpSpPr>
          <p:cNvPr id="18" name="组合 17">
            <a:extLst>
              <a:ext uri="{FF2B5EF4-FFF2-40B4-BE49-F238E27FC236}">
                <a16:creationId xmlns:a16="http://schemas.microsoft.com/office/drawing/2014/main" id="{D144B410-0102-CFC2-33CE-0C38E530847F}"/>
              </a:ext>
            </a:extLst>
          </p:cNvPr>
          <p:cNvGrpSpPr/>
          <p:nvPr/>
        </p:nvGrpSpPr>
        <p:grpSpPr>
          <a:xfrm>
            <a:off x="6377050" y="2631370"/>
            <a:ext cx="569982" cy="643106"/>
            <a:chOff x="-1246321" y="823697"/>
            <a:chExt cx="4549076" cy="5132692"/>
          </a:xfrm>
        </p:grpSpPr>
        <p:sp>
          <p:nvSpPr>
            <p:cNvPr id="19" name="Freeform 5">
              <a:extLst>
                <a:ext uri="{FF2B5EF4-FFF2-40B4-BE49-F238E27FC236}">
                  <a16:creationId xmlns:a16="http://schemas.microsoft.com/office/drawing/2014/main" id="{8E14209B-E436-1B59-3E1C-F2BA8BAA2CE5}"/>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20" name="Freeform 5">
              <a:extLst>
                <a:ext uri="{FF2B5EF4-FFF2-40B4-BE49-F238E27FC236}">
                  <a16:creationId xmlns:a16="http://schemas.microsoft.com/office/drawing/2014/main" id="{76495820-A556-6B5D-AFC8-AFA0AD3F003B}"/>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grpSp>
        <p:nvGrpSpPr>
          <p:cNvPr id="21" name="组合 20">
            <a:extLst>
              <a:ext uri="{FF2B5EF4-FFF2-40B4-BE49-F238E27FC236}">
                <a16:creationId xmlns:a16="http://schemas.microsoft.com/office/drawing/2014/main" id="{38EE2BAE-CB50-3AFC-DDC6-FE45020DF12F}"/>
              </a:ext>
            </a:extLst>
          </p:cNvPr>
          <p:cNvGrpSpPr/>
          <p:nvPr/>
        </p:nvGrpSpPr>
        <p:grpSpPr>
          <a:xfrm>
            <a:off x="6396322" y="3513794"/>
            <a:ext cx="569982" cy="643106"/>
            <a:chOff x="-1246321" y="823697"/>
            <a:chExt cx="4549076" cy="5132692"/>
          </a:xfrm>
        </p:grpSpPr>
        <p:sp>
          <p:nvSpPr>
            <p:cNvPr id="22" name="Freeform 5">
              <a:extLst>
                <a:ext uri="{FF2B5EF4-FFF2-40B4-BE49-F238E27FC236}">
                  <a16:creationId xmlns:a16="http://schemas.microsoft.com/office/drawing/2014/main" id="{D34B109E-A012-ABAA-6FD8-6CEFD4CB712D}"/>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23" name="Freeform 5">
              <a:extLst>
                <a:ext uri="{FF2B5EF4-FFF2-40B4-BE49-F238E27FC236}">
                  <a16:creationId xmlns:a16="http://schemas.microsoft.com/office/drawing/2014/main" id="{EC38E49E-C89A-76DB-57C1-7F8897E0C69C}"/>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grpSp>
        <p:nvGrpSpPr>
          <p:cNvPr id="24" name="组合 23">
            <a:extLst>
              <a:ext uri="{FF2B5EF4-FFF2-40B4-BE49-F238E27FC236}">
                <a16:creationId xmlns:a16="http://schemas.microsoft.com/office/drawing/2014/main" id="{39B4E5C0-AD4E-346A-AE98-F3BCD042862B}"/>
              </a:ext>
            </a:extLst>
          </p:cNvPr>
          <p:cNvGrpSpPr/>
          <p:nvPr/>
        </p:nvGrpSpPr>
        <p:grpSpPr>
          <a:xfrm>
            <a:off x="6405642" y="4348099"/>
            <a:ext cx="569982" cy="643106"/>
            <a:chOff x="-1246321" y="823697"/>
            <a:chExt cx="4549076" cy="5132692"/>
          </a:xfrm>
        </p:grpSpPr>
        <p:sp>
          <p:nvSpPr>
            <p:cNvPr id="25" name="Freeform 5">
              <a:extLst>
                <a:ext uri="{FF2B5EF4-FFF2-40B4-BE49-F238E27FC236}">
                  <a16:creationId xmlns:a16="http://schemas.microsoft.com/office/drawing/2014/main" id="{45D5D62F-0C22-8A17-1A9F-18D218565404}"/>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26" name="Freeform 5">
              <a:extLst>
                <a:ext uri="{FF2B5EF4-FFF2-40B4-BE49-F238E27FC236}">
                  <a16:creationId xmlns:a16="http://schemas.microsoft.com/office/drawing/2014/main" id="{B91CE2F6-4ECF-96E1-A30A-D2F5AFD85249}"/>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sp>
        <p:nvSpPr>
          <p:cNvPr id="27" name="文本框 26">
            <a:extLst>
              <a:ext uri="{FF2B5EF4-FFF2-40B4-BE49-F238E27FC236}">
                <a16:creationId xmlns:a16="http://schemas.microsoft.com/office/drawing/2014/main" id="{9FFA9707-B5AD-FCB7-FDC1-9A617E3F5151}"/>
              </a:ext>
            </a:extLst>
          </p:cNvPr>
          <p:cNvSpPr txBox="1"/>
          <p:nvPr/>
        </p:nvSpPr>
        <p:spPr>
          <a:xfrm>
            <a:off x="6459662" y="1856220"/>
            <a:ext cx="461941" cy="369332"/>
          </a:xfrm>
          <a:prstGeom prst="rect">
            <a:avLst/>
          </a:prstGeom>
          <a:noFill/>
        </p:spPr>
        <p:txBody>
          <a:bodyPr wrap="square" rtlCol="0">
            <a:spAutoFit/>
          </a:bodyPr>
          <a:lstStyle/>
          <a:p>
            <a:r>
              <a:rPr lang="en-US" altLang="zh-CN" dirty="0"/>
              <a:t>01</a:t>
            </a:r>
            <a:endParaRPr lang="zh-CN" altLang="en-US" dirty="0"/>
          </a:p>
        </p:txBody>
      </p:sp>
      <p:sp>
        <p:nvSpPr>
          <p:cNvPr id="28" name="文本框 27">
            <a:extLst>
              <a:ext uri="{FF2B5EF4-FFF2-40B4-BE49-F238E27FC236}">
                <a16:creationId xmlns:a16="http://schemas.microsoft.com/office/drawing/2014/main" id="{61BBB9DD-2F6B-7008-4B2E-117CBC67F5E8}"/>
              </a:ext>
            </a:extLst>
          </p:cNvPr>
          <p:cNvSpPr txBox="1"/>
          <p:nvPr/>
        </p:nvSpPr>
        <p:spPr>
          <a:xfrm>
            <a:off x="6459662" y="2777785"/>
            <a:ext cx="461941" cy="369332"/>
          </a:xfrm>
          <a:prstGeom prst="rect">
            <a:avLst/>
          </a:prstGeom>
          <a:noFill/>
        </p:spPr>
        <p:txBody>
          <a:bodyPr wrap="square" rtlCol="0">
            <a:spAutoFit/>
          </a:bodyPr>
          <a:lstStyle/>
          <a:p>
            <a:r>
              <a:rPr lang="en-US" altLang="zh-CN" dirty="0"/>
              <a:t>02</a:t>
            </a:r>
            <a:endParaRPr lang="zh-CN" altLang="en-US" dirty="0"/>
          </a:p>
        </p:txBody>
      </p:sp>
      <p:sp>
        <p:nvSpPr>
          <p:cNvPr id="29" name="文本框 28">
            <a:extLst>
              <a:ext uri="{FF2B5EF4-FFF2-40B4-BE49-F238E27FC236}">
                <a16:creationId xmlns:a16="http://schemas.microsoft.com/office/drawing/2014/main" id="{4644E074-0E7B-4654-A7BA-5519E3FFAEBD}"/>
              </a:ext>
            </a:extLst>
          </p:cNvPr>
          <p:cNvSpPr txBox="1"/>
          <p:nvPr/>
        </p:nvSpPr>
        <p:spPr>
          <a:xfrm>
            <a:off x="6458181" y="3650680"/>
            <a:ext cx="461941" cy="369332"/>
          </a:xfrm>
          <a:prstGeom prst="rect">
            <a:avLst/>
          </a:prstGeom>
          <a:noFill/>
        </p:spPr>
        <p:txBody>
          <a:bodyPr wrap="square" rtlCol="0">
            <a:spAutoFit/>
          </a:bodyPr>
          <a:lstStyle/>
          <a:p>
            <a:r>
              <a:rPr lang="en-US" altLang="zh-CN" dirty="0"/>
              <a:t>03</a:t>
            </a:r>
            <a:endParaRPr lang="zh-CN" altLang="en-US" dirty="0"/>
          </a:p>
        </p:txBody>
      </p:sp>
      <p:sp>
        <p:nvSpPr>
          <p:cNvPr id="30" name="文本框 29">
            <a:extLst>
              <a:ext uri="{FF2B5EF4-FFF2-40B4-BE49-F238E27FC236}">
                <a16:creationId xmlns:a16="http://schemas.microsoft.com/office/drawing/2014/main" id="{9010D509-4780-17C9-EFF5-EBD553FA9F05}"/>
              </a:ext>
            </a:extLst>
          </p:cNvPr>
          <p:cNvSpPr txBox="1"/>
          <p:nvPr/>
        </p:nvSpPr>
        <p:spPr>
          <a:xfrm>
            <a:off x="6458181" y="4484985"/>
            <a:ext cx="461941" cy="369332"/>
          </a:xfrm>
          <a:prstGeom prst="rect">
            <a:avLst/>
          </a:prstGeom>
          <a:noFill/>
        </p:spPr>
        <p:txBody>
          <a:bodyPr wrap="square" rtlCol="0">
            <a:spAutoFit/>
          </a:bodyPr>
          <a:lstStyle/>
          <a:p>
            <a:r>
              <a:rPr lang="en-US" altLang="zh-CN" dirty="0"/>
              <a:t>04</a:t>
            </a:r>
            <a:endParaRPr lang="zh-CN" altLang="en-US" dirty="0"/>
          </a:p>
        </p:txBody>
      </p:sp>
      <p:sp>
        <p:nvSpPr>
          <p:cNvPr id="31" name="文本框 30">
            <a:extLst>
              <a:ext uri="{FF2B5EF4-FFF2-40B4-BE49-F238E27FC236}">
                <a16:creationId xmlns:a16="http://schemas.microsoft.com/office/drawing/2014/main" id="{A7131A7C-4CC7-B4BE-1159-65AE13CFF651}"/>
              </a:ext>
            </a:extLst>
          </p:cNvPr>
          <p:cNvSpPr txBox="1"/>
          <p:nvPr/>
        </p:nvSpPr>
        <p:spPr>
          <a:xfrm>
            <a:off x="7329643" y="1811351"/>
            <a:ext cx="2247441" cy="461665"/>
          </a:xfrm>
          <a:prstGeom prst="rect">
            <a:avLst/>
          </a:prstGeom>
          <a:noFill/>
        </p:spPr>
        <p:txBody>
          <a:bodyPr wrap="square" rtlCol="0">
            <a:spAutoFit/>
          </a:bodyPr>
          <a:lstStyle/>
          <a:p>
            <a:r>
              <a:rPr lang="zh-CN" altLang="en-US" sz="2400" b="1" dirty="0"/>
              <a:t>研究背景</a:t>
            </a:r>
          </a:p>
        </p:txBody>
      </p:sp>
      <p:sp>
        <p:nvSpPr>
          <p:cNvPr id="37" name="文本框 36">
            <a:extLst>
              <a:ext uri="{FF2B5EF4-FFF2-40B4-BE49-F238E27FC236}">
                <a16:creationId xmlns:a16="http://schemas.microsoft.com/office/drawing/2014/main" id="{30998781-26EA-DD62-07C1-F07226CE4440}"/>
              </a:ext>
            </a:extLst>
          </p:cNvPr>
          <p:cNvSpPr txBox="1"/>
          <p:nvPr/>
        </p:nvSpPr>
        <p:spPr>
          <a:xfrm>
            <a:off x="7329643" y="2671785"/>
            <a:ext cx="2247441" cy="461665"/>
          </a:xfrm>
          <a:prstGeom prst="rect">
            <a:avLst/>
          </a:prstGeom>
          <a:noFill/>
        </p:spPr>
        <p:txBody>
          <a:bodyPr wrap="square" rtlCol="0">
            <a:spAutoFit/>
          </a:bodyPr>
          <a:lstStyle/>
          <a:p>
            <a:r>
              <a:rPr lang="zh-CN" altLang="en-US" sz="2400" b="1" dirty="0"/>
              <a:t>研究内容</a:t>
            </a:r>
          </a:p>
        </p:txBody>
      </p:sp>
      <p:sp>
        <p:nvSpPr>
          <p:cNvPr id="42" name="文本框 41">
            <a:extLst>
              <a:ext uri="{FF2B5EF4-FFF2-40B4-BE49-F238E27FC236}">
                <a16:creationId xmlns:a16="http://schemas.microsoft.com/office/drawing/2014/main" id="{9922122B-77D0-D969-F4E3-21927FD594A8}"/>
              </a:ext>
            </a:extLst>
          </p:cNvPr>
          <p:cNvSpPr txBox="1"/>
          <p:nvPr/>
        </p:nvSpPr>
        <p:spPr>
          <a:xfrm>
            <a:off x="7329643" y="3532219"/>
            <a:ext cx="2247441" cy="461665"/>
          </a:xfrm>
          <a:prstGeom prst="rect">
            <a:avLst/>
          </a:prstGeom>
          <a:noFill/>
        </p:spPr>
        <p:txBody>
          <a:bodyPr wrap="square" rtlCol="0">
            <a:spAutoFit/>
          </a:bodyPr>
          <a:lstStyle/>
          <a:p>
            <a:r>
              <a:rPr lang="zh-CN" altLang="en-US" sz="2400" b="1" dirty="0"/>
              <a:t>系统展示</a:t>
            </a:r>
          </a:p>
        </p:txBody>
      </p:sp>
      <p:sp>
        <p:nvSpPr>
          <p:cNvPr id="43" name="文本框 42">
            <a:extLst>
              <a:ext uri="{FF2B5EF4-FFF2-40B4-BE49-F238E27FC236}">
                <a16:creationId xmlns:a16="http://schemas.microsoft.com/office/drawing/2014/main" id="{79AD61F4-3764-F419-C086-930D358D8F6A}"/>
              </a:ext>
            </a:extLst>
          </p:cNvPr>
          <p:cNvSpPr txBox="1"/>
          <p:nvPr/>
        </p:nvSpPr>
        <p:spPr>
          <a:xfrm>
            <a:off x="7329643" y="4392652"/>
            <a:ext cx="2247441" cy="461665"/>
          </a:xfrm>
          <a:prstGeom prst="rect">
            <a:avLst/>
          </a:prstGeom>
          <a:noFill/>
        </p:spPr>
        <p:txBody>
          <a:bodyPr wrap="square" rtlCol="0">
            <a:spAutoFit/>
          </a:bodyPr>
          <a:lstStyle/>
          <a:p>
            <a:r>
              <a:rPr lang="zh-CN" altLang="en-US" sz="2400" b="1" dirty="0"/>
              <a:t>研究总结</a:t>
            </a:r>
          </a:p>
        </p:txBody>
      </p:sp>
      <p:grpSp>
        <p:nvGrpSpPr>
          <p:cNvPr id="44" name="组合 43">
            <a:extLst>
              <a:ext uri="{FF2B5EF4-FFF2-40B4-BE49-F238E27FC236}">
                <a16:creationId xmlns:a16="http://schemas.microsoft.com/office/drawing/2014/main" id="{0DF7DA0B-D71B-B351-8E4B-36861FAF1C9C}"/>
              </a:ext>
            </a:extLst>
          </p:cNvPr>
          <p:cNvGrpSpPr/>
          <p:nvPr/>
        </p:nvGrpSpPr>
        <p:grpSpPr>
          <a:xfrm>
            <a:off x="4472360" y="815394"/>
            <a:ext cx="355387" cy="400980"/>
            <a:chOff x="-1246321" y="823697"/>
            <a:chExt cx="4549076" cy="5132692"/>
          </a:xfrm>
        </p:grpSpPr>
        <p:sp>
          <p:nvSpPr>
            <p:cNvPr id="45" name="Freeform 5">
              <a:extLst>
                <a:ext uri="{FF2B5EF4-FFF2-40B4-BE49-F238E27FC236}">
                  <a16:creationId xmlns:a16="http://schemas.microsoft.com/office/drawing/2014/main" id="{EF076BCF-9337-005A-8CA3-F228E7E76052}"/>
                </a:ext>
              </a:extLst>
            </p:cNvPr>
            <p:cNvSpPr/>
            <p:nvPr/>
          </p:nvSpPr>
          <p:spPr bwMode="auto">
            <a:xfrm rot="16200000">
              <a:off x="-1538129" y="1115505"/>
              <a:ext cx="5132692" cy="454907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accent1">
                <a:lumMod val="100000"/>
              </a:schemeClr>
            </a:soli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sp>
          <p:nvSpPr>
            <p:cNvPr id="46" name="Freeform 5">
              <a:extLst>
                <a:ext uri="{FF2B5EF4-FFF2-40B4-BE49-F238E27FC236}">
                  <a16:creationId xmlns:a16="http://schemas.microsoft.com/office/drawing/2014/main" id="{53BF401E-6AF0-8E07-8094-928E86BA1DC2}"/>
                </a:ext>
              </a:extLst>
            </p:cNvPr>
            <p:cNvSpPr/>
            <p:nvPr/>
          </p:nvSpPr>
          <p:spPr bwMode="auto">
            <a:xfrm rot="16200000">
              <a:off x="-1051683" y="1546640"/>
              <a:ext cx="4159787" cy="36867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4000">
                  <a:schemeClr val="bg1"/>
                </a:gs>
                <a:gs pos="100000">
                  <a:schemeClr val="bg1">
                    <a:lumMod val="95000"/>
                  </a:schemeClr>
                </a:gs>
              </a:gsLst>
              <a:lin ang="9600000" scaled="0"/>
            </a:gradFill>
            <a:ln w="25400">
              <a:noFill/>
            </a:ln>
            <a:effectLst>
              <a:outerShdw blurRad="355600" dist="88900" dir="2700000" algn="tl" rotWithShape="0">
                <a:prstClr val="black">
                  <a:alpha val="28000"/>
                </a:prstClr>
              </a:outerShdw>
            </a:effectLst>
          </p:spPr>
          <p:txBody>
            <a:bodyPr vert="horz" wrap="square" lIns="91440" tIns="45720" rIns="91440" bIns="45720" numCol="1" anchor="t" anchorCtr="0" compatLnSpc="1"/>
            <a:lstStyle/>
            <a:p>
              <a:endParaRPr lang="zh-CN" altLang="en-US" sz="4800" dirty="0">
                <a:solidFill>
                  <a:schemeClr val="tx1">
                    <a:lumMod val="75000"/>
                    <a:lumOff val="25000"/>
                  </a:schemeClr>
                </a:solidFill>
                <a:cs typeface="+mn-ea"/>
                <a:sym typeface="+mn-lt"/>
              </a:endParaRPr>
            </a:p>
          </p:txBody>
        </p:sp>
      </p:grpSp>
      <p:sp>
        <p:nvSpPr>
          <p:cNvPr id="4" name="文本框 3">
            <a:extLst>
              <a:ext uri="{FF2B5EF4-FFF2-40B4-BE49-F238E27FC236}">
                <a16:creationId xmlns:a16="http://schemas.microsoft.com/office/drawing/2014/main" id="{738E629A-138A-787C-180E-4337E6DC9370}"/>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2</a:t>
            </a:fld>
            <a:endParaRPr lang="zh-CN" altLang="en-US" sz="1400" dirty="0">
              <a:solidFill>
                <a:srgbClr val="0070C0"/>
              </a:solidFill>
              <a:ea typeface="印品黑体" panose="00000500000000000000" pitchFamily="2" charset="-122"/>
            </a:endParaRPr>
          </a:p>
        </p:txBody>
      </p:sp>
    </p:spTree>
  </p:cSld>
  <p:clrMapOvr>
    <a:masterClrMapping/>
  </p:clrMapOvr>
  <p:transition advTm="3066">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nodeType="with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42" presetClass="entr" presetSubtype="0" fill="hold" grpId="0" nodeType="withEffect">
                                  <p:stCondLst>
                                    <p:cond delay="25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50"/>
                                        <p:tgtEl>
                                          <p:spTgt spid="10"/>
                                        </p:tgtEl>
                                      </p:cBhvr>
                                    </p:animEffect>
                                    <p:anim calcmode="lin" valueType="num">
                                      <p:cBhvr>
                                        <p:cTn id="18" dur="750" fill="hold"/>
                                        <p:tgtEl>
                                          <p:spTgt spid="10"/>
                                        </p:tgtEl>
                                        <p:attrNameLst>
                                          <p:attrName>ppt_x</p:attrName>
                                        </p:attrNameLst>
                                      </p:cBhvr>
                                      <p:tavLst>
                                        <p:tav tm="0">
                                          <p:val>
                                            <p:strVal val="#ppt_x"/>
                                          </p:val>
                                        </p:tav>
                                        <p:tav tm="100000">
                                          <p:val>
                                            <p:strVal val="#ppt_x"/>
                                          </p:val>
                                        </p:tav>
                                      </p:tavLst>
                                    </p:anim>
                                    <p:anim calcmode="lin" valueType="num">
                                      <p:cBhvr>
                                        <p:cTn id="19" dur="750" fill="hold"/>
                                        <p:tgtEl>
                                          <p:spTgt spid="10"/>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2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750"/>
                                        <p:tgtEl>
                                          <p:spTgt spid="11"/>
                                        </p:tgtEl>
                                      </p:cBhvr>
                                    </p:animEffect>
                                    <p:anim calcmode="lin" valueType="num">
                                      <p:cBhvr>
                                        <p:cTn id="23" dur="750" fill="hold"/>
                                        <p:tgtEl>
                                          <p:spTgt spid="11"/>
                                        </p:tgtEl>
                                        <p:attrNameLst>
                                          <p:attrName>ppt_x</p:attrName>
                                        </p:attrNameLst>
                                      </p:cBhvr>
                                      <p:tavLst>
                                        <p:tav tm="0">
                                          <p:val>
                                            <p:strVal val="#ppt_x"/>
                                          </p:val>
                                        </p:tav>
                                        <p:tav tm="100000">
                                          <p:val>
                                            <p:strVal val="#ppt_x"/>
                                          </p:val>
                                        </p:tav>
                                      </p:tavLst>
                                    </p:anim>
                                    <p:anim calcmode="lin" valueType="num">
                                      <p:cBhvr>
                                        <p:cTn id="24" dur="750" fill="hold"/>
                                        <p:tgtEl>
                                          <p:spTgt spid="11"/>
                                        </p:tgtEl>
                                        <p:attrNameLst>
                                          <p:attrName>ppt_y</p:attrName>
                                        </p:attrNameLst>
                                      </p:cBhvr>
                                      <p:tavLst>
                                        <p:tav tm="0">
                                          <p:val>
                                            <p:strVal val="#ppt_y-.1"/>
                                          </p:val>
                                        </p:tav>
                                        <p:tav tm="100000">
                                          <p:val>
                                            <p:strVal val="#ppt_y"/>
                                          </p:val>
                                        </p:tav>
                                      </p:tavLst>
                                    </p:anim>
                                  </p:childTnLst>
                                </p:cTn>
                              </p:par>
                              <p:par>
                                <p:cTn id="25" presetID="53" presetClass="entr" presetSubtype="16"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fltVal val="0"/>
                                          </p:val>
                                        </p:tav>
                                        <p:tav tm="100000">
                                          <p:val>
                                            <p:strVal val="#ppt_h"/>
                                          </p:val>
                                        </p:tav>
                                      </p:tavLst>
                                    </p:anim>
                                    <p:animEffect transition="in" filter="fade">
                                      <p:cBhvr>
                                        <p:cTn id="34" dur="500"/>
                                        <p:tgtEl>
                                          <p:spTgt spid="18"/>
                                        </p:tgtEl>
                                      </p:cBhvr>
                                    </p:animEffect>
                                  </p:childTnLst>
                                </p:cTn>
                              </p:par>
                              <p:par>
                                <p:cTn id="35" presetID="53" presetClass="entr" presetSubtype="16"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p:cTn id="37" dur="500" fill="hold"/>
                                        <p:tgtEl>
                                          <p:spTgt spid="21"/>
                                        </p:tgtEl>
                                        <p:attrNameLst>
                                          <p:attrName>ppt_w</p:attrName>
                                        </p:attrNameLst>
                                      </p:cBhvr>
                                      <p:tavLst>
                                        <p:tav tm="0">
                                          <p:val>
                                            <p:fltVal val="0"/>
                                          </p:val>
                                        </p:tav>
                                        <p:tav tm="100000">
                                          <p:val>
                                            <p:strVal val="#ppt_w"/>
                                          </p:val>
                                        </p:tav>
                                      </p:tavLst>
                                    </p:anim>
                                    <p:anim calcmode="lin" valueType="num">
                                      <p:cBhvr>
                                        <p:cTn id="38" dur="500" fill="hold"/>
                                        <p:tgtEl>
                                          <p:spTgt spid="21"/>
                                        </p:tgtEl>
                                        <p:attrNameLst>
                                          <p:attrName>ppt_h</p:attrName>
                                        </p:attrNameLst>
                                      </p:cBhvr>
                                      <p:tavLst>
                                        <p:tav tm="0">
                                          <p:val>
                                            <p:fltVal val="0"/>
                                          </p:val>
                                        </p:tav>
                                        <p:tav tm="100000">
                                          <p:val>
                                            <p:strVal val="#ppt_h"/>
                                          </p:val>
                                        </p:tav>
                                      </p:tavLst>
                                    </p:anim>
                                    <p:animEffect transition="in" filter="fade">
                                      <p:cBhvr>
                                        <p:cTn id="39" dur="500"/>
                                        <p:tgtEl>
                                          <p:spTgt spid="21"/>
                                        </p:tgtEl>
                                      </p:cBhvr>
                                    </p:animEffect>
                                  </p:childTnLst>
                                </p:cTn>
                              </p:par>
                              <p:par>
                                <p:cTn id="40" presetID="53" presetClass="entr" presetSubtype="16"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500" fill="hold"/>
                                        <p:tgtEl>
                                          <p:spTgt spid="24"/>
                                        </p:tgtEl>
                                        <p:attrNameLst>
                                          <p:attrName>ppt_w</p:attrName>
                                        </p:attrNameLst>
                                      </p:cBhvr>
                                      <p:tavLst>
                                        <p:tav tm="0">
                                          <p:val>
                                            <p:fltVal val="0"/>
                                          </p:val>
                                        </p:tav>
                                        <p:tav tm="100000">
                                          <p:val>
                                            <p:strVal val="#ppt_w"/>
                                          </p:val>
                                        </p:tav>
                                      </p:tavLst>
                                    </p:anim>
                                    <p:anim calcmode="lin" valueType="num">
                                      <p:cBhvr>
                                        <p:cTn id="43" dur="500" fill="hold"/>
                                        <p:tgtEl>
                                          <p:spTgt spid="24"/>
                                        </p:tgtEl>
                                        <p:attrNameLst>
                                          <p:attrName>ppt_h</p:attrName>
                                        </p:attrNameLst>
                                      </p:cBhvr>
                                      <p:tavLst>
                                        <p:tav tm="0">
                                          <p:val>
                                            <p:fltVal val="0"/>
                                          </p:val>
                                        </p:tav>
                                        <p:tav tm="100000">
                                          <p:val>
                                            <p:strVal val="#ppt_h"/>
                                          </p:val>
                                        </p:tav>
                                      </p:tavLst>
                                    </p:anim>
                                    <p:animEffect transition="in" filter="fade">
                                      <p:cBhvr>
                                        <p:cTn id="44" dur="500"/>
                                        <p:tgtEl>
                                          <p:spTgt spid="24"/>
                                        </p:tgtEl>
                                      </p:cBhvr>
                                    </p:animEffect>
                                  </p:childTnLst>
                                </p:cTn>
                              </p:par>
                              <p:par>
                                <p:cTn id="45" presetID="53" presetClass="entr" presetSubtype="16"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p:cTn id="47" dur="500" fill="hold"/>
                                        <p:tgtEl>
                                          <p:spTgt spid="44"/>
                                        </p:tgtEl>
                                        <p:attrNameLst>
                                          <p:attrName>ppt_w</p:attrName>
                                        </p:attrNameLst>
                                      </p:cBhvr>
                                      <p:tavLst>
                                        <p:tav tm="0">
                                          <p:val>
                                            <p:fltVal val="0"/>
                                          </p:val>
                                        </p:tav>
                                        <p:tav tm="100000">
                                          <p:val>
                                            <p:strVal val="#ppt_w"/>
                                          </p:val>
                                        </p:tav>
                                      </p:tavLst>
                                    </p:anim>
                                    <p:anim calcmode="lin" valueType="num">
                                      <p:cBhvr>
                                        <p:cTn id="48" dur="500" fill="hold"/>
                                        <p:tgtEl>
                                          <p:spTgt spid="44"/>
                                        </p:tgtEl>
                                        <p:attrNameLst>
                                          <p:attrName>ppt_h</p:attrName>
                                        </p:attrNameLst>
                                      </p:cBhvr>
                                      <p:tavLst>
                                        <p:tav tm="0">
                                          <p:val>
                                            <p:fltVal val="0"/>
                                          </p:val>
                                        </p:tav>
                                        <p:tav tm="100000">
                                          <p:val>
                                            <p:strVal val="#ppt_h"/>
                                          </p:val>
                                        </p:tav>
                                      </p:tavLst>
                                    </p:anim>
                                    <p:animEffect transition="in" filter="fade">
                                      <p:cBhvr>
                                        <p:cTn id="4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owerpoint template design by DAJU_PPT正版来源小红书大橘PPT微信DAJU_PPT请勿抄袭搬运！盗版必究！">
            <a:extLst>
              <a:ext uri="{FF2B5EF4-FFF2-40B4-BE49-F238E27FC236}">
                <a16:creationId xmlns:a16="http://schemas.microsoft.com/office/drawing/2014/main" id="{2A12C941-AE95-1EA3-E065-D8F4EF686417}"/>
              </a:ext>
            </a:extLst>
          </p:cNvPr>
          <p:cNvSpPr/>
          <p:nvPr/>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研究背景</a:t>
            </a: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Research Background</a:t>
            </a:r>
          </a:p>
        </p:txBody>
      </p:sp>
      <p:sp>
        <p:nvSpPr>
          <p:cNvPr id="12" name="文本框 11">
            <a:extLst>
              <a:ext uri="{FF2B5EF4-FFF2-40B4-BE49-F238E27FC236}">
                <a16:creationId xmlns:a16="http://schemas.microsoft.com/office/drawing/2014/main" id="{3FDFF47F-150E-6587-D988-7F0FF93ECC30}"/>
              </a:ext>
            </a:extLst>
          </p:cNvPr>
          <p:cNvSpPr txBox="1"/>
          <p:nvPr/>
        </p:nvSpPr>
        <p:spPr>
          <a:xfrm>
            <a:off x="5442332" y="1650424"/>
            <a:ext cx="1597446" cy="646331"/>
          </a:xfrm>
          <a:prstGeom prst="rect">
            <a:avLst/>
          </a:prstGeom>
          <a:noFill/>
        </p:spPr>
        <p:txBody>
          <a:bodyPr wrap="square" rtlCol="0">
            <a:spAutoFit/>
          </a:bodyPr>
          <a:lstStyle/>
          <a:p>
            <a:r>
              <a:rPr lang="en-US" altLang="zh-CN" sz="3600" dirty="0"/>
              <a:t>Part I</a:t>
            </a:r>
            <a:endParaRPr lang="zh-CN" altLang="en-US" sz="3600" dirty="0"/>
          </a:p>
        </p:txBody>
      </p:sp>
      <p:sp>
        <p:nvSpPr>
          <p:cNvPr id="4" name="文本框 3">
            <a:extLst>
              <a:ext uri="{FF2B5EF4-FFF2-40B4-BE49-F238E27FC236}">
                <a16:creationId xmlns:a16="http://schemas.microsoft.com/office/drawing/2014/main" id="{72E9E9CC-A02F-7C5E-D3B7-718DE4AA2A73}"/>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3</a:t>
            </a:fld>
            <a:endParaRPr lang="zh-CN" altLang="en-US" sz="1400" dirty="0">
              <a:solidFill>
                <a:srgbClr val="0070C0"/>
              </a:solidFill>
              <a:ea typeface="印品黑体" panose="00000500000000000000" pitchFamily="2" charset="-122"/>
            </a:endParaRPr>
          </a:p>
        </p:txBody>
      </p:sp>
    </p:spTree>
    <p:custDataLst>
      <p:tags r:id="rId1"/>
    </p:custDataLst>
  </p:cSld>
  <p:clrMapOvr>
    <a:masterClrMapping/>
  </p:clrMapOvr>
  <p:transition advTm="94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7F17E70C-F1F4-22CF-2D4E-1DEE073DA2F0}"/>
              </a:ext>
            </a:extLst>
          </p:cNvPr>
          <p:cNvSpPr>
            <a:spLocks noGrp="1"/>
          </p:cNvSpPr>
          <p:nvPr>
            <p:ph type="title"/>
          </p:nvPr>
        </p:nvSpPr>
        <p:spPr>
          <a:xfrm>
            <a:off x="985421" y="703527"/>
            <a:ext cx="3277059" cy="487909"/>
          </a:xfrm>
        </p:spPr>
        <p:txBody>
          <a:bodyPr/>
          <a:lstStyle/>
          <a:p>
            <a:r>
              <a:rPr lang="zh-CN" altLang="en-US" dirty="0"/>
              <a:t>情感分析意义与发展</a:t>
            </a:r>
          </a:p>
        </p:txBody>
      </p:sp>
      <p:sp>
        <p:nvSpPr>
          <p:cNvPr id="18" name="学论网-矩形 1">
            <a:extLst>
              <a:ext uri="{FF2B5EF4-FFF2-40B4-BE49-F238E27FC236}">
                <a16:creationId xmlns:a16="http://schemas.microsoft.com/office/drawing/2014/main" id="{80987387-BABE-5BF8-180B-A69D9D33E782}"/>
              </a:ext>
            </a:extLst>
          </p:cNvPr>
          <p:cNvSpPr/>
          <p:nvPr/>
        </p:nvSpPr>
        <p:spPr>
          <a:xfrm>
            <a:off x="1022547" y="3362490"/>
            <a:ext cx="2040552" cy="1640697"/>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9" name="学论网-www.xuelun.me">
            <a:extLst>
              <a:ext uri="{FF2B5EF4-FFF2-40B4-BE49-F238E27FC236}">
                <a16:creationId xmlns:a16="http://schemas.microsoft.com/office/drawing/2014/main" id="{F681B7C7-C8CF-31A7-2971-FDDB5574C560}"/>
              </a:ext>
            </a:extLst>
          </p:cNvPr>
          <p:cNvSpPr txBox="1"/>
          <p:nvPr/>
        </p:nvSpPr>
        <p:spPr>
          <a:xfrm>
            <a:off x="1079506" y="3362490"/>
            <a:ext cx="1787203" cy="1577611"/>
          </a:xfrm>
          <a:prstGeom prst="rect">
            <a:avLst/>
          </a:prstGeom>
          <a:noFill/>
          <a:ln>
            <a:noFill/>
          </a:ln>
        </p:spPr>
        <p:txBody>
          <a:bodyPr wrap="square" lIns="0" tIns="0" rIns="0" bIns="0" rtlCol="0">
            <a:spAutoFit/>
          </a:bodyPr>
          <a:lstStyle/>
          <a:p>
            <a:pPr algn="just">
              <a:lnSpc>
                <a:spcPct val="150000"/>
              </a:lnSpc>
            </a:pPr>
            <a:r>
              <a:rPr lang="zh-CN" altLang="en-US" sz="1400" b="0" i="0" dirty="0">
                <a:solidFill>
                  <a:srgbClr val="060607"/>
                </a:solidFill>
                <a:effectLst/>
                <a:highlight>
                  <a:srgbClr val="FFFFFF"/>
                </a:highlight>
                <a:latin typeface="-apple-system"/>
              </a:rPr>
              <a:t>基于规则的情感分析是一种较早且直观的方法，它依赖于预定义的规则来识别和分类文本中的情感倾向。</a:t>
            </a:r>
            <a:endParaRPr sz="1400" dirty="0">
              <a:latin typeface="Times New Roman" panose="02020603050405020304" charset="0"/>
              <a:cs typeface="+mn-ea"/>
            </a:endParaRPr>
          </a:p>
        </p:txBody>
      </p:sp>
      <p:sp>
        <p:nvSpPr>
          <p:cNvPr id="20" name="平行四边形 19">
            <a:extLst>
              <a:ext uri="{FF2B5EF4-FFF2-40B4-BE49-F238E27FC236}">
                <a16:creationId xmlns:a16="http://schemas.microsoft.com/office/drawing/2014/main" id="{D68D05E3-AB14-0BA2-A2C2-C4AD40119C20}"/>
              </a:ext>
            </a:extLst>
          </p:cNvPr>
          <p:cNvSpPr/>
          <p:nvPr/>
        </p:nvSpPr>
        <p:spPr>
          <a:xfrm>
            <a:off x="985421" y="2748173"/>
            <a:ext cx="2520000" cy="487908"/>
          </a:xfrm>
          <a:prstGeom prst="parallelogram">
            <a:avLst>
              <a:gd name="adj" fmla="val 97284"/>
            </a:avLst>
          </a:prstGeom>
          <a:solidFill>
            <a:srgbClr val="0070C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1.</a:t>
            </a:r>
            <a:r>
              <a:rPr lang="zh-CN" altLang="en-US" sz="1400" dirty="0"/>
              <a:t>基于规则的方法</a:t>
            </a:r>
          </a:p>
        </p:txBody>
      </p:sp>
      <p:sp>
        <p:nvSpPr>
          <p:cNvPr id="21" name="平行四边形 20">
            <a:extLst>
              <a:ext uri="{FF2B5EF4-FFF2-40B4-BE49-F238E27FC236}">
                <a16:creationId xmlns:a16="http://schemas.microsoft.com/office/drawing/2014/main" id="{BA1D6A30-42D4-79F5-F98A-F04B2D203E59}"/>
              </a:ext>
            </a:extLst>
          </p:cNvPr>
          <p:cNvSpPr/>
          <p:nvPr/>
        </p:nvSpPr>
        <p:spPr>
          <a:xfrm>
            <a:off x="2418402" y="2446266"/>
            <a:ext cx="1764000" cy="540000"/>
          </a:xfrm>
          <a:prstGeom prst="parallelogram">
            <a:avLst/>
          </a:prstGeom>
          <a:solidFill>
            <a:schemeClr val="tx1">
              <a:lumMod val="65000"/>
              <a:lumOff val="35000"/>
            </a:schemeClr>
          </a:solidFill>
          <a:ln>
            <a:solidFill>
              <a:schemeClr val="tx1">
                <a:lumMod val="50000"/>
                <a:lumOff val="50000"/>
              </a:schemeClr>
            </a:solidFill>
          </a:ln>
          <a:scene3d>
            <a:camera prst="isometricOffAxis2Right">
              <a:rot lat="1080000" lon="17208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平行四边形 21">
            <a:extLst>
              <a:ext uri="{FF2B5EF4-FFF2-40B4-BE49-F238E27FC236}">
                <a16:creationId xmlns:a16="http://schemas.microsoft.com/office/drawing/2014/main" id="{5F2E6719-62B2-D003-1D8A-925CEDB58F2F}"/>
              </a:ext>
            </a:extLst>
          </p:cNvPr>
          <p:cNvSpPr/>
          <p:nvPr/>
        </p:nvSpPr>
        <p:spPr>
          <a:xfrm>
            <a:off x="3091051" y="2187120"/>
            <a:ext cx="2520000" cy="487908"/>
          </a:xfrm>
          <a:prstGeom prst="parallelogram">
            <a:avLst>
              <a:gd name="adj" fmla="val 97284"/>
            </a:avLst>
          </a:prstGeom>
          <a:solidFill>
            <a:srgbClr val="0070C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2.</a:t>
            </a:r>
            <a:r>
              <a:rPr lang="zh-CN" altLang="en-US" sz="1400" dirty="0"/>
              <a:t>传统机器学习</a:t>
            </a:r>
          </a:p>
        </p:txBody>
      </p:sp>
      <p:sp>
        <p:nvSpPr>
          <p:cNvPr id="23" name="平行四边形 22">
            <a:extLst>
              <a:ext uri="{FF2B5EF4-FFF2-40B4-BE49-F238E27FC236}">
                <a16:creationId xmlns:a16="http://schemas.microsoft.com/office/drawing/2014/main" id="{167E6036-4E20-B822-A3D5-BDDFE14729D6}"/>
              </a:ext>
            </a:extLst>
          </p:cNvPr>
          <p:cNvSpPr/>
          <p:nvPr/>
        </p:nvSpPr>
        <p:spPr>
          <a:xfrm>
            <a:off x="4519700" y="1881299"/>
            <a:ext cx="1764000" cy="540000"/>
          </a:xfrm>
          <a:prstGeom prst="parallelogram">
            <a:avLst/>
          </a:prstGeom>
          <a:solidFill>
            <a:schemeClr val="tx1">
              <a:lumMod val="65000"/>
              <a:lumOff val="35000"/>
            </a:schemeClr>
          </a:solidFill>
          <a:ln>
            <a:solidFill>
              <a:schemeClr val="tx1">
                <a:lumMod val="50000"/>
                <a:lumOff val="50000"/>
              </a:schemeClr>
            </a:solidFill>
          </a:ln>
          <a:scene3d>
            <a:camera prst="isometricOffAxis2Right">
              <a:rot lat="1080000" lon="17208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学论网-矩形 1">
            <a:extLst>
              <a:ext uri="{FF2B5EF4-FFF2-40B4-BE49-F238E27FC236}">
                <a16:creationId xmlns:a16="http://schemas.microsoft.com/office/drawing/2014/main" id="{EFB15DE4-2D92-C5B8-B0C0-4EDAC1571D90}"/>
              </a:ext>
            </a:extLst>
          </p:cNvPr>
          <p:cNvSpPr/>
          <p:nvPr/>
        </p:nvSpPr>
        <p:spPr>
          <a:xfrm>
            <a:off x="3377790" y="2918667"/>
            <a:ext cx="1901122" cy="1978797"/>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6" name="学论网-矩形 1">
            <a:extLst>
              <a:ext uri="{FF2B5EF4-FFF2-40B4-BE49-F238E27FC236}">
                <a16:creationId xmlns:a16="http://schemas.microsoft.com/office/drawing/2014/main" id="{DFBAE23B-C1EF-BDD6-436A-5811C615DFC0}"/>
              </a:ext>
            </a:extLst>
          </p:cNvPr>
          <p:cNvSpPr/>
          <p:nvPr/>
        </p:nvSpPr>
        <p:spPr>
          <a:xfrm>
            <a:off x="5563786" y="2380577"/>
            <a:ext cx="1901122" cy="1978797"/>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7" name="学论网-www.xuelun.me">
            <a:extLst>
              <a:ext uri="{FF2B5EF4-FFF2-40B4-BE49-F238E27FC236}">
                <a16:creationId xmlns:a16="http://schemas.microsoft.com/office/drawing/2014/main" id="{99A5521C-320C-62E1-790C-5D6AED85EA0C}"/>
              </a:ext>
            </a:extLst>
          </p:cNvPr>
          <p:cNvSpPr txBox="1"/>
          <p:nvPr/>
        </p:nvSpPr>
        <p:spPr>
          <a:xfrm>
            <a:off x="5677705" y="2445806"/>
            <a:ext cx="1673284" cy="1900777"/>
          </a:xfrm>
          <a:prstGeom prst="rect">
            <a:avLst/>
          </a:prstGeom>
          <a:noFill/>
          <a:ln>
            <a:noFill/>
          </a:ln>
        </p:spPr>
        <p:txBody>
          <a:bodyPr wrap="square" lIns="0" tIns="0" rIns="0" bIns="0" rtlCol="0">
            <a:spAutoFit/>
          </a:bodyPr>
          <a:lstStyle/>
          <a:p>
            <a:pPr algn="just">
              <a:lnSpc>
                <a:spcPct val="150000"/>
              </a:lnSpc>
            </a:pPr>
            <a:r>
              <a:rPr lang="zh-CN" altLang="en-US" sz="1400" dirty="0">
                <a:latin typeface="Times New Roman" panose="02020603050405020304" charset="0"/>
                <a:cs typeface="+mn-ea"/>
              </a:rPr>
              <a:t>神经网络最大的优点在于不依赖于手工特征设计，构建一个好的神经网络就可以自动地学习文本中隐含的情感信息。</a:t>
            </a:r>
          </a:p>
        </p:txBody>
      </p:sp>
      <p:sp>
        <p:nvSpPr>
          <p:cNvPr id="28" name="平行四边形 27">
            <a:extLst>
              <a:ext uri="{FF2B5EF4-FFF2-40B4-BE49-F238E27FC236}">
                <a16:creationId xmlns:a16="http://schemas.microsoft.com/office/drawing/2014/main" id="{97826ECE-4A82-094D-AC7E-5ADB486C3739}"/>
              </a:ext>
            </a:extLst>
          </p:cNvPr>
          <p:cNvSpPr/>
          <p:nvPr/>
        </p:nvSpPr>
        <p:spPr>
          <a:xfrm>
            <a:off x="5179928" y="1615159"/>
            <a:ext cx="2520000" cy="487908"/>
          </a:xfrm>
          <a:prstGeom prst="parallelogram">
            <a:avLst>
              <a:gd name="adj" fmla="val 97284"/>
            </a:avLst>
          </a:prstGeom>
          <a:solidFill>
            <a:srgbClr val="0070C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3.</a:t>
            </a:r>
            <a:r>
              <a:rPr lang="zh-CN" altLang="en-US" sz="1400" dirty="0"/>
              <a:t>深度学习</a:t>
            </a:r>
          </a:p>
        </p:txBody>
      </p:sp>
      <p:sp>
        <p:nvSpPr>
          <p:cNvPr id="30" name="矩形: 圆角 29">
            <a:extLst>
              <a:ext uri="{FF2B5EF4-FFF2-40B4-BE49-F238E27FC236}">
                <a16:creationId xmlns:a16="http://schemas.microsoft.com/office/drawing/2014/main" id="{4211C456-8272-79C2-1DFB-7FFC3AD99D30}"/>
              </a:ext>
            </a:extLst>
          </p:cNvPr>
          <p:cNvSpPr/>
          <p:nvPr/>
        </p:nvSpPr>
        <p:spPr>
          <a:xfrm>
            <a:off x="8509772" y="1572856"/>
            <a:ext cx="2520000" cy="540207"/>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t>预训练模型</a:t>
            </a:r>
          </a:p>
        </p:txBody>
      </p:sp>
      <p:sp>
        <p:nvSpPr>
          <p:cNvPr id="31" name="箭头: 右 30">
            <a:extLst>
              <a:ext uri="{FF2B5EF4-FFF2-40B4-BE49-F238E27FC236}">
                <a16:creationId xmlns:a16="http://schemas.microsoft.com/office/drawing/2014/main" id="{BE4D77C7-5D50-D4B0-67A0-DA24A219575B}"/>
              </a:ext>
            </a:extLst>
          </p:cNvPr>
          <p:cNvSpPr/>
          <p:nvPr/>
        </p:nvSpPr>
        <p:spPr>
          <a:xfrm>
            <a:off x="7718663" y="1714304"/>
            <a:ext cx="662015" cy="289617"/>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dirty="0"/>
          </a:p>
        </p:txBody>
      </p:sp>
      <p:sp>
        <p:nvSpPr>
          <p:cNvPr id="34" name="学论网-矩形 1">
            <a:extLst>
              <a:ext uri="{FF2B5EF4-FFF2-40B4-BE49-F238E27FC236}">
                <a16:creationId xmlns:a16="http://schemas.microsoft.com/office/drawing/2014/main" id="{43630FA4-FE98-0871-4FF9-6BEB94FDA3DB}"/>
              </a:ext>
            </a:extLst>
          </p:cNvPr>
          <p:cNvSpPr/>
          <p:nvPr/>
        </p:nvSpPr>
        <p:spPr>
          <a:xfrm>
            <a:off x="8769157" y="2391344"/>
            <a:ext cx="1901122" cy="1978797"/>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5" name="学论网-www.xuelun.me">
            <a:extLst>
              <a:ext uri="{FF2B5EF4-FFF2-40B4-BE49-F238E27FC236}">
                <a16:creationId xmlns:a16="http://schemas.microsoft.com/office/drawing/2014/main" id="{900CFD30-6EF5-868A-101C-646ADAF3F89D}"/>
              </a:ext>
            </a:extLst>
          </p:cNvPr>
          <p:cNvSpPr txBox="1"/>
          <p:nvPr/>
        </p:nvSpPr>
        <p:spPr>
          <a:xfrm>
            <a:off x="8883076" y="2456573"/>
            <a:ext cx="1673284" cy="1904880"/>
          </a:xfrm>
          <a:prstGeom prst="rect">
            <a:avLst/>
          </a:prstGeom>
          <a:noFill/>
          <a:ln>
            <a:noFill/>
          </a:ln>
        </p:spPr>
        <p:txBody>
          <a:bodyPr wrap="square" lIns="0" tIns="0" rIns="0" bIns="0" rtlCol="0">
            <a:spAutoFit/>
          </a:bodyPr>
          <a:lstStyle/>
          <a:p>
            <a:pPr algn="just">
              <a:lnSpc>
                <a:spcPct val="150000"/>
              </a:lnSpc>
            </a:pPr>
            <a:r>
              <a:rPr lang="zh-CN" altLang="en-US" sz="1400" dirty="0">
                <a:latin typeface="Times New Roman" panose="02020603050405020304" charset="0"/>
                <a:cs typeface="+mn-ea"/>
              </a:rPr>
              <a:t>相比于以往的情感分析方法，使用预训练语言模型的情感分析，可以提取预训练的先验知识，获得更高的准确度和更好的性能。</a:t>
            </a:r>
            <a:endParaRPr sz="1400" dirty="0">
              <a:latin typeface="Times New Roman" panose="02020603050405020304" charset="0"/>
              <a:cs typeface="+mn-ea"/>
            </a:endParaRPr>
          </a:p>
        </p:txBody>
      </p:sp>
      <p:sp>
        <p:nvSpPr>
          <p:cNvPr id="40" name="文本框 39">
            <a:extLst>
              <a:ext uri="{FF2B5EF4-FFF2-40B4-BE49-F238E27FC236}">
                <a16:creationId xmlns:a16="http://schemas.microsoft.com/office/drawing/2014/main" id="{4BD733B1-5CA1-D710-5723-22A8067FECC9}"/>
              </a:ext>
            </a:extLst>
          </p:cNvPr>
          <p:cNvSpPr txBox="1"/>
          <p:nvPr/>
        </p:nvSpPr>
        <p:spPr>
          <a:xfrm>
            <a:off x="3441606" y="2842980"/>
            <a:ext cx="1901122" cy="2308324"/>
          </a:xfrm>
          <a:prstGeom prst="rect">
            <a:avLst/>
          </a:prstGeom>
          <a:noFill/>
        </p:spPr>
        <p:txBody>
          <a:bodyPr wrap="square" rtlCol="0">
            <a:spAutoFit/>
          </a:bodyPr>
          <a:lstStyle/>
          <a:p>
            <a:pPr>
              <a:lnSpc>
                <a:spcPct val="150000"/>
              </a:lnSpc>
            </a:pPr>
            <a:r>
              <a:rPr lang="zh-CN" altLang="en-US" sz="1400" dirty="0">
                <a:latin typeface="Times New Roman" panose="02020603050405020304" charset="0"/>
                <a:cs typeface="+mn-ea"/>
              </a:rPr>
              <a:t>通过特征提取和特征选择等手段，选取文本中的情感特征，采用有监督机器学习的方法做分类或回归任务。</a:t>
            </a:r>
          </a:p>
          <a:p>
            <a:endParaRPr lang="zh-CN" altLang="en-US" dirty="0"/>
          </a:p>
        </p:txBody>
      </p:sp>
      <p:pic>
        <p:nvPicPr>
          <p:cNvPr id="41" name="Picture 2">
            <a:extLst>
              <a:ext uri="{FF2B5EF4-FFF2-40B4-BE49-F238E27FC236}">
                <a16:creationId xmlns:a16="http://schemas.microsoft.com/office/drawing/2014/main" id="{451551C4-6496-A369-600B-AF0434CEAF64}"/>
              </a:ext>
            </a:extLst>
          </p:cNvPr>
          <p:cNvPicPr>
            <a:picLocks noChangeAspect="1" noChangeArrowheads="1"/>
          </p:cNvPicPr>
          <p:nvPr/>
        </p:nvPicPr>
        <p:blipFill>
          <a:blip r:embed="rId3" cstate="print"/>
          <a:srcRect/>
          <a:stretch>
            <a:fillRect/>
          </a:stretch>
        </p:blipFill>
        <p:spPr bwMode="auto">
          <a:xfrm>
            <a:off x="11199129" y="360619"/>
            <a:ext cx="576050" cy="606937"/>
          </a:xfrm>
          <a:prstGeom prst="rect">
            <a:avLst/>
          </a:prstGeom>
          <a:ln>
            <a:noFill/>
          </a:ln>
          <a:effectLst/>
        </p:spPr>
      </p:pic>
      <p:sp>
        <p:nvSpPr>
          <p:cNvPr id="4" name="文本框 3">
            <a:extLst>
              <a:ext uri="{FF2B5EF4-FFF2-40B4-BE49-F238E27FC236}">
                <a16:creationId xmlns:a16="http://schemas.microsoft.com/office/drawing/2014/main" id="{FBA7ADA3-BD3E-E9ED-9916-B261EE152C52}"/>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4</a:t>
            </a:fld>
            <a:endParaRPr lang="zh-CN" altLang="en-US" sz="1400" dirty="0">
              <a:solidFill>
                <a:srgbClr val="0070C0"/>
              </a:solidFill>
              <a:ea typeface="印品黑体" panose="00000500000000000000" pitchFamily="2" charset="-122"/>
            </a:endParaRPr>
          </a:p>
        </p:txBody>
      </p:sp>
      <p:sp>
        <p:nvSpPr>
          <p:cNvPr id="7" name="圆角矩形 7">
            <a:extLst>
              <a:ext uri="{FF2B5EF4-FFF2-40B4-BE49-F238E27FC236}">
                <a16:creationId xmlns:a16="http://schemas.microsoft.com/office/drawing/2014/main" id="{124577A8-0173-CC6B-B010-45C34BD325C2}"/>
              </a:ext>
            </a:extLst>
          </p:cNvPr>
          <p:cNvSpPr/>
          <p:nvPr/>
        </p:nvSpPr>
        <p:spPr>
          <a:xfrm>
            <a:off x="608540" y="5257832"/>
            <a:ext cx="2896881" cy="57848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简单的文本二分类</a:t>
            </a:r>
          </a:p>
        </p:txBody>
      </p:sp>
      <p:sp>
        <p:nvSpPr>
          <p:cNvPr id="8" name="圆角矩形 8">
            <a:extLst>
              <a:ext uri="{FF2B5EF4-FFF2-40B4-BE49-F238E27FC236}">
                <a16:creationId xmlns:a16="http://schemas.microsoft.com/office/drawing/2014/main" id="{D0244DDA-7847-D7F6-80B3-D19ADBD35378}"/>
              </a:ext>
            </a:extLst>
          </p:cNvPr>
          <p:cNvSpPr/>
          <p:nvPr/>
        </p:nvSpPr>
        <p:spPr>
          <a:xfrm>
            <a:off x="4513913" y="5218066"/>
            <a:ext cx="2936875" cy="57848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产品评论情感分析</a:t>
            </a:r>
          </a:p>
        </p:txBody>
      </p:sp>
      <p:sp>
        <p:nvSpPr>
          <p:cNvPr id="9" name="圆角矩形 9">
            <a:extLst>
              <a:ext uri="{FF2B5EF4-FFF2-40B4-BE49-F238E27FC236}">
                <a16:creationId xmlns:a16="http://schemas.microsoft.com/office/drawing/2014/main" id="{0BE2280D-0CEA-1473-64A5-3A2B844612A3}"/>
              </a:ext>
            </a:extLst>
          </p:cNvPr>
          <p:cNvSpPr/>
          <p:nvPr/>
        </p:nvSpPr>
        <p:spPr>
          <a:xfrm>
            <a:off x="8349931" y="5229241"/>
            <a:ext cx="3233529" cy="57848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进行细腻的全方面的情感分析</a:t>
            </a:r>
          </a:p>
        </p:txBody>
      </p:sp>
      <p:sp>
        <p:nvSpPr>
          <p:cNvPr id="10" name="箭头: 右 9">
            <a:extLst>
              <a:ext uri="{FF2B5EF4-FFF2-40B4-BE49-F238E27FC236}">
                <a16:creationId xmlns:a16="http://schemas.microsoft.com/office/drawing/2014/main" id="{8F64B141-EF62-B12B-9D7F-953DFE2DEB28}"/>
              </a:ext>
            </a:extLst>
          </p:cNvPr>
          <p:cNvSpPr/>
          <p:nvPr/>
        </p:nvSpPr>
        <p:spPr>
          <a:xfrm>
            <a:off x="3688844" y="5328987"/>
            <a:ext cx="643584" cy="3566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1A85CC42-6B8E-C345-30C6-1A3B569BAF32}"/>
              </a:ext>
            </a:extLst>
          </p:cNvPr>
          <p:cNvSpPr/>
          <p:nvPr/>
        </p:nvSpPr>
        <p:spPr>
          <a:xfrm>
            <a:off x="7606368" y="5368755"/>
            <a:ext cx="643584" cy="3566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4932099"/>
      </p:ext>
    </p:extLst>
  </p:cSld>
  <p:clrMapOvr>
    <a:masterClrMapping/>
  </p:clrMapOvr>
  <p:transition advTm="44205">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1130747" y="666494"/>
            <a:ext cx="2556827" cy="405102"/>
          </a:xfrm>
          <a:prstGeom prst="rect">
            <a:avLst/>
          </a:prstGeom>
        </p:spPr>
        <p:txBody>
          <a:bodyPr>
            <a:normAutofit fontScale="90000"/>
          </a:bodyPr>
          <a:lstStyle/>
          <a:p>
            <a:r>
              <a:rPr lang="zh-CN" altLang="en-US" sz="2400" b="1" dirty="0">
                <a:latin typeface="微软雅黑" panose="020B0503020204020204" pitchFamily="34" charset="-122"/>
                <a:ea typeface="微软雅黑" panose="020B0503020204020204" pitchFamily="34" charset="-122"/>
              </a:rPr>
              <a:t>预训练模型发展</a:t>
            </a:r>
            <a:br>
              <a:rPr lang="zh-CN" altLang="en-US" sz="2400" b="1" dirty="0">
                <a:latin typeface="微软雅黑" panose="020B0503020204020204" pitchFamily="34" charset="-122"/>
                <a:ea typeface="微软雅黑" panose="020B0503020204020204" pitchFamily="34" charset="-122"/>
              </a:rPr>
            </a:br>
            <a:endParaRPr lang="zh-CN" altLang="en-US" dirty="0">
              <a:latin typeface="+mn-lt"/>
              <a:ea typeface="+mn-ea"/>
              <a:cs typeface="+mn-ea"/>
              <a:sym typeface="+mn-lt"/>
            </a:endParaRPr>
          </a:p>
        </p:txBody>
      </p:sp>
      <p:sp>
        <p:nvSpPr>
          <p:cNvPr id="2" name="OfficePLUS.cn-5">
            <a:extLst>
              <a:ext uri="{FF2B5EF4-FFF2-40B4-BE49-F238E27FC236}">
                <a16:creationId xmlns:a16="http://schemas.microsoft.com/office/drawing/2014/main" id="{D8ED4CAE-1A3C-2731-E7B2-8C6D7F75BCB6}"/>
              </a:ext>
            </a:extLst>
          </p:cNvPr>
          <p:cNvSpPr/>
          <p:nvPr/>
        </p:nvSpPr>
        <p:spPr>
          <a:xfrm>
            <a:off x="5555456" y="1743560"/>
            <a:ext cx="617538" cy="607677"/>
          </a:xfrm>
          <a:prstGeom prst="ellipse">
            <a:avLst/>
          </a:prstGeom>
          <a:gradFill>
            <a:gsLst>
              <a:gs pos="0">
                <a:srgbClr val="009FFF"/>
              </a:gs>
              <a:gs pos="100000">
                <a:srgbClr val="006DFF"/>
              </a:gs>
            </a:gsLst>
            <a:lin ang="5400000" scaled="0"/>
          </a:gradFill>
          <a:ln w="12700">
            <a:noFill/>
          </a:ln>
        </p:spPr>
        <p:txBody>
          <a:bodyPr anchor="ctr"/>
          <a:lstStyle/>
          <a:p>
            <a:pPr lvl="0" indent="0" algn="ctr">
              <a:buFont typeface="Arial" panose="020B0604020202020204" pitchFamily="34" charset="0"/>
              <a:buNone/>
            </a:pPr>
            <a:endParaRPr lang="en-US" altLang="zh-CN" dirty="0">
              <a:solidFill>
                <a:schemeClr val="bg1"/>
              </a:solidFill>
              <a:cs typeface="+mn-ea"/>
              <a:sym typeface="+mn-lt"/>
            </a:endParaRPr>
          </a:p>
        </p:txBody>
      </p:sp>
      <p:sp>
        <p:nvSpPr>
          <p:cNvPr id="8" name="OfficePLUS.cn-9">
            <a:extLst>
              <a:ext uri="{FF2B5EF4-FFF2-40B4-BE49-F238E27FC236}">
                <a16:creationId xmlns:a16="http://schemas.microsoft.com/office/drawing/2014/main" id="{4C9AA27E-A4BC-71A5-FBD0-BAE1E87CDDA8}"/>
              </a:ext>
            </a:extLst>
          </p:cNvPr>
          <p:cNvSpPr/>
          <p:nvPr/>
        </p:nvSpPr>
        <p:spPr>
          <a:xfrm>
            <a:off x="10894695" y="1007950"/>
            <a:ext cx="531812" cy="604800"/>
          </a:xfrm>
          <a:prstGeom prst="ellipse">
            <a:avLst/>
          </a:prstGeom>
          <a:gradFill>
            <a:gsLst>
              <a:gs pos="0">
                <a:srgbClr val="009FFF"/>
              </a:gs>
              <a:gs pos="100000">
                <a:srgbClr val="006DFF"/>
              </a:gs>
            </a:gsLst>
            <a:lin ang="5400000" scaled="0"/>
          </a:gradFill>
          <a:ln w="12700">
            <a:noFill/>
          </a:ln>
        </p:spPr>
        <p:txBody>
          <a:bodyPr anchor="ctr"/>
          <a:lstStyle/>
          <a:p>
            <a:pPr lvl="0" indent="0" algn="ctr">
              <a:buFont typeface="Arial" panose="020B0604020202020204" pitchFamily="34" charset="0"/>
              <a:buNone/>
            </a:pPr>
            <a:endParaRPr lang="en-US" altLang="zh-CN" dirty="0">
              <a:solidFill>
                <a:schemeClr val="bg1"/>
              </a:solidFill>
              <a:cs typeface="+mn-ea"/>
              <a:sym typeface="+mn-lt"/>
            </a:endParaRPr>
          </a:p>
        </p:txBody>
      </p:sp>
      <p:sp>
        <p:nvSpPr>
          <p:cNvPr id="9" name="OfficePLUS.cn-10">
            <a:extLst>
              <a:ext uri="{FF2B5EF4-FFF2-40B4-BE49-F238E27FC236}">
                <a16:creationId xmlns:a16="http://schemas.microsoft.com/office/drawing/2014/main" id="{BDC7F114-6E9C-DE76-ADCF-6C481FE110FB}"/>
              </a:ext>
            </a:extLst>
          </p:cNvPr>
          <p:cNvSpPr/>
          <p:nvPr/>
        </p:nvSpPr>
        <p:spPr>
          <a:xfrm>
            <a:off x="341086" y="3561715"/>
            <a:ext cx="1433830" cy="368300"/>
          </a:xfrm>
          <a:prstGeom prst="rect">
            <a:avLst/>
          </a:prstGeom>
          <a:noFill/>
          <a:ln w="9525">
            <a:noFill/>
          </a:ln>
        </p:spPr>
        <p:txBody>
          <a:bodyPr wrap="none" anchor="t">
            <a:spAutoFit/>
          </a:bodyPr>
          <a:lstStyle/>
          <a:p>
            <a:pPr lvl="0" indent="0">
              <a:buFont typeface="Arial" panose="020B0604020202020204" pitchFamily="34" charset="0"/>
              <a:buNone/>
            </a:pPr>
            <a:r>
              <a:rPr lang="en-US" altLang="zh-CN" b="1" dirty="0">
                <a:cs typeface="+mn-ea"/>
                <a:sym typeface="+mn-lt"/>
              </a:rPr>
              <a:t>Before 2018</a:t>
            </a:r>
          </a:p>
        </p:txBody>
      </p:sp>
      <p:sp>
        <p:nvSpPr>
          <p:cNvPr id="10" name="OfficePLUS.cn-11">
            <a:extLst>
              <a:ext uri="{FF2B5EF4-FFF2-40B4-BE49-F238E27FC236}">
                <a16:creationId xmlns:a16="http://schemas.microsoft.com/office/drawing/2014/main" id="{6F226CAF-19F0-F185-E4EA-6286CE847420}"/>
              </a:ext>
            </a:extLst>
          </p:cNvPr>
          <p:cNvSpPr/>
          <p:nvPr/>
        </p:nvSpPr>
        <p:spPr>
          <a:xfrm>
            <a:off x="2515757" y="2916527"/>
            <a:ext cx="690880" cy="368300"/>
          </a:xfrm>
          <a:prstGeom prst="rect">
            <a:avLst/>
          </a:prstGeom>
          <a:noFill/>
          <a:ln w="9525">
            <a:noFill/>
          </a:ln>
        </p:spPr>
        <p:txBody>
          <a:bodyPr wrap="none" anchor="t">
            <a:spAutoFit/>
          </a:bodyPr>
          <a:lstStyle/>
          <a:p>
            <a:pPr lvl="0" indent="0">
              <a:buFont typeface="Arial" panose="020B0604020202020204" pitchFamily="34" charset="0"/>
              <a:buNone/>
            </a:pPr>
            <a:r>
              <a:rPr lang="en-US" altLang="zh-CN" b="1" dirty="0">
                <a:cs typeface="+mn-ea"/>
                <a:sym typeface="+mn-lt"/>
              </a:rPr>
              <a:t>2018</a:t>
            </a:r>
          </a:p>
        </p:txBody>
      </p:sp>
      <p:sp>
        <p:nvSpPr>
          <p:cNvPr id="11" name="OfficePLUS.cn-12">
            <a:extLst>
              <a:ext uri="{FF2B5EF4-FFF2-40B4-BE49-F238E27FC236}">
                <a16:creationId xmlns:a16="http://schemas.microsoft.com/office/drawing/2014/main" id="{CD9ADD9A-7D24-9445-E9FC-E17D6F78EEB1}"/>
              </a:ext>
            </a:extLst>
          </p:cNvPr>
          <p:cNvSpPr/>
          <p:nvPr/>
        </p:nvSpPr>
        <p:spPr>
          <a:xfrm>
            <a:off x="5384988" y="2410156"/>
            <a:ext cx="690880" cy="368300"/>
          </a:xfrm>
          <a:prstGeom prst="rect">
            <a:avLst/>
          </a:prstGeom>
          <a:noFill/>
          <a:ln w="9525">
            <a:noFill/>
          </a:ln>
        </p:spPr>
        <p:txBody>
          <a:bodyPr wrap="none" anchor="t">
            <a:spAutoFit/>
          </a:bodyPr>
          <a:lstStyle/>
          <a:p>
            <a:pPr lvl="0" indent="0">
              <a:buFont typeface="Arial" panose="020B0604020202020204" pitchFamily="34" charset="0"/>
              <a:buNone/>
            </a:pPr>
            <a:r>
              <a:rPr lang="en-US" altLang="zh-CN" b="1" dirty="0">
                <a:cs typeface="+mn-ea"/>
                <a:sym typeface="+mn-lt"/>
              </a:rPr>
              <a:t>2019</a:t>
            </a:r>
          </a:p>
        </p:txBody>
      </p:sp>
      <p:sp>
        <p:nvSpPr>
          <p:cNvPr id="12" name="OfficePLUS.cn-13">
            <a:extLst>
              <a:ext uri="{FF2B5EF4-FFF2-40B4-BE49-F238E27FC236}">
                <a16:creationId xmlns:a16="http://schemas.microsoft.com/office/drawing/2014/main" id="{99A6E096-23F3-0BB6-AC8D-37F0887BBDF1}"/>
              </a:ext>
            </a:extLst>
          </p:cNvPr>
          <p:cNvSpPr/>
          <p:nvPr/>
        </p:nvSpPr>
        <p:spPr>
          <a:xfrm>
            <a:off x="7771957" y="2126525"/>
            <a:ext cx="1715135" cy="368300"/>
          </a:xfrm>
          <a:prstGeom prst="rect">
            <a:avLst/>
          </a:prstGeom>
          <a:noFill/>
          <a:ln w="9525">
            <a:noFill/>
          </a:ln>
        </p:spPr>
        <p:txBody>
          <a:bodyPr wrap="none" anchor="t">
            <a:spAutoFit/>
          </a:bodyPr>
          <a:lstStyle/>
          <a:p>
            <a:pPr lvl="0" indent="0">
              <a:buFont typeface="Arial" panose="020B0604020202020204" pitchFamily="34" charset="0"/>
              <a:buNone/>
            </a:pPr>
            <a:r>
              <a:rPr lang="en-US" altLang="zh-CN" b="1" dirty="0">
                <a:cs typeface="+mn-ea"/>
                <a:sym typeface="+mn-lt"/>
              </a:rPr>
              <a:t>2020 and 2021</a:t>
            </a:r>
          </a:p>
        </p:txBody>
      </p:sp>
      <p:sp>
        <p:nvSpPr>
          <p:cNvPr id="13" name="OfficePLUS.cn-14">
            <a:extLst>
              <a:ext uri="{FF2B5EF4-FFF2-40B4-BE49-F238E27FC236}">
                <a16:creationId xmlns:a16="http://schemas.microsoft.com/office/drawing/2014/main" id="{4171F83E-3A16-D783-87BB-51FB25B8A0D1}"/>
              </a:ext>
            </a:extLst>
          </p:cNvPr>
          <p:cNvSpPr/>
          <p:nvPr/>
        </p:nvSpPr>
        <p:spPr>
          <a:xfrm>
            <a:off x="10426506" y="1705637"/>
            <a:ext cx="1300356" cy="369332"/>
          </a:xfrm>
          <a:prstGeom prst="rect">
            <a:avLst/>
          </a:prstGeom>
          <a:noFill/>
          <a:ln w="9525">
            <a:noFill/>
          </a:ln>
        </p:spPr>
        <p:txBody>
          <a:bodyPr wrap="none" anchor="t">
            <a:spAutoFit/>
          </a:bodyPr>
          <a:lstStyle/>
          <a:p>
            <a:pPr lvl="0" indent="0">
              <a:buFont typeface="Arial" panose="020B0604020202020204" pitchFamily="34" charset="0"/>
              <a:buNone/>
            </a:pPr>
            <a:r>
              <a:rPr lang="en-US" altLang="zh-CN" b="1" dirty="0">
                <a:cs typeface="+mn-ea"/>
                <a:sym typeface="+mn-lt"/>
              </a:rPr>
              <a:t>After 2022</a:t>
            </a:r>
          </a:p>
        </p:txBody>
      </p:sp>
      <p:cxnSp>
        <p:nvCxnSpPr>
          <p:cNvPr id="14" name="OfficePLUS.cn-15">
            <a:extLst>
              <a:ext uri="{FF2B5EF4-FFF2-40B4-BE49-F238E27FC236}">
                <a16:creationId xmlns:a16="http://schemas.microsoft.com/office/drawing/2014/main" id="{E925D2AC-55F7-F7D6-6BDE-14E534E369BF}"/>
              </a:ext>
            </a:extLst>
          </p:cNvPr>
          <p:cNvCxnSpPr>
            <a:cxnSpLocks/>
            <a:stCxn id="7" idx="6"/>
            <a:endCxn id="6" idx="2"/>
          </p:cNvCxnSpPr>
          <p:nvPr/>
        </p:nvCxnSpPr>
        <p:spPr>
          <a:xfrm flipV="1">
            <a:off x="990759" y="2449378"/>
            <a:ext cx="1418402" cy="547593"/>
          </a:xfrm>
          <a:prstGeom prst="curvedConnector3">
            <a:avLst>
              <a:gd name="adj1" fmla="val 50000"/>
            </a:avLst>
          </a:prstGeom>
          <a:ln w="25400" cap="flat" cmpd="sng">
            <a:solidFill>
              <a:schemeClr val="tx1"/>
            </a:solidFill>
            <a:prstDash val="sysDot"/>
            <a:bevel/>
            <a:headEnd type="none" w="med" len="med"/>
            <a:tailEnd type="none" w="med" len="med"/>
          </a:ln>
        </p:spPr>
      </p:cxnSp>
      <p:sp>
        <p:nvSpPr>
          <p:cNvPr id="15" name="OfficePLUS.cn-16">
            <a:extLst>
              <a:ext uri="{FF2B5EF4-FFF2-40B4-BE49-F238E27FC236}">
                <a16:creationId xmlns:a16="http://schemas.microsoft.com/office/drawing/2014/main" id="{D6305981-3685-8F8F-ABAB-A3ABF77EAD67}"/>
              </a:ext>
            </a:extLst>
          </p:cNvPr>
          <p:cNvSpPr/>
          <p:nvPr/>
        </p:nvSpPr>
        <p:spPr>
          <a:xfrm>
            <a:off x="3034131" y="1953040"/>
            <a:ext cx="2505697" cy="465838"/>
          </a:xfrm>
          <a:custGeom>
            <a:avLst/>
            <a:gdLst/>
            <a:ahLst/>
            <a:cxnLst>
              <a:cxn ang="0">
                <a:pos x="0" y="844008"/>
              </a:cxn>
              <a:cxn ang="0">
                <a:pos x="935711" y="58208"/>
              </a:cxn>
              <a:cxn ang="0">
                <a:pos x="2955999" y="58208"/>
              </a:cxn>
            </a:cxnLst>
            <a:rect l="0" t="0" r="0" b="0"/>
            <a:pathLst>
              <a:path w="2955851" h="845092">
                <a:moveTo>
                  <a:pt x="0" y="845092"/>
                </a:moveTo>
                <a:cubicBezTo>
                  <a:pt x="221511" y="517254"/>
                  <a:pt x="443023" y="189417"/>
                  <a:pt x="935665" y="58282"/>
                </a:cubicBezTo>
                <a:cubicBezTo>
                  <a:pt x="1428307" y="-72853"/>
                  <a:pt x="2955851" y="58282"/>
                  <a:pt x="2955851" y="58282"/>
                </a:cubicBezTo>
              </a:path>
            </a:pathLst>
          </a:custGeom>
          <a:noFill/>
          <a:ln w="25400" cap="flat" cmpd="sng">
            <a:solidFill>
              <a:schemeClr val="tx1"/>
            </a:solidFill>
            <a:prstDash val="sysDot"/>
            <a:bevel/>
            <a:headEnd type="none" w="med" len="med"/>
            <a:tailEnd type="none" w="med" len="med"/>
          </a:ln>
        </p:spPr>
        <p:txBody>
          <a:bodyPr/>
          <a:lstStyle/>
          <a:p>
            <a:endParaRPr lang="zh-CN" altLang="en-US" dirty="0">
              <a:cs typeface="+mn-ea"/>
              <a:sym typeface="+mn-lt"/>
            </a:endParaRPr>
          </a:p>
        </p:txBody>
      </p:sp>
      <p:cxnSp>
        <p:nvCxnSpPr>
          <p:cNvPr id="16" name="OfficePLUS.cn-17">
            <a:extLst>
              <a:ext uri="{FF2B5EF4-FFF2-40B4-BE49-F238E27FC236}">
                <a16:creationId xmlns:a16="http://schemas.microsoft.com/office/drawing/2014/main" id="{1250EC9E-EA1E-2759-E1F7-FD4B127FE47C}"/>
              </a:ext>
            </a:extLst>
          </p:cNvPr>
          <p:cNvCxnSpPr>
            <a:stCxn id="3" idx="6"/>
            <a:endCxn id="8" idx="2"/>
          </p:cNvCxnSpPr>
          <p:nvPr/>
        </p:nvCxnSpPr>
        <p:spPr>
          <a:xfrm flipV="1">
            <a:off x="8878631" y="1310350"/>
            <a:ext cx="2016064" cy="253400"/>
          </a:xfrm>
          <a:prstGeom prst="curvedConnector3">
            <a:avLst>
              <a:gd name="adj1" fmla="val 50000"/>
            </a:avLst>
          </a:prstGeom>
          <a:ln w="25400" cap="flat" cmpd="sng">
            <a:solidFill>
              <a:schemeClr val="tx1"/>
            </a:solidFill>
            <a:prstDash val="sysDot"/>
            <a:bevel/>
            <a:headEnd type="none" w="med" len="med"/>
            <a:tailEnd type="none" w="med" len="med"/>
          </a:ln>
        </p:spPr>
      </p:cxnSp>
      <p:cxnSp>
        <p:nvCxnSpPr>
          <p:cNvPr id="17" name="OfficePLUS.cn-18">
            <a:extLst>
              <a:ext uri="{FF2B5EF4-FFF2-40B4-BE49-F238E27FC236}">
                <a16:creationId xmlns:a16="http://schemas.microsoft.com/office/drawing/2014/main" id="{FAD2554F-CF7B-E100-AB8E-8B1DFDFBB2EE}"/>
              </a:ext>
            </a:extLst>
          </p:cNvPr>
          <p:cNvCxnSpPr>
            <a:cxnSpLocks/>
            <a:stCxn id="2" idx="6"/>
            <a:endCxn id="3" idx="2"/>
          </p:cNvCxnSpPr>
          <p:nvPr/>
        </p:nvCxnSpPr>
        <p:spPr>
          <a:xfrm flipV="1">
            <a:off x="6172994" y="1563750"/>
            <a:ext cx="2069814" cy="483649"/>
          </a:xfrm>
          <a:prstGeom prst="curvedConnector3">
            <a:avLst>
              <a:gd name="adj1" fmla="val 50000"/>
            </a:avLst>
          </a:prstGeom>
          <a:ln w="25400" cap="flat" cmpd="sng">
            <a:solidFill>
              <a:schemeClr val="tx1"/>
            </a:solidFill>
            <a:prstDash val="sysDot"/>
            <a:bevel/>
            <a:headEnd type="none" w="med" len="med"/>
            <a:tailEnd type="none" w="med" len="med"/>
          </a:ln>
        </p:spPr>
      </p:cxnSp>
      <p:grpSp>
        <p:nvGrpSpPr>
          <p:cNvPr id="33" name="组合 32">
            <a:extLst>
              <a:ext uri="{FF2B5EF4-FFF2-40B4-BE49-F238E27FC236}">
                <a16:creationId xmlns:a16="http://schemas.microsoft.com/office/drawing/2014/main" id="{28256942-A8FF-BD97-BD71-4E1B5CCEEBA6}"/>
              </a:ext>
            </a:extLst>
          </p:cNvPr>
          <p:cNvGrpSpPr/>
          <p:nvPr/>
        </p:nvGrpSpPr>
        <p:grpSpPr>
          <a:xfrm>
            <a:off x="373221" y="2709633"/>
            <a:ext cx="617538" cy="574675"/>
            <a:chOff x="220662" y="2139950"/>
            <a:chExt cx="819150" cy="819150"/>
          </a:xfrm>
        </p:grpSpPr>
        <p:sp>
          <p:nvSpPr>
            <p:cNvPr id="7" name="OfficePLUS.cn-8">
              <a:extLst>
                <a:ext uri="{FF2B5EF4-FFF2-40B4-BE49-F238E27FC236}">
                  <a16:creationId xmlns:a16="http://schemas.microsoft.com/office/drawing/2014/main" id="{907AC5BE-EEFF-8358-EF30-939C9AD7A1C5}"/>
                </a:ext>
              </a:extLst>
            </p:cNvPr>
            <p:cNvSpPr/>
            <p:nvPr/>
          </p:nvSpPr>
          <p:spPr>
            <a:xfrm>
              <a:off x="220662" y="2139950"/>
              <a:ext cx="819150" cy="819150"/>
            </a:xfrm>
            <a:prstGeom prst="ellipse">
              <a:avLst/>
            </a:prstGeom>
            <a:gradFill>
              <a:gsLst>
                <a:gs pos="0">
                  <a:srgbClr val="009FFF"/>
                </a:gs>
                <a:gs pos="100000">
                  <a:srgbClr val="006DFF"/>
                </a:gs>
              </a:gsLst>
              <a:lin ang="5400000" scaled="0"/>
            </a:gradFill>
            <a:ln w="12700">
              <a:noFill/>
            </a:ln>
          </p:spPr>
          <p:txBody>
            <a:bodyPr anchor="ctr"/>
            <a:lstStyle/>
            <a:p>
              <a:pPr lvl="0" indent="0" algn="ctr">
                <a:buFont typeface="Arial" panose="020B0604020202020204" pitchFamily="34" charset="0"/>
                <a:buNone/>
              </a:pPr>
              <a:endParaRPr lang="en-US" altLang="zh-CN" sz="2800" dirty="0">
                <a:solidFill>
                  <a:schemeClr val="bg1"/>
                </a:solidFill>
                <a:cs typeface="+mn-ea"/>
                <a:sym typeface="+mn-lt"/>
              </a:endParaRPr>
            </a:p>
          </p:txBody>
        </p:sp>
        <p:sp>
          <p:nvSpPr>
            <p:cNvPr id="18" name="OfficePLUS.cn-19">
              <a:extLst>
                <a:ext uri="{FF2B5EF4-FFF2-40B4-BE49-F238E27FC236}">
                  <a16:creationId xmlns:a16="http://schemas.microsoft.com/office/drawing/2014/main" id="{8C86EF53-B670-CEC7-9E11-02443E7E5360}"/>
                </a:ext>
              </a:extLst>
            </p:cNvPr>
            <p:cNvSpPr>
              <a:spLocks noEditPoints="1"/>
            </p:cNvSpPr>
            <p:nvPr/>
          </p:nvSpPr>
          <p:spPr>
            <a:xfrm>
              <a:off x="458787" y="2339975"/>
              <a:ext cx="342900" cy="401638"/>
            </a:xfrm>
            <a:custGeom>
              <a:avLst/>
              <a:gdLst/>
              <a:ahLst/>
              <a:cxnLst>
                <a:cxn ang="0">
                  <a:pos x="625374098" y="300437490"/>
                </a:cxn>
                <a:cxn ang="0">
                  <a:pos x="572378801" y="346656327"/>
                </a:cxn>
                <a:cxn ang="0">
                  <a:pos x="572378801" y="439097764"/>
                </a:cxn>
                <a:cxn ang="0">
                  <a:pos x="487582197" y="439097764"/>
                </a:cxn>
                <a:cxn ang="0">
                  <a:pos x="445183895" y="496875072"/>
                </a:cxn>
                <a:cxn ang="0">
                  <a:pos x="487582197" y="543097672"/>
                </a:cxn>
                <a:cxn ang="0">
                  <a:pos x="572378801" y="543097672"/>
                </a:cxn>
                <a:cxn ang="0">
                  <a:pos x="572378801" y="635539109"/>
                </a:cxn>
                <a:cxn ang="0">
                  <a:pos x="625374098" y="693312655"/>
                </a:cxn>
                <a:cxn ang="0">
                  <a:pos x="667772400" y="635539109"/>
                </a:cxn>
                <a:cxn ang="0">
                  <a:pos x="667772400" y="543097672"/>
                </a:cxn>
                <a:cxn ang="0">
                  <a:pos x="752569005" y="543097672"/>
                </a:cxn>
                <a:cxn ang="0">
                  <a:pos x="805567743" y="496875072"/>
                </a:cxn>
                <a:cxn ang="0">
                  <a:pos x="752569005" y="439097764"/>
                </a:cxn>
                <a:cxn ang="0">
                  <a:pos x="667772400" y="439097764"/>
                </a:cxn>
                <a:cxn ang="0">
                  <a:pos x="667772400" y="346656327"/>
                </a:cxn>
                <a:cxn ang="0">
                  <a:pos x="625374098" y="300437490"/>
                </a:cxn>
                <a:cxn ang="0">
                  <a:pos x="105997476" y="1143968891"/>
                </a:cxn>
                <a:cxn ang="0">
                  <a:pos x="95397040" y="1132414182"/>
                </a:cxn>
                <a:cxn ang="0">
                  <a:pos x="84796604" y="1097746291"/>
                </a:cxn>
                <a:cxn ang="0">
                  <a:pos x="95397040" y="1063082164"/>
                </a:cxn>
                <a:cxn ang="0">
                  <a:pos x="233192383" y="912863418"/>
                </a:cxn>
                <a:cxn ang="0">
                  <a:pos x="243789377" y="901308709"/>
                </a:cxn>
                <a:cxn ang="0">
                  <a:pos x="264990249" y="912863418"/>
                </a:cxn>
                <a:cxn ang="0">
                  <a:pos x="264990249" y="935972837"/>
                </a:cxn>
                <a:cxn ang="0">
                  <a:pos x="127194906" y="1086191582"/>
                </a:cxn>
                <a:cxn ang="0">
                  <a:pos x="116594470" y="1097746291"/>
                </a:cxn>
                <a:cxn ang="0">
                  <a:pos x="127194906" y="1109301001"/>
                </a:cxn>
                <a:cxn ang="0">
                  <a:pos x="127194906" y="1132414182"/>
                </a:cxn>
                <a:cxn ang="0">
                  <a:pos x="105997476" y="1143968891"/>
                </a:cxn>
                <a:cxn ang="0">
                  <a:pos x="614777104" y="831976691"/>
                </a:cxn>
                <a:cxn ang="0">
                  <a:pos x="392185156" y="727980545"/>
                </a:cxn>
                <a:cxn ang="0">
                  <a:pos x="296788116" y="485320363"/>
                </a:cxn>
                <a:cxn ang="0">
                  <a:pos x="392185156" y="242660181"/>
                </a:cxn>
                <a:cxn ang="0">
                  <a:pos x="614777104" y="138664036"/>
                </a:cxn>
                <a:cxn ang="0">
                  <a:pos x="847966046" y="242660181"/>
                </a:cxn>
                <a:cxn ang="0">
                  <a:pos x="932762650" y="485320363"/>
                </a:cxn>
                <a:cxn ang="0">
                  <a:pos x="847966046" y="727980545"/>
                </a:cxn>
                <a:cxn ang="0">
                  <a:pos x="614777104" y="831976691"/>
                </a:cxn>
                <a:cxn ang="0">
                  <a:pos x="614777104" y="0"/>
                </a:cxn>
                <a:cxn ang="0">
                  <a:pos x="180193645" y="485320363"/>
                </a:cxn>
                <a:cxn ang="0">
                  <a:pos x="264990249" y="762644673"/>
                </a:cxn>
                <a:cxn ang="0">
                  <a:pos x="42398302" y="1005304855"/>
                </a:cxn>
                <a:cxn ang="0">
                  <a:pos x="42398302" y="1190187728"/>
                </a:cxn>
                <a:cxn ang="0">
                  <a:pos x="127194906" y="1236410327"/>
                </a:cxn>
                <a:cxn ang="0">
                  <a:pos x="211991511" y="1190187728"/>
                </a:cxn>
                <a:cxn ang="0">
                  <a:pos x="423983023" y="970640727"/>
                </a:cxn>
                <a:cxn ang="0">
                  <a:pos x="455780889" y="935972837"/>
                </a:cxn>
                <a:cxn ang="0">
                  <a:pos x="614777104" y="970640727"/>
                </a:cxn>
                <a:cxn ang="0">
                  <a:pos x="1059957557" y="485320363"/>
                </a:cxn>
                <a:cxn ang="0">
                  <a:pos x="614777104" y="0"/>
                </a:cxn>
              </a:cxnLst>
              <a:rect l="0" t="0" r="0" b="0"/>
              <a:pathLst>
                <a:path w="100" h="107">
                  <a:moveTo>
                    <a:pt x="59" y="26"/>
                  </a:moveTo>
                  <a:cubicBezTo>
                    <a:pt x="56" y="26"/>
                    <a:pt x="54" y="28"/>
                    <a:pt x="54" y="30"/>
                  </a:cubicBezTo>
                  <a:cubicBezTo>
                    <a:pt x="54" y="38"/>
                    <a:pt x="54" y="38"/>
                    <a:pt x="54" y="38"/>
                  </a:cubicBezTo>
                  <a:cubicBezTo>
                    <a:pt x="46" y="38"/>
                    <a:pt x="46" y="38"/>
                    <a:pt x="46" y="38"/>
                  </a:cubicBezTo>
                  <a:cubicBezTo>
                    <a:pt x="44" y="38"/>
                    <a:pt x="42" y="40"/>
                    <a:pt x="42" y="43"/>
                  </a:cubicBezTo>
                  <a:cubicBezTo>
                    <a:pt x="42" y="45"/>
                    <a:pt x="44" y="47"/>
                    <a:pt x="46" y="47"/>
                  </a:cubicBezTo>
                  <a:cubicBezTo>
                    <a:pt x="54" y="47"/>
                    <a:pt x="54" y="47"/>
                    <a:pt x="54" y="47"/>
                  </a:cubicBezTo>
                  <a:cubicBezTo>
                    <a:pt x="54" y="55"/>
                    <a:pt x="54" y="55"/>
                    <a:pt x="54" y="55"/>
                  </a:cubicBezTo>
                  <a:cubicBezTo>
                    <a:pt x="54" y="58"/>
                    <a:pt x="56" y="60"/>
                    <a:pt x="59" y="60"/>
                  </a:cubicBezTo>
                  <a:cubicBezTo>
                    <a:pt x="61" y="60"/>
                    <a:pt x="63" y="58"/>
                    <a:pt x="63" y="55"/>
                  </a:cubicBezTo>
                  <a:cubicBezTo>
                    <a:pt x="63" y="47"/>
                    <a:pt x="63" y="47"/>
                    <a:pt x="63" y="47"/>
                  </a:cubicBezTo>
                  <a:cubicBezTo>
                    <a:pt x="71" y="47"/>
                    <a:pt x="71" y="47"/>
                    <a:pt x="71" y="47"/>
                  </a:cubicBezTo>
                  <a:cubicBezTo>
                    <a:pt x="74" y="47"/>
                    <a:pt x="76" y="45"/>
                    <a:pt x="76" y="43"/>
                  </a:cubicBezTo>
                  <a:cubicBezTo>
                    <a:pt x="76" y="40"/>
                    <a:pt x="74" y="38"/>
                    <a:pt x="71" y="38"/>
                  </a:cubicBezTo>
                  <a:cubicBezTo>
                    <a:pt x="63" y="38"/>
                    <a:pt x="63" y="38"/>
                    <a:pt x="63" y="38"/>
                  </a:cubicBezTo>
                  <a:cubicBezTo>
                    <a:pt x="63" y="30"/>
                    <a:pt x="63" y="30"/>
                    <a:pt x="63" y="30"/>
                  </a:cubicBezTo>
                  <a:cubicBezTo>
                    <a:pt x="63" y="28"/>
                    <a:pt x="61" y="26"/>
                    <a:pt x="59" y="26"/>
                  </a:cubicBezTo>
                  <a:moveTo>
                    <a:pt x="10" y="99"/>
                  </a:moveTo>
                  <a:cubicBezTo>
                    <a:pt x="10" y="99"/>
                    <a:pt x="9" y="99"/>
                    <a:pt x="9" y="98"/>
                  </a:cubicBezTo>
                  <a:cubicBezTo>
                    <a:pt x="8" y="97"/>
                    <a:pt x="8" y="96"/>
                    <a:pt x="8" y="95"/>
                  </a:cubicBezTo>
                  <a:cubicBezTo>
                    <a:pt x="8" y="94"/>
                    <a:pt x="8" y="93"/>
                    <a:pt x="9" y="92"/>
                  </a:cubicBezTo>
                  <a:cubicBezTo>
                    <a:pt x="22" y="79"/>
                    <a:pt x="22" y="79"/>
                    <a:pt x="22" y="79"/>
                  </a:cubicBezTo>
                  <a:cubicBezTo>
                    <a:pt x="22" y="78"/>
                    <a:pt x="23" y="78"/>
                    <a:pt x="23" y="78"/>
                  </a:cubicBezTo>
                  <a:cubicBezTo>
                    <a:pt x="24" y="78"/>
                    <a:pt x="24" y="78"/>
                    <a:pt x="25" y="79"/>
                  </a:cubicBezTo>
                  <a:cubicBezTo>
                    <a:pt x="25" y="79"/>
                    <a:pt x="25" y="80"/>
                    <a:pt x="25" y="81"/>
                  </a:cubicBezTo>
                  <a:cubicBezTo>
                    <a:pt x="12" y="94"/>
                    <a:pt x="12" y="94"/>
                    <a:pt x="12" y="94"/>
                  </a:cubicBezTo>
                  <a:cubicBezTo>
                    <a:pt x="11" y="95"/>
                    <a:pt x="11" y="95"/>
                    <a:pt x="11" y="95"/>
                  </a:cubicBezTo>
                  <a:cubicBezTo>
                    <a:pt x="12" y="96"/>
                    <a:pt x="12" y="96"/>
                    <a:pt x="12" y="96"/>
                  </a:cubicBezTo>
                  <a:cubicBezTo>
                    <a:pt x="12" y="97"/>
                    <a:pt x="12" y="98"/>
                    <a:pt x="12" y="98"/>
                  </a:cubicBezTo>
                  <a:cubicBezTo>
                    <a:pt x="11" y="99"/>
                    <a:pt x="11" y="99"/>
                    <a:pt x="10" y="99"/>
                  </a:cubicBezTo>
                  <a:moveTo>
                    <a:pt x="58" y="72"/>
                  </a:moveTo>
                  <a:cubicBezTo>
                    <a:pt x="50" y="72"/>
                    <a:pt x="43" y="69"/>
                    <a:pt x="37" y="63"/>
                  </a:cubicBezTo>
                  <a:cubicBezTo>
                    <a:pt x="32" y="58"/>
                    <a:pt x="28" y="50"/>
                    <a:pt x="28" y="42"/>
                  </a:cubicBezTo>
                  <a:cubicBezTo>
                    <a:pt x="28" y="34"/>
                    <a:pt x="32" y="26"/>
                    <a:pt x="37" y="21"/>
                  </a:cubicBezTo>
                  <a:cubicBezTo>
                    <a:pt x="43" y="15"/>
                    <a:pt x="50" y="12"/>
                    <a:pt x="58" y="12"/>
                  </a:cubicBezTo>
                  <a:cubicBezTo>
                    <a:pt x="67" y="12"/>
                    <a:pt x="74" y="15"/>
                    <a:pt x="80" y="21"/>
                  </a:cubicBezTo>
                  <a:cubicBezTo>
                    <a:pt x="85" y="26"/>
                    <a:pt x="88" y="34"/>
                    <a:pt x="88" y="42"/>
                  </a:cubicBezTo>
                  <a:cubicBezTo>
                    <a:pt x="88" y="50"/>
                    <a:pt x="85" y="58"/>
                    <a:pt x="80" y="63"/>
                  </a:cubicBezTo>
                  <a:cubicBezTo>
                    <a:pt x="74" y="69"/>
                    <a:pt x="67" y="72"/>
                    <a:pt x="58" y="72"/>
                  </a:cubicBezTo>
                  <a:moveTo>
                    <a:pt x="58" y="0"/>
                  </a:moveTo>
                  <a:cubicBezTo>
                    <a:pt x="35" y="0"/>
                    <a:pt x="17" y="19"/>
                    <a:pt x="17" y="42"/>
                  </a:cubicBezTo>
                  <a:cubicBezTo>
                    <a:pt x="17" y="51"/>
                    <a:pt x="20" y="59"/>
                    <a:pt x="25" y="66"/>
                  </a:cubicBezTo>
                  <a:cubicBezTo>
                    <a:pt x="4" y="87"/>
                    <a:pt x="4" y="87"/>
                    <a:pt x="4" y="87"/>
                  </a:cubicBezTo>
                  <a:cubicBezTo>
                    <a:pt x="0" y="91"/>
                    <a:pt x="0" y="99"/>
                    <a:pt x="4" y="103"/>
                  </a:cubicBezTo>
                  <a:cubicBezTo>
                    <a:pt x="6" y="106"/>
                    <a:pt x="9" y="107"/>
                    <a:pt x="12" y="107"/>
                  </a:cubicBezTo>
                  <a:cubicBezTo>
                    <a:pt x="15" y="107"/>
                    <a:pt x="18" y="106"/>
                    <a:pt x="20" y="103"/>
                  </a:cubicBezTo>
                  <a:cubicBezTo>
                    <a:pt x="40" y="84"/>
                    <a:pt x="40" y="84"/>
                    <a:pt x="40" y="84"/>
                  </a:cubicBezTo>
                  <a:cubicBezTo>
                    <a:pt x="43" y="81"/>
                    <a:pt x="43" y="81"/>
                    <a:pt x="43" y="81"/>
                  </a:cubicBezTo>
                  <a:cubicBezTo>
                    <a:pt x="48" y="83"/>
                    <a:pt x="53" y="84"/>
                    <a:pt x="58" y="84"/>
                  </a:cubicBezTo>
                  <a:cubicBezTo>
                    <a:pt x="81" y="84"/>
                    <a:pt x="100" y="65"/>
                    <a:pt x="100" y="42"/>
                  </a:cubicBezTo>
                  <a:cubicBezTo>
                    <a:pt x="100" y="19"/>
                    <a:pt x="81" y="0"/>
                    <a:pt x="58" y="0"/>
                  </a:cubicBezTo>
                </a:path>
              </a:pathLst>
            </a:custGeom>
            <a:solidFill>
              <a:schemeClr val="bg1"/>
            </a:solidFill>
            <a:ln w="9525" cap="flat" cmpd="sng">
              <a:solidFill>
                <a:schemeClr val="bg1"/>
              </a:solidFill>
              <a:prstDash val="solid"/>
              <a:round/>
              <a:headEnd type="none" w="med" len="med"/>
              <a:tailEnd type="none" w="med" len="med"/>
            </a:ln>
          </p:spPr>
          <p:txBody>
            <a:bodyPr/>
            <a:lstStyle/>
            <a:p>
              <a:endParaRPr lang="zh-CN" altLang="en-US">
                <a:solidFill>
                  <a:schemeClr val="bg1"/>
                </a:solidFill>
                <a:cs typeface="+mn-ea"/>
                <a:sym typeface="+mn-lt"/>
              </a:endParaRPr>
            </a:p>
          </p:txBody>
        </p:sp>
      </p:grpSp>
      <p:sp>
        <p:nvSpPr>
          <p:cNvPr id="19" name="OfficePLUS.cn-20">
            <a:extLst>
              <a:ext uri="{FF2B5EF4-FFF2-40B4-BE49-F238E27FC236}">
                <a16:creationId xmlns:a16="http://schemas.microsoft.com/office/drawing/2014/main" id="{3BF48DDA-1210-F06B-D870-618EB0B2054B}"/>
              </a:ext>
            </a:extLst>
          </p:cNvPr>
          <p:cNvSpPr>
            <a:spLocks noEditPoints="1"/>
          </p:cNvSpPr>
          <p:nvPr/>
        </p:nvSpPr>
        <p:spPr>
          <a:xfrm>
            <a:off x="5674995" y="1911668"/>
            <a:ext cx="269875" cy="271462"/>
          </a:xfrm>
          <a:custGeom>
            <a:avLst/>
            <a:gdLst/>
            <a:ahLst/>
            <a:cxnLst>
              <a:cxn ang="0">
                <a:pos x="405548911" y="718604737"/>
              </a:cxn>
              <a:cxn ang="0">
                <a:pos x="113837642" y="426893468"/>
              </a:cxn>
              <a:cxn ang="0">
                <a:pos x="170758773" y="249022152"/>
              </a:cxn>
              <a:cxn ang="0">
                <a:pos x="241907300" y="184986168"/>
              </a:cxn>
              <a:cxn ang="0">
                <a:pos x="270366710" y="177871316"/>
              </a:cxn>
              <a:cxn ang="0">
                <a:pos x="305940973" y="192101021"/>
              </a:cxn>
              <a:cxn ang="0">
                <a:pos x="291711268" y="256137005"/>
              </a:cxn>
              <a:cxn ang="0">
                <a:pos x="241907300" y="305940973"/>
              </a:cxn>
              <a:cxn ang="0">
                <a:pos x="206333036" y="426893468"/>
              </a:cxn>
              <a:cxn ang="0">
                <a:pos x="263251858" y="569190521"/>
              </a:cxn>
              <a:cxn ang="0">
                <a:pos x="405548911" y="626111653"/>
              </a:cxn>
              <a:cxn ang="0">
                <a:pos x="554963126" y="569190521"/>
              </a:cxn>
              <a:cxn ang="0">
                <a:pos x="611881947" y="426893468"/>
              </a:cxn>
              <a:cxn ang="0">
                <a:pos x="569192832" y="305940973"/>
              </a:cxn>
              <a:cxn ang="0">
                <a:pos x="533618568" y="263251858"/>
              </a:cxn>
              <a:cxn ang="0">
                <a:pos x="526503716" y="206330726"/>
              </a:cxn>
              <a:cxn ang="0">
                <a:pos x="562077979" y="184986168"/>
              </a:cxn>
              <a:cxn ang="0">
                <a:pos x="590537389" y="199215874"/>
              </a:cxn>
              <a:cxn ang="0">
                <a:pos x="640341358" y="249022152"/>
              </a:cxn>
              <a:cxn ang="0">
                <a:pos x="704377342" y="426893468"/>
              </a:cxn>
              <a:cxn ang="0">
                <a:pos x="405548911" y="718604737"/>
              </a:cxn>
              <a:cxn ang="0">
                <a:pos x="405548911" y="462467732"/>
              </a:cxn>
              <a:cxn ang="0">
                <a:pos x="362859795" y="419778616"/>
              </a:cxn>
              <a:cxn ang="0">
                <a:pos x="362859795" y="120952495"/>
              </a:cxn>
              <a:cxn ang="0">
                <a:pos x="405548911" y="78263379"/>
              </a:cxn>
              <a:cxn ang="0">
                <a:pos x="455355189" y="120952495"/>
              </a:cxn>
              <a:cxn ang="0">
                <a:pos x="455355189" y="419778616"/>
              </a:cxn>
              <a:cxn ang="0">
                <a:pos x="405548911" y="462467732"/>
              </a:cxn>
              <a:cxn ang="0">
                <a:pos x="412663763" y="0"/>
              </a:cxn>
              <a:cxn ang="0">
                <a:pos x="0" y="412663763"/>
              </a:cxn>
              <a:cxn ang="0">
                <a:pos x="412663763" y="832442380"/>
              </a:cxn>
              <a:cxn ang="0">
                <a:pos x="832444690" y="412663763"/>
              </a:cxn>
              <a:cxn ang="0">
                <a:pos x="412663763" y="0"/>
              </a:cxn>
            </a:cxnLst>
            <a:rect l="0" t="0" r="0" b="0"/>
            <a:pathLst>
              <a:path w="117" h="117">
                <a:moveTo>
                  <a:pt x="57" y="101"/>
                </a:moveTo>
                <a:cubicBezTo>
                  <a:pt x="35" y="101"/>
                  <a:pt x="16" y="82"/>
                  <a:pt x="16" y="60"/>
                </a:cubicBezTo>
                <a:cubicBezTo>
                  <a:pt x="16" y="50"/>
                  <a:pt x="19" y="42"/>
                  <a:pt x="24" y="35"/>
                </a:cubicBezTo>
                <a:cubicBezTo>
                  <a:pt x="27" y="31"/>
                  <a:pt x="30" y="28"/>
                  <a:pt x="34" y="26"/>
                </a:cubicBezTo>
                <a:cubicBezTo>
                  <a:pt x="35" y="25"/>
                  <a:pt x="36" y="25"/>
                  <a:pt x="38" y="25"/>
                </a:cubicBezTo>
                <a:cubicBezTo>
                  <a:pt x="39" y="25"/>
                  <a:pt x="41" y="26"/>
                  <a:pt x="43" y="27"/>
                </a:cubicBezTo>
                <a:cubicBezTo>
                  <a:pt x="45" y="30"/>
                  <a:pt x="44" y="34"/>
                  <a:pt x="41" y="36"/>
                </a:cubicBezTo>
                <a:cubicBezTo>
                  <a:pt x="38" y="38"/>
                  <a:pt x="36" y="40"/>
                  <a:pt x="34" y="43"/>
                </a:cubicBezTo>
                <a:cubicBezTo>
                  <a:pt x="31" y="47"/>
                  <a:pt x="29" y="53"/>
                  <a:pt x="29" y="60"/>
                </a:cubicBezTo>
                <a:cubicBezTo>
                  <a:pt x="29" y="68"/>
                  <a:pt x="32" y="75"/>
                  <a:pt x="37" y="80"/>
                </a:cubicBezTo>
                <a:cubicBezTo>
                  <a:pt x="42" y="85"/>
                  <a:pt x="49" y="88"/>
                  <a:pt x="57" y="88"/>
                </a:cubicBezTo>
                <a:cubicBezTo>
                  <a:pt x="65" y="88"/>
                  <a:pt x="72" y="85"/>
                  <a:pt x="78" y="80"/>
                </a:cubicBezTo>
                <a:cubicBezTo>
                  <a:pt x="83" y="75"/>
                  <a:pt x="86" y="68"/>
                  <a:pt x="86" y="60"/>
                </a:cubicBezTo>
                <a:cubicBezTo>
                  <a:pt x="86" y="53"/>
                  <a:pt x="84" y="47"/>
                  <a:pt x="80" y="43"/>
                </a:cubicBezTo>
                <a:cubicBezTo>
                  <a:pt x="79" y="41"/>
                  <a:pt x="77" y="39"/>
                  <a:pt x="75" y="37"/>
                </a:cubicBezTo>
                <a:cubicBezTo>
                  <a:pt x="73" y="35"/>
                  <a:pt x="72" y="31"/>
                  <a:pt x="74" y="29"/>
                </a:cubicBezTo>
                <a:cubicBezTo>
                  <a:pt x="76" y="27"/>
                  <a:pt x="77" y="26"/>
                  <a:pt x="79" y="26"/>
                </a:cubicBezTo>
                <a:cubicBezTo>
                  <a:pt x="81" y="26"/>
                  <a:pt x="82" y="27"/>
                  <a:pt x="83" y="28"/>
                </a:cubicBezTo>
                <a:cubicBezTo>
                  <a:pt x="86" y="30"/>
                  <a:pt x="88" y="32"/>
                  <a:pt x="90" y="35"/>
                </a:cubicBezTo>
                <a:cubicBezTo>
                  <a:pt x="96" y="42"/>
                  <a:pt x="99" y="51"/>
                  <a:pt x="99" y="60"/>
                </a:cubicBezTo>
                <a:cubicBezTo>
                  <a:pt x="99" y="82"/>
                  <a:pt x="80" y="101"/>
                  <a:pt x="57" y="101"/>
                </a:cubicBezTo>
                <a:moveTo>
                  <a:pt x="57" y="65"/>
                </a:moveTo>
                <a:cubicBezTo>
                  <a:pt x="54" y="65"/>
                  <a:pt x="51" y="62"/>
                  <a:pt x="51" y="59"/>
                </a:cubicBezTo>
                <a:cubicBezTo>
                  <a:pt x="51" y="17"/>
                  <a:pt x="51" y="17"/>
                  <a:pt x="51" y="17"/>
                </a:cubicBezTo>
                <a:cubicBezTo>
                  <a:pt x="51" y="14"/>
                  <a:pt x="54" y="11"/>
                  <a:pt x="57" y="11"/>
                </a:cubicBezTo>
                <a:cubicBezTo>
                  <a:pt x="61" y="11"/>
                  <a:pt x="64" y="14"/>
                  <a:pt x="64" y="17"/>
                </a:cubicBezTo>
                <a:cubicBezTo>
                  <a:pt x="64" y="59"/>
                  <a:pt x="64" y="59"/>
                  <a:pt x="64" y="59"/>
                </a:cubicBezTo>
                <a:cubicBezTo>
                  <a:pt x="64" y="62"/>
                  <a:pt x="61" y="65"/>
                  <a:pt x="57" y="65"/>
                </a:cubicBezTo>
                <a:moveTo>
                  <a:pt x="58" y="0"/>
                </a:moveTo>
                <a:cubicBezTo>
                  <a:pt x="26" y="0"/>
                  <a:pt x="0" y="26"/>
                  <a:pt x="0" y="58"/>
                </a:cubicBezTo>
                <a:cubicBezTo>
                  <a:pt x="0" y="90"/>
                  <a:pt x="26" y="117"/>
                  <a:pt x="58" y="117"/>
                </a:cubicBezTo>
                <a:cubicBezTo>
                  <a:pt x="90" y="117"/>
                  <a:pt x="117" y="90"/>
                  <a:pt x="117" y="58"/>
                </a:cubicBezTo>
                <a:cubicBezTo>
                  <a:pt x="117" y="26"/>
                  <a:pt x="90" y="0"/>
                  <a:pt x="58" y="0"/>
                </a:cubicBezTo>
              </a:path>
            </a:pathLst>
          </a:custGeom>
          <a:solidFill>
            <a:schemeClr val="bg1"/>
          </a:solidFill>
          <a:ln w="9525">
            <a:noFill/>
          </a:ln>
        </p:spPr>
        <p:txBody>
          <a:bodyPr/>
          <a:lstStyle/>
          <a:p>
            <a:endParaRPr lang="zh-CN" altLang="en-US">
              <a:solidFill>
                <a:schemeClr val="bg1"/>
              </a:solidFill>
              <a:cs typeface="+mn-ea"/>
              <a:sym typeface="+mn-lt"/>
            </a:endParaRPr>
          </a:p>
        </p:txBody>
      </p:sp>
      <p:grpSp>
        <p:nvGrpSpPr>
          <p:cNvPr id="35" name="组合 34">
            <a:extLst>
              <a:ext uri="{FF2B5EF4-FFF2-40B4-BE49-F238E27FC236}">
                <a16:creationId xmlns:a16="http://schemas.microsoft.com/office/drawing/2014/main" id="{709BC21B-D8C6-1F5C-8F2D-FD14A2961160}"/>
              </a:ext>
            </a:extLst>
          </p:cNvPr>
          <p:cNvGrpSpPr/>
          <p:nvPr/>
        </p:nvGrpSpPr>
        <p:grpSpPr>
          <a:xfrm>
            <a:off x="2409161" y="2145539"/>
            <a:ext cx="617538" cy="607677"/>
            <a:chOff x="2487295" y="1322388"/>
            <a:chExt cx="819150" cy="817562"/>
          </a:xfrm>
        </p:grpSpPr>
        <p:sp>
          <p:nvSpPr>
            <p:cNvPr id="6" name="OfficePLUS.cn-7">
              <a:extLst>
                <a:ext uri="{FF2B5EF4-FFF2-40B4-BE49-F238E27FC236}">
                  <a16:creationId xmlns:a16="http://schemas.microsoft.com/office/drawing/2014/main" id="{529F627E-C6F2-8B8A-A87F-BFE826A4A7AB}"/>
                </a:ext>
              </a:extLst>
            </p:cNvPr>
            <p:cNvSpPr/>
            <p:nvPr/>
          </p:nvSpPr>
          <p:spPr>
            <a:xfrm>
              <a:off x="2487295" y="1322388"/>
              <a:ext cx="819150" cy="817562"/>
            </a:xfrm>
            <a:prstGeom prst="ellipse">
              <a:avLst/>
            </a:prstGeom>
            <a:gradFill>
              <a:gsLst>
                <a:gs pos="0">
                  <a:srgbClr val="009FFF"/>
                </a:gs>
                <a:gs pos="100000">
                  <a:srgbClr val="006DFF"/>
                </a:gs>
              </a:gsLst>
              <a:lin ang="5400000" scaled="0"/>
            </a:gradFill>
            <a:ln w="12700">
              <a:noFill/>
            </a:ln>
          </p:spPr>
          <p:txBody>
            <a:bodyPr anchor="ctr"/>
            <a:lstStyle/>
            <a:p>
              <a:pPr lvl="0" indent="0" algn="ctr">
                <a:buFont typeface="Arial" panose="020B0604020202020204" pitchFamily="34" charset="0"/>
                <a:buNone/>
              </a:pPr>
              <a:endParaRPr lang="en-US" altLang="zh-CN" sz="2800" dirty="0">
                <a:solidFill>
                  <a:schemeClr val="bg1"/>
                </a:solidFill>
                <a:cs typeface="+mn-ea"/>
                <a:sym typeface="+mn-lt"/>
              </a:endParaRPr>
            </a:p>
          </p:txBody>
        </p:sp>
        <p:sp>
          <p:nvSpPr>
            <p:cNvPr id="20" name="OfficePLUS.cn-21">
              <a:extLst>
                <a:ext uri="{FF2B5EF4-FFF2-40B4-BE49-F238E27FC236}">
                  <a16:creationId xmlns:a16="http://schemas.microsoft.com/office/drawing/2014/main" id="{187EE128-7C5E-EB99-3A65-B872C372AE77}"/>
                </a:ext>
              </a:extLst>
            </p:cNvPr>
            <p:cNvSpPr>
              <a:spLocks noEditPoints="1"/>
            </p:cNvSpPr>
            <p:nvPr/>
          </p:nvSpPr>
          <p:spPr>
            <a:xfrm>
              <a:off x="2600007" y="1501775"/>
              <a:ext cx="595313" cy="431800"/>
            </a:xfrm>
            <a:custGeom>
              <a:avLst/>
              <a:gdLst/>
              <a:ahLst/>
              <a:cxnLst>
                <a:cxn ang="0">
                  <a:pos x="909491562" y="890655822"/>
                </a:cxn>
                <a:cxn ang="0">
                  <a:pos x="755048655" y="957874511"/>
                </a:cxn>
                <a:cxn ang="0">
                  <a:pos x="755048655" y="1260364075"/>
                </a:cxn>
                <a:cxn ang="0">
                  <a:pos x="909491562" y="1327582764"/>
                </a:cxn>
                <a:cxn ang="0">
                  <a:pos x="1063934470" y="1260364075"/>
                </a:cxn>
                <a:cxn ang="0">
                  <a:pos x="1063934470" y="957874511"/>
                </a:cxn>
                <a:cxn ang="0">
                  <a:pos x="909491562" y="890655822"/>
                </a:cxn>
                <a:cxn ang="0">
                  <a:pos x="909491562" y="470536286"/>
                </a:cxn>
                <a:cxn ang="0">
                  <a:pos x="377527107" y="688999756"/>
                </a:cxn>
                <a:cxn ang="0">
                  <a:pos x="377527107" y="857046478"/>
                </a:cxn>
                <a:cxn ang="0">
                  <a:pos x="463323162" y="890655822"/>
                </a:cxn>
                <a:cxn ang="0">
                  <a:pos x="549124777" y="857046478"/>
                </a:cxn>
                <a:cxn ang="0">
                  <a:pos x="909491562" y="722609101"/>
                </a:cxn>
                <a:cxn ang="0">
                  <a:pos x="1269858347" y="857046478"/>
                </a:cxn>
                <a:cxn ang="0">
                  <a:pos x="1355659962" y="890655822"/>
                </a:cxn>
                <a:cxn ang="0">
                  <a:pos x="1441456017" y="857046478"/>
                </a:cxn>
                <a:cxn ang="0">
                  <a:pos x="1441456017" y="688999756"/>
                </a:cxn>
                <a:cxn ang="0">
                  <a:pos x="909491562" y="470536286"/>
                </a:cxn>
                <a:cxn ang="0">
                  <a:pos x="909491562" y="0"/>
                </a:cxn>
                <a:cxn ang="0">
                  <a:pos x="34320646" y="369708253"/>
                </a:cxn>
                <a:cxn ang="0">
                  <a:pos x="34320646" y="520947569"/>
                </a:cxn>
                <a:cxn ang="0">
                  <a:pos x="120122261" y="554562379"/>
                </a:cxn>
                <a:cxn ang="0">
                  <a:pos x="205923877" y="520947569"/>
                </a:cxn>
                <a:cxn ang="0">
                  <a:pos x="909491562" y="235265410"/>
                </a:cxn>
                <a:cxn ang="0">
                  <a:pos x="1630219571" y="520947569"/>
                </a:cxn>
                <a:cxn ang="0">
                  <a:pos x="1716021187" y="554562379"/>
                </a:cxn>
                <a:cxn ang="0">
                  <a:pos x="1784662479" y="520947569"/>
                </a:cxn>
                <a:cxn ang="0">
                  <a:pos x="1784662479" y="369708253"/>
                </a:cxn>
                <a:cxn ang="0">
                  <a:pos x="909491562" y="0"/>
                </a:cxn>
              </a:cxnLst>
              <a:rect l="0" t="0" r="0" b="0"/>
              <a:pathLst>
                <a:path w="107" h="79">
                  <a:moveTo>
                    <a:pt x="53" y="53"/>
                  </a:moveTo>
                  <a:cubicBezTo>
                    <a:pt x="50" y="53"/>
                    <a:pt x="46" y="55"/>
                    <a:pt x="44" y="57"/>
                  </a:cubicBezTo>
                  <a:cubicBezTo>
                    <a:pt x="39" y="62"/>
                    <a:pt x="39" y="70"/>
                    <a:pt x="44" y="75"/>
                  </a:cubicBezTo>
                  <a:cubicBezTo>
                    <a:pt x="46" y="77"/>
                    <a:pt x="50" y="79"/>
                    <a:pt x="53" y="79"/>
                  </a:cubicBezTo>
                  <a:cubicBezTo>
                    <a:pt x="56" y="79"/>
                    <a:pt x="59" y="77"/>
                    <a:pt x="62" y="75"/>
                  </a:cubicBezTo>
                  <a:cubicBezTo>
                    <a:pt x="67" y="70"/>
                    <a:pt x="67" y="62"/>
                    <a:pt x="62" y="57"/>
                  </a:cubicBezTo>
                  <a:cubicBezTo>
                    <a:pt x="59" y="55"/>
                    <a:pt x="56" y="53"/>
                    <a:pt x="53" y="53"/>
                  </a:cubicBezTo>
                  <a:moveTo>
                    <a:pt x="53" y="28"/>
                  </a:moveTo>
                  <a:cubicBezTo>
                    <a:pt x="42" y="28"/>
                    <a:pt x="31" y="32"/>
                    <a:pt x="22" y="41"/>
                  </a:cubicBezTo>
                  <a:cubicBezTo>
                    <a:pt x="19" y="44"/>
                    <a:pt x="19" y="48"/>
                    <a:pt x="22" y="51"/>
                  </a:cubicBezTo>
                  <a:cubicBezTo>
                    <a:pt x="24" y="53"/>
                    <a:pt x="25" y="53"/>
                    <a:pt x="27" y="53"/>
                  </a:cubicBezTo>
                  <a:cubicBezTo>
                    <a:pt x="29" y="53"/>
                    <a:pt x="31" y="53"/>
                    <a:pt x="32" y="51"/>
                  </a:cubicBezTo>
                  <a:cubicBezTo>
                    <a:pt x="38" y="45"/>
                    <a:pt x="46" y="43"/>
                    <a:pt x="53" y="43"/>
                  </a:cubicBezTo>
                  <a:cubicBezTo>
                    <a:pt x="61" y="43"/>
                    <a:pt x="68" y="45"/>
                    <a:pt x="74" y="51"/>
                  </a:cubicBezTo>
                  <a:cubicBezTo>
                    <a:pt x="76" y="53"/>
                    <a:pt x="77" y="53"/>
                    <a:pt x="79" y="53"/>
                  </a:cubicBezTo>
                  <a:cubicBezTo>
                    <a:pt x="81" y="53"/>
                    <a:pt x="83" y="53"/>
                    <a:pt x="84" y="51"/>
                  </a:cubicBezTo>
                  <a:cubicBezTo>
                    <a:pt x="87" y="48"/>
                    <a:pt x="87" y="44"/>
                    <a:pt x="84" y="41"/>
                  </a:cubicBezTo>
                  <a:cubicBezTo>
                    <a:pt x="76" y="32"/>
                    <a:pt x="65" y="28"/>
                    <a:pt x="53" y="28"/>
                  </a:cubicBezTo>
                  <a:moveTo>
                    <a:pt x="53" y="0"/>
                  </a:moveTo>
                  <a:cubicBezTo>
                    <a:pt x="35" y="0"/>
                    <a:pt x="16" y="7"/>
                    <a:pt x="2" y="22"/>
                  </a:cubicBezTo>
                  <a:cubicBezTo>
                    <a:pt x="0" y="24"/>
                    <a:pt x="0" y="28"/>
                    <a:pt x="2" y="31"/>
                  </a:cubicBezTo>
                  <a:cubicBezTo>
                    <a:pt x="3" y="32"/>
                    <a:pt x="5" y="33"/>
                    <a:pt x="7" y="33"/>
                  </a:cubicBezTo>
                  <a:cubicBezTo>
                    <a:pt x="9" y="33"/>
                    <a:pt x="10" y="32"/>
                    <a:pt x="12" y="31"/>
                  </a:cubicBezTo>
                  <a:cubicBezTo>
                    <a:pt x="23" y="20"/>
                    <a:pt x="38" y="14"/>
                    <a:pt x="53" y="14"/>
                  </a:cubicBezTo>
                  <a:cubicBezTo>
                    <a:pt x="68" y="14"/>
                    <a:pt x="83" y="20"/>
                    <a:pt x="95" y="31"/>
                  </a:cubicBezTo>
                  <a:cubicBezTo>
                    <a:pt x="96" y="32"/>
                    <a:pt x="98" y="33"/>
                    <a:pt x="100" y="33"/>
                  </a:cubicBezTo>
                  <a:cubicBezTo>
                    <a:pt x="101" y="33"/>
                    <a:pt x="103" y="32"/>
                    <a:pt x="104" y="31"/>
                  </a:cubicBezTo>
                  <a:cubicBezTo>
                    <a:pt x="107" y="28"/>
                    <a:pt x="107" y="24"/>
                    <a:pt x="104" y="22"/>
                  </a:cubicBezTo>
                  <a:cubicBezTo>
                    <a:pt x="90" y="7"/>
                    <a:pt x="72" y="0"/>
                    <a:pt x="53" y="0"/>
                  </a:cubicBezTo>
                </a:path>
              </a:pathLst>
            </a:custGeom>
            <a:solidFill>
              <a:schemeClr val="bg1"/>
            </a:solidFill>
            <a:ln w="9525">
              <a:noFill/>
            </a:ln>
          </p:spPr>
          <p:txBody>
            <a:bodyPr/>
            <a:lstStyle/>
            <a:p>
              <a:endParaRPr lang="zh-CN" altLang="en-US">
                <a:solidFill>
                  <a:schemeClr val="bg1"/>
                </a:solidFill>
                <a:cs typeface="+mn-ea"/>
                <a:sym typeface="+mn-lt"/>
              </a:endParaRPr>
            </a:p>
          </p:txBody>
        </p:sp>
      </p:grpSp>
      <p:grpSp>
        <p:nvGrpSpPr>
          <p:cNvPr id="41" name="组合 40">
            <a:extLst>
              <a:ext uri="{FF2B5EF4-FFF2-40B4-BE49-F238E27FC236}">
                <a16:creationId xmlns:a16="http://schemas.microsoft.com/office/drawing/2014/main" id="{9DFE1234-18EB-3BA3-3009-E4DF418D319B}"/>
              </a:ext>
            </a:extLst>
          </p:cNvPr>
          <p:cNvGrpSpPr/>
          <p:nvPr/>
        </p:nvGrpSpPr>
        <p:grpSpPr>
          <a:xfrm>
            <a:off x="8242808" y="1259550"/>
            <a:ext cx="635823" cy="608400"/>
            <a:chOff x="8265795" y="1352550"/>
            <a:chExt cx="819150" cy="819150"/>
          </a:xfrm>
        </p:grpSpPr>
        <p:sp>
          <p:nvSpPr>
            <p:cNvPr id="3" name="OfficePLUS.cn-6">
              <a:extLst>
                <a:ext uri="{FF2B5EF4-FFF2-40B4-BE49-F238E27FC236}">
                  <a16:creationId xmlns:a16="http://schemas.microsoft.com/office/drawing/2014/main" id="{5BB3D38B-0AA8-3A16-3C89-40D81D164536}"/>
                </a:ext>
              </a:extLst>
            </p:cNvPr>
            <p:cNvSpPr/>
            <p:nvPr/>
          </p:nvSpPr>
          <p:spPr>
            <a:xfrm>
              <a:off x="8265795" y="1352550"/>
              <a:ext cx="819150" cy="819150"/>
            </a:xfrm>
            <a:prstGeom prst="ellipse">
              <a:avLst/>
            </a:prstGeom>
            <a:gradFill>
              <a:gsLst>
                <a:gs pos="0">
                  <a:srgbClr val="009FFF"/>
                </a:gs>
                <a:gs pos="100000">
                  <a:srgbClr val="006DFF"/>
                </a:gs>
              </a:gsLst>
              <a:lin ang="5400000" scaled="0"/>
            </a:gradFill>
            <a:ln w="12700">
              <a:noFill/>
            </a:ln>
          </p:spPr>
          <p:txBody>
            <a:bodyPr anchor="ctr"/>
            <a:lstStyle/>
            <a:p>
              <a:pPr lvl="0" indent="0" algn="ctr">
                <a:buFont typeface="Arial" panose="020B0604020202020204" pitchFamily="34" charset="0"/>
                <a:buNone/>
              </a:pPr>
              <a:endParaRPr lang="en-US" altLang="zh-CN" sz="2800" dirty="0">
                <a:solidFill>
                  <a:schemeClr val="bg1"/>
                </a:solidFill>
                <a:cs typeface="+mn-ea"/>
                <a:sym typeface="+mn-lt"/>
              </a:endParaRPr>
            </a:p>
          </p:txBody>
        </p:sp>
        <p:sp>
          <p:nvSpPr>
            <p:cNvPr id="21" name="OfficePLUS.cn-22">
              <a:extLst>
                <a:ext uri="{FF2B5EF4-FFF2-40B4-BE49-F238E27FC236}">
                  <a16:creationId xmlns:a16="http://schemas.microsoft.com/office/drawing/2014/main" id="{E97A3579-487F-9F7C-4C83-2500FE69D4FC}"/>
                </a:ext>
              </a:extLst>
            </p:cNvPr>
            <p:cNvSpPr>
              <a:spLocks noEditPoints="1"/>
            </p:cNvSpPr>
            <p:nvPr/>
          </p:nvSpPr>
          <p:spPr>
            <a:xfrm>
              <a:off x="8422957" y="1501775"/>
              <a:ext cx="504825" cy="569913"/>
            </a:xfrm>
            <a:custGeom>
              <a:avLst/>
              <a:gdLst/>
              <a:ahLst/>
              <a:cxnLst>
                <a:cxn ang="0">
                  <a:pos x="786242555" y="393990353"/>
                </a:cxn>
                <a:cxn ang="0">
                  <a:pos x="769866386" y="393990353"/>
                </a:cxn>
                <a:cxn ang="0">
                  <a:pos x="769866386" y="393990353"/>
                </a:cxn>
                <a:cxn ang="0">
                  <a:pos x="671582737" y="439452861"/>
                </a:cxn>
                <a:cxn ang="0">
                  <a:pos x="671582737" y="606140520"/>
                </a:cxn>
                <a:cxn ang="0">
                  <a:pos x="687964233" y="621293048"/>
                </a:cxn>
                <a:cxn ang="0">
                  <a:pos x="687964233" y="1682043880"/>
                </a:cxn>
                <a:cxn ang="0">
                  <a:pos x="769866386" y="1757811445"/>
                </a:cxn>
                <a:cxn ang="0">
                  <a:pos x="868144708" y="1682043880"/>
                </a:cxn>
                <a:cxn ang="0">
                  <a:pos x="868144708" y="621293048"/>
                </a:cxn>
                <a:cxn ang="0">
                  <a:pos x="884526204" y="606140520"/>
                </a:cxn>
                <a:cxn ang="0">
                  <a:pos x="884526204" y="439452861"/>
                </a:cxn>
                <a:cxn ang="0">
                  <a:pos x="786242555" y="393990353"/>
                </a:cxn>
                <a:cxn ang="0">
                  <a:pos x="573304416" y="196997637"/>
                </a:cxn>
                <a:cxn ang="0">
                  <a:pos x="524165255" y="212150166"/>
                </a:cxn>
                <a:cxn ang="0">
                  <a:pos x="524165255" y="833443215"/>
                </a:cxn>
                <a:cxn ang="0">
                  <a:pos x="573304416" y="863753193"/>
                </a:cxn>
                <a:cxn ang="0">
                  <a:pos x="622443576" y="833443215"/>
                </a:cxn>
                <a:cxn ang="0">
                  <a:pos x="622443576" y="742523121"/>
                </a:cxn>
                <a:cxn ang="0">
                  <a:pos x="540541423" y="530372955"/>
                </a:cxn>
                <a:cxn ang="0">
                  <a:pos x="622443576" y="318222788"/>
                </a:cxn>
                <a:cxn ang="0">
                  <a:pos x="622443576" y="212150166"/>
                </a:cxn>
                <a:cxn ang="0">
                  <a:pos x="573304416" y="196997637"/>
                </a:cxn>
                <a:cxn ang="0">
                  <a:pos x="982804526" y="196997637"/>
                </a:cxn>
                <a:cxn ang="0">
                  <a:pos x="917283869" y="212150166"/>
                </a:cxn>
                <a:cxn ang="0">
                  <a:pos x="917283869" y="318222788"/>
                </a:cxn>
                <a:cxn ang="0">
                  <a:pos x="1015567518" y="530372955"/>
                </a:cxn>
                <a:cxn ang="0">
                  <a:pos x="917283869" y="742523121"/>
                </a:cxn>
                <a:cxn ang="0">
                  <a:pos x="917283869" y="833443215"/>
                </a:cxn>
                <a:cxn ang="0">
                  <a:pos x="982804526" y="863753193"/>
                </a:cxn>
                <a:cxn ang="0">
                  <a:pos x="1031943686" y="833443215"/>
                </a:cxn>
                <a:cxn ang="0">
                  <a:pos x="1031943686" y="212150166"/>
                </a:cxn>
                <a:cxn ang="0">
                  <a:pos x="982804526" y="196997637"/>
                </a:cxn>
                <a:cxn ang="0">
                  <a:pos x="360360949" y="0"/>
                </a:cxn>
                <a:cxn ang="0">
                  <a:pos x="311221788" y="15152528"/>
                </a:cxn>
                <a:cxn ang="0">
                  <a:pos x="311221788" y="1045593381"/>
                </a:cxn>
                <a:cxn ang="0">
                  <a:pos x="360360949" y="1060745910"/>
                </a:cxn>
                <a:cxn ang="0">
                  <a:pos x="409500110" y="1045593381"/>
                </a:cxn>
                <a:cxn ang="0">
                  <a:pos x="409500110" y="939520758"/>
                </a:cxn>
                <a:cxn ang="0">
                  <a:pos x="229319635" y="530372955"/>
                </a:cxn>
                <a:cxn ang="0">
                  <a:pos x="409500110" y="106072622"/>
                </a:cxn>
                <a:cxn ang="0">
                  <a:pos x="409500110" y="15152528"/>
                </a:cxn>
                <a:cxn ang="0">
                  <a:pos x="360360949" y="0"/>
                </a:cxn>
                <a:cxn ang="0">
                  <a:pos x="1195747992" y="0"/>
                </a:cxn>
                <a:cxn ang="0">
                  <a:pos x="1146608832" y="15152528"/>
                </a:cxn>
                <a:cxn ang="0">
                  <a:pos x="1146608832" y="106072622"/>
                </a:cxn>
                <a:cxn ang="0">
                  <a:pos x="1326789306" y="530372955"/>
                </a:cxn>
                <a:cxn ang="0">
                  <a:pos x="1146608832" y="939520758"/>
                </a:cxn>
                <a:cxn ang="0">
                  <a:pos x="1146608832" y="1045593381"/>
                </a:cxn>
                <a:cxn ang="0">
                  <a:pos x="1195747992" y="1060745910"/>
                </a:cxn>
                <a:cxn ang="0">
                  <a:pos x="1244887153" y="1045593381"/>
                </a:cxn>
                <a:cxn ang="0">
                  <a:pos x="1244887153" y="15152528"/>
                </a:cxn>
                <a:cxn ang="0">
                  <a:pos x="1195747992" y="0"/>
                </a:cxn>
              </a:cxnLst>
              <a:rect l="0" t="0" r="0" b="0"/>
              <a:pathLst>
                <a:path w="95" h="116">
                  <a:moveTo>
                    <a:pt x="48" y="26"/>
                  </a:moveTo>
                  <a:cubicBezTo>
                    <a:pt x="48" y="26"/>
                    <a:pt x="48" y="26"/>
                    <a:pt x="47" y="26"/>
                  </a:cubicBezTo>
                  <a:cubicBezTo>
                    <a:pt x="47" y="26"/>
                    <a:pt x="47" y="26"/>
                    <a:pt x="47" y="26"/>
                  </a:cubicBezTo>
                  <a:cubicBezTo>
                    <a:pt x="45" y="26"/>
                    <a:pt x="42" y="27"/>
                    <a:pt x="41" y="29"/>
                  </a:cubicBezTo>
                  <a:cubicBezTo>
                    <a:pt x="38" y="32"/>
                    <a:pt x="38" y="37"/>
                    <a:pt x="41" y="40"/>
                  </a:cubicBezTo>
                  <a:cubicBezTo>
                    <a:pt x="41" y="41"/>
                    <a:pt x="42" y="41"/>
                    <a:pt x="42" y="41"/>
                  </a:cubicBezTo>
                  <a:cubicBezTo>
                    <a:pt x="42" y="111"/>
                    <a:pt x="42" y="111"/>
                    <a:pt x="42" y="111"/>
                  </a:cubicBezTo>
                  <a:cubicBezTo>
                    <a:pt x="42" y="114"/>
                    <a:pt x="44" y="116"/>
                    <a:pt x="47" y="116"/>
                  </a:cubicBezTo>
                  <a:cubicBezTo>
                    <a:pt x="50" y="116"/>
                    <a:pt x="53" y="114"/>
                    <a:pt x="53" y="111"/>
                  </a:cubicBezTo>
                  <a:cubicBezTo>
                    <a:pt x="53" y="41"/>
                    <a:pt x="53" y="41"/>
                    <a:pt x="53" y="41"/>
                  </a:cubicBezTo>
                  <a:cubicBezTo>
                    <a:pt x="53" y="41"/>
                    <a:pt x="53" y="41"/>
                    <a:pt x="54" y="40"/>
                  </a:cubicBezTo>
                  <a:cubicBezTo>
                    <a:pt x="57" y="37"/>
                    <a:pt x="57" y="32"/>
                    <a:pt x="54" y="29"/>
                  </a:cubicBezTo>
                  <a:cubicBezTo>
                    <a:pt x="52" y="27"/>
                    <a:pt x="50" y="26"/>
                    <a:pt x="48" y="26"/>
                  </a:cubicBezTo>
                  <a:moveTo>
                    <a:pt x="35" y="13"/>
                  </a:moveTo>
                  <a:cubicBezTo>
                    <a:pt x="34" y="13"/>
                    <a:pt x="32" y="13"/>
                    <a:pt x="32" y="14"/>
                  </a:cubicBezTo>
                  <a:cubicBezTo>
                    <a:pt x="20" y="26"/>
                    <a:pt x="20" y="44"/>
                    <a:pt x="32" y="55"/>
                  </a:cubicBezTo>
                  <a:cubicBezTo>
                    <a:pt x="32" y="56"/>
                    <a:pt x="34" y="57"/>
                    <a:pt x="35" y="57"/>
                  </a:cubicBezTo>
                  <a:cubicBezTo>
                    <a:pt x="36" y="57"/>
                    <a:pt x="37" y="56"/>
                    <a:pt x="38" y="55"/>
                  </a:cubicBezTo>
                  <a:cubicBezTo>
                    <a:pt x="40" y="53"/>
                    <a:pt x="40" y="50"/>
                    <a:pt x="38" y="49"/>
                  </a:cubicBezTo>
                  <a:cubicBezTo>
                    <a:pt x="34" y="45"/>
                    <a:pt x="33" y="40"/>
                    <a:pt x="33" y="35"/>
                  </a:cubicBezTo>
                  <a:cubicBezTo>
                    <a:pt x="33" y="30"/>
                    <a:pt x="34" y="25"/>
                    <a:pt x="38" y="21"/>
                  </a:cubicBezTo>
                  <a:cubicBezTo>
                    <a:pt x="40" y="19"/>
                    <a:pt x="40" y="16"/>
                    <a:pt x="38" y="14"/>
                  </a:cubicBezTo>
                  <a:cubicBezTo>
                    <a:pt x="37" y="13"/>
                    <a:pt x="36" y="13"/>
                    <a:pt x="35" y="13"/>
                  </a:cubicBezTo>
                  <a:moveTo>
                    <a:pt x="60" y="13"/>
                  </a:moveTo>
                  <a:cubicBezTo>
                    <a:pt x="59" y="13"/>
                    <a:pt x="57" y="13"/>
                    <a:pt x="56" y="14"/>
                  </a:cubicBezTo>
                  <a:cubicBezTo>
                    <a:pt x="55" y="16"/>
                    <a:pt x="55" y="19"/>
                    <a:pt x="56" y="21"/>
                  </a:cubicBezTo>
                  <a:cubicBezTo>
                    <a:pt x="60" y="25"/>
                    <a:pt x="62" y="30"/>
                    <a:pt x="62" y="35"/>
                  </a:cubicBezTo>
                  <a:cubicBezTo>
                    <a:pt x="62" y="40"/>
                    <a:pt x="60" y="45"/>
                    <a:pt x="56" y="49"/>
                  </a:cubicBezTo>
                  <a:cubicBezTo>
                    <a:pt x="55" y="50"/>
                    <a:pt x="55" y="53"/>
                    <a:pt x="56" y="55"/>
                  </a:cubicBezTo>
                  <a:cubicBezTo>
                    <a:pt x="57" y="56"/>
                    <a:pt x="59" y="57"/>
                    <a:pt x="60" y="57"/>
                  </a:cubicBezTo>
                  <a:cubicBezTo>
                    <a:pt x="61" y="57"/>
                    <a:pt x="62" y="56"/>
                    <a:pt x="63" y="55"/>
                  </a:cubicBezTo>
                  <a:cubicBezTo>
                    <a:pt x="75" y="44"/>
                    <a:pt x="75" y="26"/>
                    <a:pt x="63" y="14"/>
                  </a:cubicBezTo>
                  <a:cubicBezTo>
                    <a:pt x="62" y="13"/>
                    <a:pt x="61" y="13"/>
                    <a:pt x="60" y="13"/>
                  </a:cubicBezTo>
                  <a:moveTo>
                    <a:pt x="22" y="0"/>
                  </a:moveTo>
                  <a:cubicBezTo>
                    <a:pt x="21" y="0"/>
                    <a:pt x="19" y="0"/>
                    <a:pt x="19" y="1"/>
                  </a:cubicBezTo>
                  <a:cubicBezTo>
                    <a:pt x="0" y="20"/>
                    <a:pt x="0" y="50"/>
                    <a:pt x="19" y="69"/>
                  </a:cubicBezTo>
                  <a:cubicBezTo>
                    <a:pt x="19" y="69"/>
                    <a:pt x="21" y="70"/>
                    <a:pt x="22" y="70"/>
                  </a:cubicBezTo>
                  <a:cubicBezTo>
                    <a:pt x="23" y="70"/>
                    <a:pt x="24" y="69"/>
                    <a:pt x="25" y="69"/>
                  </a:cubicBezTo>
                  <a:cubicBezTo>
                    <a:pt x="27" y="67"/>
                    <a:pt x="27" y="64"/>
                    <a:pt x="25" y="62"/>
                  </a:cubicBezTo>
                  <a:cubicBezTo>
                    <a:pt x="17" y="55"/>
                    <a:pt x="14" y="45"/>
                    <a:pt x="14" y="35"/>
                  </a:cubicBezTo>
                  <a:cubicBezTo>
                    <a:pt x="14" y="25"/>
                    <a:pt x="17" y="15"/>
                    <a:pt x="25" y="7"/>
                  </a:cubicBezTo>
                  <a:cubicBezTo>
                    <a:pt x="27" y="6"/>
                    <a:pt x="27" y="3"/>
                    <a:pt x="25" y="1"/>
                  </a:cubicBezTo>
                  <a:cubicBezTo>
                    <a:pt x="24" y="0"/>
                    <a:pt x="23" y="0"/>
                    <a:pt x="22" y="0"/>
                  </a:cubicBezTo>
                  <a:moveTo>
                    <a:pt x="73" y="0"/>
                  </a:moveTo>
                  <a:cubicBezTo>
                    <a:pt x="72" y="0"/>
                    <a:pt x="71" y="0"/>
                    <a:pt x="70" y="1"/>
                  </a:cubicBezTo>
                  <a:cubicBezTo>
                    <a:pt x="68" y="3"/>
                    <a:pt x="68" y="6"/>
                    <a:pt x="70" y="7"/>
                  </a:cubicBezTo>
                  <a:cubicBezTo>
                    <a:pt x="77" y="15"/>
                    <a:pt x="81" y="25"/>
                    <a:pt x="81" y="35"/>
                  </a:cubicBezTo>
                  <a:cubicBezTo>
                    <a:pt x="81" y="45"/>
                    <a:pt x="77" y="55"/>
                    <a:pt x="70" y="62"/>
                  </a:cubicBezTo>
                  <a:cubicBezTo>
                    <a:pt x="68" y="64"/>
                    <a:pt x="68" y="67"/>
                    <a:pt x="70" y="69"/>
                  </a:cubicBezTo>
                  <a:cubicBezTo>
                    <a:pt x="71" y="69"/>
                    <a:pt x="72" y="70"/>
                    <a:pt x="73" y="70"/>
                  </a:cubicBezTo>
                  <a:cubicBezTo>
                    <a:pt x="74" y="70"/>
                    <a:pt x="75" y="69"/>
                    <a:pt x="76" y="69"/>
                  </a:cubicBezTo>
                  <a:cubicBezTo>
                    <a:pt x="95" y="50"/>
                    <a:pt x="95" y="20"/>
                    <a:pt x="76" y="1"/>
                  </a:cubicBezTo>
                  <a:cubicBezTo>
                    <a:pt x="75" y="0"/>
                    <a:pt x="74" y="0"/>
                    <a:pt x="73" y="0"/>
                  </a:cubicBezTo>
                </a:path>
              </a:pathLst>
            </a:custGeom>
            <a:solidFill>
              <a:schemeClr val="bg1"/>
            </a:solidFill>
            <a:ln w="9525">
              <a:noFill/>
            </a:ln>
          </p:spPr>
          <p:txBody>
            <a:bodyPr/>
            <a:lstStyle/>
            <a:p>
              <a:endParaRPr lang="zh-CN" altLang="en-US">
                <a:solidFill>
                  <a:schemeClr val="bg1"/>
                </a:solidFill>
                <a:cs typeface="+mn-ea"/>
                <a:sym typeface="+mn-lt"/>
              </a:endParaRPr>
            </a:p>
          </p:txBody>
        </p:sp>
      </p:grpSp>
      <p:sp>
        <p:nvSpPr>
          <p:cNvPr id="22" name="OfficePLUS.cn-23">
            <a:extLst>
              <a:ext uri="{FF2B5EF4-FFF2-40B4-BE49-F238E27FC236}">
                <a16:creationId xmlns:a16="http://schemas.microsoft.com/office/drawing/2014/main" id="{3CB2E3F0-9B54-1549-0014-C00EED98B408}"/>
              </a:ext>
            </a:extLst>
          </p:cNvPr>
          <p:cNvSpPr>
            <a:spLocks noEditPoints="1"/>
          </p:cNvSpPr>
          <p:nvPr/>
        </p:nvSpPr>
        <p:spPr>
          <a:xfrm>
            <a:off x="11034395" y="1123950"/>
            <a:ext cx="252412" cy="241300"/>
          </a:xfrm>
          <a:custGeom>
            <a:avLst/>
            <a:gdLst/>
            <a:ahLst/>
            <a:cxnLst>
              <a:cxn ang="0">
                <a:pos x="100101438" y="541922457"/>
              </a:cxn>
              <a:cxn ang="0">
                <a:pos x="71500034" y="520531298"/>
              </a:cxn>
              <a:cxn ang="0">
                <a:pos x="71500034" y="221048139"/>
              </a:cxn>
              <a:cxn ang="0">
                <a:pos x="100101438" y="199656980"/>
              </a:cxn>
              <a:cxn ang="0">
                <a:pos x="550552120" y="199656980"/>
              </a:cxn>
              <a:cxn ang="0">
                <a:pos x="586302137" y="221048139"/>
              </a:cxn>
              <a:cxn ang="0">
                <a:pos x="586302137" y="520531298"/>
              </a:cxn>
              <a:cxn ang="0">
                <a:pos x="550552120" y="541922457"/>
              </a:cxn>
              <a:cxn ang="0">
                <a:pos x="100101438" y="541922457"/>
              </a:cxn>
              <a:cxn ang="0">
                <a:pos x="200200560" y="128349264"/>
              </a:cxn>
              <a:cxn ang="0">
                <a:pos x="200200560" y="99828490"/>
              </a:cxn>
              <a:cxn ang="0">
                <a:pos x="228801963" y="71305403"/>
              </a:cxn>
              <a:cxn ang="0">
                <a:pos x="679252645" y="71305403"/>
              </a:cxn>
              <a:cxn ang="0">
                <a:pos x="707854049" y="99828490"/>
              </a:cxn>
              <a:cxn ang="0">
                <a:pos x="707854049" y="392182033"/>
              </a:cxn>
              <a:cxn ang="0">
                <a:pos x="679252645" y="413573192"/>
              </a:cxn>
              <a:cxn ang="0">
                <a:pos x="657804488" y="413573192"/>
              </a:cxn>
              <a:cxn ang="0">
                <a:pos x="657804488" y="221048139"/>
              </a:cxn>
              <a:cxn ang="0">
                <a:pos x="550552120" y="128349264"/>
              </a:cxn>
              <a:cxn ang="0">
                <a:pos x="200200560" y="128349264"/>
              </a:cxn>
              <a:cxn ang="0">
                <a:pos x="679252645" y="0"/>
              </a:cxn>
              <a:cxn ang="0">
                <a:pos x="228801963" y="0"/>
              </a:cxn>
              <a:cxn ang="0">
                <a:pos x="128700525" y="99828490"/>
              </a:cxn>
              <a:cxn ang="0">
                <a:pos x="128700525" y="128349264"/>
              </a:cxn>
              <a:cxn ang="0">
                <a:pos x="100101438" y="128349264"/>
              </a:cxn>
              <a:cxn ang="0">
                <a:pos x="0" y="221048139"/>
              </a:cxn>
              <a:cxn ang="0">
                <a:pos x="0" y="520531298"/>
              </a:cxn>
              <a:cxn ang="0">
                <a:pos x="100101438" y="613230173"/>
              </a:cxn>
              <a:cxn ang="0">
                <a:pos x="278851524" y="613230173"/>
              </a:cxn>
              <a:cxn ang="0">
                <a:pos x="278851524" y="663142106"/>
              </a:cxn>
              <a:cxn ang="0">
                <a:pos x="185901016" y="663142106"/>
              </a:cxn>
              <a:cxn ang="0">
                <a:pos x="150150999" y="698797120"/>
              </a:cxn>
              <a:cxn ang="0">
                <a:pos x="185901016" y="741579437"/>
              </a:cxn>
              <a:cxn ang="0">
                <a:pos x="471903471" y="741579437"/>
              </a:cxn>
              <a:cxn ang="0">
                <a:pos x="507653488" y="698797120"/>
              </a:cxn>
              <a:cxn ang="0">
                <a:pos x="471903471" y="663142106"/>
              </a:cxn>
              <a:cxn ang="0">
                <a:pos x="378952963" y="663142106"/>
              </a:cxn>
              <a:cxn ang="0">
                <a:pos x="378952963" y="613230173"/>
              </a:cxn>
              <a:cxn ang="0">
                <a:pos x="550552120" y="613230173"/>
              </a:cxn>
              <a:cxn ang="0">
                <a:pos x="657804488" y="520531298"/>
              </a:cxn>
              <a:cxn ang="0">
                <a:pos x="657804488" y="484878596"/>
              </a:cxn>
              <a:cxn ang="0">
                <a:pos x="679252645" y="484878596"/>
              </a:cxn>
              <a:cxn ang="0">
                <a:pos x="779354083" y="392182033"/>
              </a:cxn>
              <a:cxn ang="0">
                <a:pos x="779354083" y="99828490"/>
              </a:cxn>
              <a:cxn ang="0">
                <a:pos x="679252645" y="0"/>
              </a:cxn>
            </a:cxnLst>
            <a:rect l="0" t="0" r="0" b="0"/>
            <a:pathLst>
              <a:path w="109" h="104">
                <a:moveTo>
                  <a:pt x="14" y="76"/>
                </a:moveTo>
                <a:cubicBezTo>
                  <a:pt x="12" y="76"/>
                  <a:pt x="10" y="74"/>
                  <a:pt x="10" y="73"/>
                </a:cubicBezTo>
                <a:cubicBezTo>
                  <a:pt x="10" y="31"/>
                  <a:pt x="10" y="31"/>
                  <a:pt x="10" y="31"/>
                </a:cubicBezTo>
                <a:cubicBezTo>
                  <a:pt x="10" y="30"/>
                  <a:pt x="12" y="28"/>
                  <a:pt x="14" y="28"/>
                </a:cubicBezTo>
                <a:cubicBezTo>
                  <a:pt x="77" y="28"/>
                  <a:pt x="77" y="28"/>
                  <a:pt x="77" y="28"/>
                </a:cubicBezTo>
                <a:cubicBezTo>
                  <a:pt x="80" y="28"/>
                  <a:pt x="82" y="30"/>
                  <a:pt x="82" y="31"/>
                </a:cubicBezTo>
                <a:cubicBezTo>
                  <a:pt x="82" y="73"/>
                  <a:pt x="82" y="73"/>
                  <a:pt x="82" y="73"/>
                </a:cubicBezTo>
                <a:cubicBezTo>
                  <a:pt x="82" y="74"/>
                  <a:pt x="80" y="76"/>
                  <a:pt x="77" y="76"/>
                </a:cubicBezTo>
                <a:cubicBezTo>
                  <a:pt x="14" y="76"/>
                  <a:pt x="14" y="76"/>
                  <a:pt x="14" y="76"/>
                </a:cubicBezTo>
                <a:moveTo>
                  <a:pt x="28" y="18"/>
                </a:moveTo>
                <a:cubicBezTo>
                  <a:pt x="28" y="14"/>
                  <a:pt x="28" y="14"/>
                  <a:pt x="28" y="14"/>
                </a:cubicBezTo>
                <a:cubicBezTo>
                  <a:pt x="28" y="12"/>
                  <a:pt x="29" y="10"/>
                  <a:pt x="32" y="10"/>
                </a:cubicBezTo>
                <a:cubicBezTo>
                  <a:pt x="95" y="10"/>
                  <a:pt x="95" y="10"/>
                  <a:pt x="95" y="10"/>
                </a:cubicBezTo>
                <a:cubicBezTo>
                  <a:pt x="98" y="10"/>
                  <a:pt x="99" y="12"/>
                  <a:pt x="99" y="14"/>
                </a:cubicBezTo>
                <a:cubicBezTo>
                  <a:pt x="99" y="55"/>
                  <a:pt x="99" y="55"/>
                  <a:pt x="99" y="55"/>
                </a:cubicBezTo>
                <a:cubicBezTo>
                  <a:pt x="99" y="56"/>
                  <a:pt x="98" y="58"/>
                  <a:pt x="95" y="58"/>
                </a:cubicBezTo>
                <a:cubicBezTo>
                  <a:pt x="92" y="58"/>
                  <a:pt x="92" y="58"/>
                  <a:pt x="92" y="58"/>
                </a:cubicBezTo>
                <a:cubicBezTo>
                  <a:pt x="92" y="31"/>
                  <a:pt x="92" y="31"/>
                  <a:pt x="92" y="31"/>
                </a:cubicBezTo>
                <a:cubicBezTo>
                  <a:pt x="92" y="23"/>
                  <a:pt x="85" y="18"/>
                  <a:pt x="77" y="18"/>
                </a:cubicBezTo>
                <a:cubicBezTo>
                  <a:pt x="28" y="18"/>
                  <a:pt x="28" y="18"/>
                  <a:pt x="28" y="18"/>
                </a:cubicBezTo>
                <a:moveTo>
                  <a:pt x="95" y="0"/>
                </a:moveTo>
                <a:cubicBezTo>
                  <a:pt x="32" y="0"/>
                  <a:pt x="32" y="0"/>
                  <a:pt x="32" y="0"/>
                </a:cubicBezTo>
                <a:cubicBezTo>
                  <a:pt x="24" y="0"/>
                  <a:pt x="18" y="6"/>
                  <a:pt x="18" y="14"/>
                </a:cubicBezTo>
                <a:cubicBezTo>
                  <a:pt x="18" y="18"/>
                  <a:pt x="18" y="18"/>
                  <a:pt x="18" y="18"/>
                </a:cubicBezTo>
                <a:cubicBezTo>
                  <a:pt x="14" y="18"/>
                  <a:pt x="14" y="18"/>
                  <a:pt x="14" y="18"/>
                </a:cubicBezTo>
                <a:cubicBezTo>
                  <a:pt x="7" y="18"/>
                  <a:pt x="0" y="23"/>
                  <a:pt x="0" y="31"/>
                </a:cubicBezTo>
                <a:cubicBezTo>
                  <a:pt x="0" y="73"/>
                  <a:pt x="0" y="73"/>
                  <a:pt x="0" y="73"/>
                </a:cubicBezTo>
                <a:cubicBezTo>
                  <a:pt x="0" y="81"/>
                  <a:pt x="7" y="86"/>
                  <a:pt x="14" y="86"/>
                </a:cubicBezTo>
                <a:cubicBezTo>
                  <a:pt x="39" y="86"/>
                  <a:pt x="39" y="86"/>
                  <a:pt x="39" y="86"/>
                </a:cubicBezTo>
                <a:cubicBezTo>
                  <a:pt x="39" y="93"/>
                  <a:pt x="39" y="93"/>
                  <a:pt x="39" y="93"/>
                </a:cubicBezTo>
                <a:cubicBezTo>
                  <a:pt x="26" y="93"/>
                  <a:pt x="26" y="93"/>
                  <a:pt x="26" y="93"/>
                </a:cubicBezTo>
                <a:cubicBezTo>
                  <a:pt x="23" y="93"/>
                  <a:pt x="21" y="95"/>
                  <a:pt x="21" y="98"/>
                </a:cubicBezTo>
                <a:cubicBezTo>
                  <a:pt x="21" y="101"/>
                  <a:pt x="23" y="104"/>
                  <a:pt x="26" y="104"/>
                </a:cubicBezTo>
                <a:cubicBezTo>
                  <a:pt x="66" y="104"/>
                  <a:pt x="66" y="104"/>
                  <a:pt x="66" y="104"/>
                </a:cubicBezTo>
                <a:cubicBezTo>
                  <a:pt x="68" y="104"/>
                  <a:pt x="71" y="101"/>
                  <a:pt x="71" y="98"/>
                </a:cubicBezTo>
                <a:cubicBezTo>
                  <a:pt x="71" y="95"/>
                  <a:pt x="68" y="93"/>
                  <a:pt x="66" y="93"/>
                </a:cubicBezTo>
                <a:cubicBezTo>
                  <a:pt x="53" y="93"/>
                  <a:pt x="53" y="93"/>
                  <a:pt x="53" y="93"/>
                </a:cubicBezTo>
                <a:cubicBezTo>
                  <a:pt x="53" y="86"/>
                  <a:pt x="53" y="86"/>
                  <a:pt x="53" y="86"/>
                </a:cubicBezTo>
                <a:cubicBezTo>
                  <a:pt x="77" y="86"/>
                  <a:pt x="77" y="86"/>
                  <a:pt x="77" y="86"/>
                </a:cubicBezTo>
                <a:cubicBezTo>
                  <a:pt x="85" y="86"/>
                  <a:pt x="92" y="81"/>
                  <a:pt x="92" y="73"/>
                </a:cubicBezTo>
                <a:cubicBezTo>
                  <a:pt x="92" y="68"/>
                  <a:pt x="92" y="68"/>
                  <a:pt x="92" y="68"/>
                </a:cubicBezTo>
                <a:cubicBezTo>
                  <a:pt x="95" y="68"/>
                  <a:pt x="95" y="68"/>
                  <a:pt x="95" y="68"/>
                </a:cubicBezTo>
                <a:cubicBezTo>
                  <a:pt x="103" y="68"/>
                  <a:pt x="109" y="63"/>
                  <a:pt x="109" y="55"/>
                </a:cubicBezTo>
                <a:cubicBezTo>
                  <a:pt x="109" y="14"/>
                  <a:pt x="109" y="14"/>
                  <a:pt x="109" y="14"/>
                </a:cubicBezTo>
                <a:cubicBezTo>
                  <a:pt x="109" y="6"/>
                  <a:pt x="103" y="0"/>
                  <a:pt x="95" y="0"/>
                </a:cubicBezTo>
              </a:path>
            </a:pathLst>
          </a:custGeom>
          <a:solidFill>
            <a:schemeClr val="bg1"/>
          </a:solidFill>
          <a:ln w="9525">
            <a:noFill/>
          </a:ln>
        </p:spPr>
        <p:txBody>
          <a:bodyPr/>
          <a:lstStyle/>
          <a:p>
            <a:endParaRPr lang="zh-CN" altLang="en-US">
              <a:solidFill>
                <a:schemeClr val="bg1"/>
              </a:solidFill>
              <a:cs typeface="+mn-ea"/>
              <a:sym typeface="+mn-lt"/>
            </a:endParaRPr>
          </a:p>
        </p:txBody>
      </p:sp>
      <p:sp>
        <p:nvSpPr>
          <p:cNvPr id="23" name="OfficePLUS.cn-24">
            <a:extLst>
              <a:ext uri="{FF2B5EF4-FFF2-40B4-BE49-F238E27FC236}">
                <a16:creationId xmlns:a16="http://schemas.microsoft.com/office/drawing/2014/main" id="{AE6AAEE8-388B-BC1D-C151-FD0841C2D819}"/>
              </a:ext>
            </a:extLst>
          </p:cNvPr>
          <p:cNvSpPr/>
          <p:nvPr/>
        </p:nvSpPr>
        <p:spPr>
          <a:xfrm>
            <a:off x="349757" y="3896927"/>
            <a:ext cx="1938337" cy="1060450"/>
          </a:xfrm>
          <a:prstGeom prst="rect">
            <a:avLst/>
          </a:prstGeom>
        </p:spPr>
        <p:txBody>
          <a:bodyPr wrap="square">
            <a:spAutoFit/>
          </a:bodyPr>
          <a:lstStyle/>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Word2Vec</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GloVe</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FastText</a:t>
            </a:r>
          </a:p>
        </p:txBody>
      </p:sp>
      <p:sp>
        <p:nvSpPr>
          <p:cNvPr id="24" name="OfficePLUS.cn-24">
            <a:extLst>
              <a:ext uri="{FF2B5EF4-FFF2-40B4-BE49-F238E27FC236}">
                <a16:creationId xmlns:a16="http://schemas.microsoft.com/office/drawing/2014/main" id="{942DB208-75CF-D0CD-BC28-CC8C0B28B464}"/>
              </a:ext>
            </a:extLst>
          </p:cNvPr>
          <p:cNvSpPr/>
          <p:nvPr/>
        </p:nvSpPr>
        <p:spPr>
          <a:xfrm>
            <a:off x="2419997" y="3243148"/>
            <a:ext cx="1938337" cy="1383665"/>
          </a:xfrm>
          <a:prstGeom prst="rect">
            <a:avLst/>
          </a:prstGeom>
        </p:spPr>
        <p:txBody>
          <a:bodyPr wrap="square">
            <a:spAutoFit/>
          </a:bodyPr>
          <a:lstStyle/>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ULMFiT</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ELMo</a:t>
            </a:r>
          </a:p>
          <a:p>
            <a:pPr marL="285750" indent="-285750" fontAlgn="base">
              <a:lnSpc>
                <a:spcPct val="150000"/>
              </a:lnSpc>
              <a:spcBef>
                <a:spcPct val="0"/>
              </a:spcBef>
              <a:spcAft>
                <a:spcPct val="0"/>
              </a:spcAft>
              <a:buFont typeface="Wingdings" panose="05000000000000000000" pitchFamily="2" charset="2"/>
              <a:buChar char="Ø"/>
            </a:pPr>
            <a:r>
              <a:rPr lang="en-US" altLang="zh-CN" sz="1400" b="1" dirty="0">
                <a:cs typeface="+mn-ea"/>
                <a:sym typeface="+mn-lt"/>
              </a:rPr>
              <a:t>BERT</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GPT-1</a:t>
            </a:r>
          </a:p>
        </p:txBody>
      </p:sp>
      <p:sp>
        <p:nvSpPr>
          <p:cNvPr id="25" name="OfficePLUS.cn-24">
            <a:extLst>
              <a:ext uri="{FF2B5EF4-FFF2-40B4-BE49-F238E27FC236}">
                <a16:creationId xmlns:a16="http://schemas.microsoft.com/office/drawing/2014/main" id="{648B8217-41B0-5803-E47E-C5ECE9BD2E39}"/>
              </a:ext>
            </a:extLst>
          </p:cNvPr>
          <p:cNvSpPr/>
          <p:nvPr/>
        </p:nvSpPr>
        <p:spPr>
          <a:xfrm>
            <a:off x="5392420" y="2698486"/>
            <a:ext cx="1938337" cy="1383665"/>
          </a:xfrm>
          <a:prstGeom prst="rect">
            <a:avLst/>
          </a:prstGeom>
        </p:spPr>
        <p:txBody>
          <a:bodyPr wrap="square">
            <a:spAutoFit/>
          </a:bodyPr>
          <a:lstStyle/>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GPT-2</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ERNIE</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RoBERTa</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T5</a:t>
            </a:r>
          </a:p>
        </p:txBody>
      </p:sp>
      <p:sp>
        <p:nvSpPr>
          <p:cNvPr id="26" name="OfficePLUS.cn-24">
            <a:extLst>
              <a:ext uri="{FF2B5EF4-FFF2-40B4-BE49-F238E27FC236}">
                <a16:creationId xmlns:a16="http://schemas.microsoft.com/office/drawing/2014/main" id="{FCFE58FE-76B3-294B-5DAC-EBF29DBB38C0}"/>
              </a:ext>
            </a:extLst>
          </p:cNvPr>
          <p:cNvSpPr/>
          <p:nvPr/>
        </p:nvSpPr>
        <p:spPr>
          <a:xfrm>
            <a:off x="7798151" y="2444690"/>
            <a:ext cx="1938337" cy="1383665"/>
          </a:xfrm>
          <a:prstGeom prst="rect">
            <a:avLst/>
          </a:prstGeom>
        </p:spPr>
        <p:txBody>
          <a:bodyPr wrap="square">
            <a:spAutoFit/>
          </a:bodyPr>
          <a:lstStyle/>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DeBERTa</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GPT-3</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ERNIE3.0</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a:t>
            </a:r>
          </a:p>
        </p:txBody>
      </p:sp>
      <p:sp>
        <p:nvSpPr>
          <p:cNvPr id="27" name="圆角矩形 7">
            <a:extLst>
              <a:ext uri="{FF2B5EF4-FFF2-40B4-BE49-F238E27FC236}">
                <a16:creationId xmlns:a16="http://schemas.microsoft.com/office/drawing/2014/main" id="{9FE2775C-AD91-C0D9-D56C-B289F370C23E}"/>
              </a:ext>
            </a:extLst>
          </p:cNvPr>
          <p:cNvSpPr/>
          <p:nvPr/>
        </p:nvSpPr>
        <p:spPr>
          <a:xfrm>
            <a:off x="461039" y="5229242"/>
            <a:ext cx="3123536" cy="57848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预训练模型不断发展</a:t>
            </a:r>
          </a:p>
        </p:txBody>
      </p:sp>
      <p:sp>
        <p:nvSpPr>
          <p:cNvPr id="28" name="圆角矩形 8">
            <a:extLst>
              <a:ext uri="{FF2B5EF4-FFF2-40B4-BE49-F238E27FC236}">
                <a16:creationId xmlns:a16="http://schemas.microsoft.com/office/drawing/2014/main" id="{7B655A3B-7662-2B8C-56C3-E0259B4223A7}"/>
              </a:ext>
            </a:extLst>
          </p:cNvPr>
          <p:cNvSpPr/>
          <p:nvPr/>
        </p:nvSpPr>
        <p:spPr>
          <a:xfrm>
            <a:off x="4513913" y="5218066"/>
            <a:ext cx="2936875" cy="578485"/>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NLP</a:t>
            </a:r>
            <a:r>
              <a:rPr lang="zh-CN" altLang="en-US" dirty="0"/>
              <a:t>的性能不断发展</a:t>
            </a:r>
          </a:p>
        </p:txBody>
      </p:sp>
      <p:sp>
        <p:nvSpPr>
          <p:cNvPr id="29" name="圆角矩形 9">
            <a:extLst>
              <a:ext uri="{FF2B5EF4-FFF2-40B4-BE49-F238E27FC236}">
                <a16:creationId xmlns:a16="http://schemas.microsoft.com/office/drawing/2014/main" id="{0010BF4E-190F-1EF7-18E0-2AADA899309B}"/>
              </a:ext>
            </a:extLst>
          </p:cNvPr>
          <p:cNvSpPr/>
          <p:nvPr/>
        </p:nvSpPr>
        <p:spPr>
          <a:xfrm>
            <a:off x="8349931" y="5229241"/>
            <a:ext cx="2936875" cy="578485"/>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情感分析带来新挑战</a:t>
            </a:r>
          </a:p>
        </p:txBody>
      </p:sp>
      <p:pic>
        <p:nvPicPr>
          <p:cNvPr id="30" name="Picture 2">
            <a:extLst>
              <a:ext uri="{FF2B5EF4-FFF2-40B4-BE49-F238E27FC236}">
                <a16:creationId xmlns:a16="http://schemas.microsoft.com/office/drawing/2014/main" id="{732EC28D-5C32-F54E-46E3-F7A780DFF75D}"/>
              </a:ext>
            </a:extLst>
          </p:cNvPr>
          <p:cNvPicPr>
            <a:picLocks noChangeAspect="1" noChangeArrowheads="1"/>
          </p:cNvPicPr>
          <p:nvPr/>
        </p:nvPicPr>
        <p:blipFill>
          <a:blip r:embed="rId3" cstate="print"/>
          <a:srcRect/>
          <a:stretch>
            <a:fillRect/>
          </a:stretch>
        </p:blipFill>
        <p:spPr bwMode="auto">
          <a:xfrm>
            <a:off x="11286807" y="363026"/>
            <a:ext cx="576050" cy="606937"/>
          </a:xfrm>
          <a:prstGeom prst="rect">
            <a:avLst/>
          </a:prstGeom>
          <a:ln>
            <a:noFill/>
          </a:ln>
          <a:effectLst/>
        </p:spPr>
      </p:pic>
      <p:sp>
        <p:nvSpPr>
          <p:cNvPr id="46" name="OfficePLUS.cn-24">
            <a:extLst>
              <a:ext uri="{FF2B5EF4-FFF2-40B4-BE49-F238E27FC236}">
                <a16:creationId xmlns:a16="http://schemas.microsoft.com/office/drawing/2014/main" id="{9B94900F-3D51-C47D-6409-D9AC167B2A25}"/>
              </a:ext>
            </a:extLst>
          </p:cNvPr>
          <p:cNvSpPr/>
          <p:nvPr/>
        </p:nvSpPr>
        <p:spPr>
          <a:xfrm>
            <a:off x="10156001" y="2028467"/>
            <a:ext cx="1938337" cy="1383665"/>
          </a:xfrm>
          <a:prstGeom prst="rect">
            <a:avLst/>
          </a:prstGeom>
        </p:spPr>
        <p:txBody>
          <a:bodyPr wrap="square">
            <a:spAutoFit/>
          </a:bodyPr>
          <a:lstStyle/>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ChatGPT</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BLOOM</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OutGLM</a:t>
            </a:r>
          </a:p>
          <a:p>
            <a:pPr marL="285750" indent="-285750" fontAlgn="base">
              <a:lnSpc>
                <a:spcPct val="150000"/>
              </a:lnSpc>
              <a:spcBef>
                <a:spcPct val="0"/>
              </a:spcBef>
              <a:spcAft>
                <a:spcPct val="0"/>
              </a:spcAft>
              <a:buFont typeface="Wingdings" panose="05000000000000000000" pitchFamily="2" charset="2"/>
              <a:buChar char="Ø"/>
            </a:pPr>
            <a:r>
              <a:rPr lang="en-US" altLang="zh-CN" sz="1400" dirty="0">
                <a:cs typeface="+mn-ea"/>
                <a:sym typeface="+mn-lt"/>
              </a:rPr>
              <a:t>……</a:t>
            </a:r>
          </a:p>
        </p:txBody>
      </p:sp>
      <p:sp>
        <p:nvSpPr>
          <p:cNvPr id="50" name="箭头: 右 49">
            <a:extLst>
              <a:ext uri="{FF2B5EF4-FFF2-40B4-BE49-F238E27FC236}">
                <a16:creationId xmlns:a16="http://schemas.microsoft.com/office/drawing/2014/main" id="{95C76826-FAF7-5D3A-0DDD-A98EDA5B312C}"/>
              </a:ext>
            </a:extLst>
          </p:cNvPr>
          <p:cNvSpPr/>
          <p:nvPr/>
        </p:nvSpPr>
        <p:spPr>
          <a:xfrm>
            <a:off x="3714750" y="5340161"/>
            <a:ext cx="643584" cy="3566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343C573C-DD36-FABA-A645-C1F61769D08F}"/>
              </a:ext>
            </a:extLst>
          </p:cNvPr>
          <p:cNvSpPr/>
          <p:nvPr/>
        </p:nvSpPr>
        <p:spPr>
          <a:xfrm>
            <a:off x="7606368" y="5368755"/>
            <a:ext cx="643584" cy="3566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033D0B9C-8A7B-3504-6FE9-74580E6D5420}"/>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5</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4108999066"/>
      </p:ext>
    </p:extLst>
  </p:cSld>
  <p:clrMapOvr>
    <a:masterClrMapping/>
  </p:clrMapOvr>
  <p:transition advTm="17902">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powerpoint template design by DAJU_PPT正版来源小红书大橘PPT微信DAJU_PPT请勿抄袭搬运！盗版必究！">
            <a:extLst>
              <a:ext uri="{FF2B5EF4-FFF2-40B4-BE49-F238E27FC236}">
                <a16:creationId xmlns:a16="http://schemas.microsoft.com/office/drawing/2014/main" id="{19CD453F-A39E-002A-1579-BE067A566521}"/>
              </a:ext>
            </a:extLst>
          </p:cNvPr>
          <p:cNvCxnSpPr>
            <a:cxnSpLocks/>
          </p:cNvCxnSpPr>
          <p:nvPr/>
        </p:nvCxnSpPr>
        <p:spPr>
          <a:xfrm>
            <a:off x="3522388" y="4530266"/>
            <a:ext cx="514722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研究内容</a:t>
            </a: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Research Content</a:t>
            </a:r>
          </a:p>
        </p:txBody>
      </p:sp>
      <p:sp>
        <p:nvSpPr>
          <p:cNvPr id="2" name="文本框 1">
            <a:extLst>
              <a:ext uri="{FF2B5EF4-FFF2-40B4-BE49-F238E27FC236}">
                <a16:creationId xmlns:a16="http://schemas.microsoft.com/office/drawing/2014/main" id="{E1D4BD7E-92C3-7247-3AC9-6252F90AD3ED}"/>
              </a:ext>
            </a:extLst>
          </p:cNvPr>
          <p:cNvSpPr txBox="1"/>
          <p:nvPr/>
        </p:nvSpPr>
        <p:spPr>
          <a:xfrm>
            <a:off x="5442332" y="1650424"/>
            <a:ext cx="1597446" cy="646331"/>
          </a:xfrm>
          <a:prstGeom prst="rect">
            <a:avLst/>
          </a:prstGeom>
          <a:noFill/>
        </p:spPr>
        <p:txBody>
          <a:bodyPr wrap="square" rtlCol="0">
            <a:spAutoFit/>
          </a:bodyPr>
          <a:lstStyle/>
          <a:p>
            <a:r>
              <a:rPr lang="en-US" altLang="zh-CN" sz="3600" dirty="0"/>
              <a:t>Part II</a:t>
            </a:r>
            <a:endParaRPr lang="zh-CN" altLang="en-US" sz="3600" dirty="0"/>
          </a:p>
        </p:txBody>
      </p:sp>
      <p:sp>
        <p:nvSpPr>
          <p:cNvPr id="5" name="文本框 4">
            <a:extLst>
              <a:ext uri="{FF2B5EF4-FFF2-40B4-BE49-F238E27FC236}">
                <a16:creationId xmlns:a16="http://schemas.microsoft.com/office/drawing/2014/main" id="{2B0DB1FF-A451-D2B5-067A-711DAF59AF38}"/>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6</a:t>
            </a:fld>
            <a:endParaRPr lang="zh-CN" altLang="en-US" sz="1400" dirty="0">
              <a:solidFill>
                <a:srgbClr val="0070C0"/>
              </a:solidFill>
              <a:ea typeface="印品黑体" panose="00000500000000000000" pitchFamily="2" charset="-122"/>
            </a:endParaRPr>
          </a:p>
        </p:txBody>
      </p:sp>
    </p:spTree>
  </p:cSld>
  <p:clrMapOvr>
    <a:masterClrMapping/>
  </p:clrMapOvr>
  <p:transition advTm="1208">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1480309" y="614633"/>
            <a:ext cx="1769938" cy="405102"/>
          </a:xfrm>
          <a:prstGeom prst="rect">
            <a:avLst/>
          </a:prstGeom>
        </p:spPr>
        <p:txBody>
          <a:bodyPr>
            <a:normAutofit/>
          </a:bodyPr>
          <a:lstStyle/>
          <a:p>
            <a:r>
              <a:rPr lang="zh-CN" altLang="en-US" dirty="0">
                <a:latin typeface="+mn-lt"/>
                <a:ea typeface="+mn-ea"/>
                <a:cs typeface="+mn-ea"/>
                <a:sym typeface="+mn-lt"/>
              </a:rPr>
              <a:t>算法流程</a:t>
            </a:r>
          </a:p>
        </p:txBody>
      </p:sp>
      <p:cxnSp>
        <p:nvCxnSpPr>
          <p:cNvPr id="15" name="直接连接符 14">
            <a:extLst>
              <a:ext uri="{FF2B5EF4-FFF2-40B4-BE49-F238E27FC236}">
                <a16:creationId xmlns:a16="http://schemas.microsoft.com/office/drawing/2014/main" id="{E65805FE-754D-3EBA-455A-9DA548FA9A64}"/>
              </a:ext>
            </a:extLst>
          </p:cNvPr>
          <p:cNvCxnSpPr>
            <a:cxnSpLocks/>
          </p:cNvCxnSpPr>
          <p:nvPr>
            <p:custDataLst>
              <p:tags r:id="rId1"/>
            </p:custDataLst>
          </p:nvPr>
        </p:nvCxnSpPr>
        <p:spPr>
          <a:xfrm>
            <a:off x="6004267" y="941327"/>
            <a:ext cx="0" cy="5342965"/>
          </a:xfrm>
          <a:prstGeom prst="line">
            <a:avLst/>
          </a:prstGeom>
          <a:ln>
            <a:solidFill>
              <a:srgbClr val="0070C0"/>
            </a:solidFill>
          </a:ln>
        </p:spPr>
        <p:style>
          <a:lnRef idx="1">
            <a:schemeClr val="accent3"/>
          </a:lnRef>
          <a:fillRef idx="0">
            <a:schemeClr val="accent3"/>
          </a:fillRef>
          <a:effectRef idx="0">
            <a:schemeClr val="accent3"/>
          </a:effectRef>
          <a:fontRef idx="minor">
            <a:schemeClr val="tx1"/>
          </a:fontRef>
        </p:style>
      </p:cxnSp>
      <p:pic>
        <p:nvPicPr>
          <p:cNvPr id="16" name="Picture 2">
            <a:extLst>
              <a:ext uri="{FF2B5EF4-FFF2-40B4-BE49-F238E27FC236}">
                <a16:creationId xmlns:a16="http://schemas.microsoft.com/office/drawing/2014/main" id="{E4A6C3B5-AAB1-8256-0989-291B93F3F5D6}"/>
              </a:ext>
            </a:extLst>
          </p:cNvPr>
          <p:cNvPicPr>
            <a:picLocks noChangeAspect="1" noChangeArrowheads="1"/>
          </p:cNvPicPr>
          <p:nvPr/>
        </p:nvPicPr>
        <p:blipFill>
          <a:blip r:embed="rId17" cstate="print"/>
          <a:srcRect/>
          <a:stretch>
            <a:fillRect/>
          </a:stretch>
        </p:blipFill>
        <p:spPr bwMode="auto">
          <a:xfrm>
            <a:off x="11199129" y="360619"/>
            <a:ext cx="576050" cy="606937"/>
          </a:xfrm>
          <a:prstGeom prst="rect">
            <a:avLst/>
          </a:prstGeom>
          <a:ln>
            <a:noFill/>
          </a:ln>
          <a:effectLst/>
        </p:spPr>
      </p:pic>
      <p:grpSp>
        <p:nvGrpSpPr>
          <p:cNvPr id="20" name="组合 19">
            <a:extLst>
              <a:ext uri="{FF2B5EF4-FFF2-40B4-BE49-F238E27FC236}">
                <a16:creationId xmlns:a16="http://schemas.microsoft.com/office/drawing/2014/main" id="{B351341E-2A95-0B37-753C-FB514DBB0082}"/>
              </a:ext>
            </a:extLst>
          </p:cNvPr>
          <p:cNvGrpSpPr/>
          <p:nvPr/>
        </p:nvGrpSpPr>
        <p:grpSpPr>
          <a:xfrm>
            <a:off x="907097" y="1272356"/>
            <a:ext cx="3979223" cy="5047211"/>
            <a:chOff x="7308605" y="967556"/>
            <a:chExt cx="3631565" cy="5240488"/>
          </a:xfrm>
        </p:grpSpPr>
        <p:sp>
          <p:nvSpPr>
            <p:cNvPr id="8" name="圆角矩形 25">
              <a:extLst>
                <a:ext uri="{FF2B5EF4-FFF2-40B4-BE49-F238E27FC236}">
                  <a16:creationId xmlns:a16="http://schemas.microsoft.com/office/drawing/2014/main" id="{EC0C5DB7-42F2-7399-0039-DF30D7D8B7F0}"/>
                </a:ext>
              </a:extLst>
            </p:cNvPr>
            <p:cNvSpPr/>
            <p:nvPr>
              <p:custDataLst>
                <p:tags r:id="rId6"/>
              </p:custDataLst>
            </p:nvPr>
          </p:nvSpPr>
          <p:spPr>
            <a:xfrm>
              <a:off x="7308605" y="2162810"/>
              <a:ext cx="3631565" cy="58801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上下文建模</a:t>
              </a:r>
            </a:p>
          </p:txBody>
        </p:sp>
        <p:sp>
          <p:nvSpPr>
            <p:cNvPr id="9" name="圆角矩形 28">
              <a:extLst>
                <a:ext uri="{FF2B5EF4-FFF2-40B4-BE49-F238E27FC236}">
                  <a16:creationId xmlns:a16="http://schemas.microsoft.com/office/drawing/2014/main" id="{37BC56C7-F7C1-E332-435F-B7AD32ED03BA}"/>
                </a:ext>
              </a:extLst>
            </p:cNvPr>
            <p:cNvSpPr/>
            <p:nvPr>
              <p:custDataLst>
                <p:tags r:id="rId7"/>
              </p:custDataLst>
            </p:nvPr>
          </p:nvSpPr>
          <p:spPr>
            <a:xfrm>
              <a:off x="7308605" y="3315219"/>
              <a:ext cx="3631565" cy="58801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模型构建</a:t>
              </a:r>
            </a:p>
          </p:txBody>
        </p:sp>
        <p:sp>
          <p:nvSpPr>
            <p:cNvPr id="10" name="圆角矩形 29">
              <a:extLst>
                <a:ext uri="{FF2B5EF4-FFF2-40B4-BE49-F238E27FC236}">
                  <a16:creationId xmlns:a16="http://schemas.microsoft.com/office/drawing/2014/main" id="{02CA56D5-E74E-3D7D-E6F6-B3DF4988CDB6}"/>
                </a:ext>
              </a:extLst>
            </p:cNvPr>
            <p:cNvSpPr/>
            <p:nvPr>
              <p:custDataLst>
                <p:tags r:id="rId8"/>
              </p:custDataLst>
            </p:nvPr>
          </p:nvSpPr>
          <p:spPr>
            <a:xfrm>
              <a:off x="7308605" y="4467628"/>
              <a:ext cx="3631565" cy="58801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训练优化</a:t>
              </a:r>
              <a:endParaRPr lang="zh-CN" altLang="en-US" b="1" dirty="0"/>
            </a:p>
          </p:txBody>
        </p:sp>
        <p:sp>
          <p:nvSpPr>
            <p:cNvPr id="11" name="圆角矩形 30">
              <a:extLst>
                <a:ext uri="{FF2B5EF4-FFF2-40B4-BE49-F238E27FC236}">
                  <a16:creationId xmlns:a16="http://schemas.microsoft.com/office/drawing/2014/main" id="{D4AC1943-7381-2C58-A166-C6EBFC5FEC15}"/>
                </a:ext>
              </a:extLst>
            </p:cNvPr>
            <p:cNvSpPr/>
            <p:nvPr>
              <p:custDataLst>
                <p:tags r:id="rId9"/>
              </p:custDataLst>
            </p:nvPr>
          </p:nvSpPr>
          <p:spPr>
            <a:xfrm>
              <a:off x="7308605" y="5620034"/>
              <a:ext cx="3631565" cy="58801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实验结果分析</a:t>
              </a:r>
            </a:p>
          </p:txBody>
        </p:sp>
        <p:sp>
          <p:nvSpPr>
            <p:cNvPr id="12" name="下箭头 31">
              <a:extLst>
                <a:ext uri="{FF2B5EF4-FFF2-40B4-BE49-F238E27FC236}">
                  <a16:creationId xmlns:a16="http://schemas.microsoft.com/office/drawing/2014/main" id="{0B91E795-904C-9C98-897D-60AEE279C205}"/>
                </a:ext>
              </a:extLst>
            </p:cNvPr>
            <p:cNvSpPr/>
            <p:nvPr>
              <p:custDataLst>
                <p:tags r:id="rId10"/>
              </p:custDataLst>
            </p:nvPr>
          </p:nvSpPr>
          <p:spPr>
            <a:xfrm>
              <a:off x="9030090" y="2843472"/>
              <a:ext cx="188595" cy="37909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 name="下箭头 32">
              <a:extLst>
                <a:ext uri="{FF2B5EF4-FFF2-40B4-BE49-F238E27FC236}">
                  <a16:creationId xmlns:a16="http://schemas.microsoft.com/office/drawing/2014/main" id="{401DB78D-6763-0DBB-89D8-E4FC9FCDF134}"/>
                </a:ext>
              </a:extLst>
            </p:cNvPr>
            <p:cNvSpPr/>
            <p:nvPr>
              <p:custDataLst>
                <p:tags r:id="rId11"/>
              </p:custDataLst>
            </p:nvPr>
          </p:nvSpPr>
          <p:spPr>
            <a:xfrm>
              <a:off x="9030090" y="3995881"/>
              <a:ext cx="188595" cy="37909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4" name="下箭头 33">
              <a:extLst>
                <a:ext uri="{FF2B5EF4-FFF2-40B4-BE49-F238E27FC236}">
                  <a16:creationId xmlns:a16="http://schemas.microsoft.com/office/drawing/2014/main" id="{918FB833-12F3-6426-7703-75DBE4302F80}"/>
                </a:ext>
              </a:extLst>
            </p:cNvPr>
            <p:cNvSpPr/>
            <p:nvPr>
              <p:custDataLst>
                <p:tags r:id="rId12"/>
              </p:custDataLst>
            </p:nvPr>
          </p:nvSpPr>
          <p:spPr>
            <a:xfrm>
              <a:off x="9030090" y="5148290"/>
              <a:ext cx="188595" cy="37909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7" name="圆角矩形 25">
              <a:extLst>
                <a:ext uri="{FF2B5EF4-FFF2-40B4-BE49-F238E27FC236}">
                  <a16:creationId xmlns:a16="http://schemas.microsoft.com/office/drawing/2014/main" id="{AC04AAA5-9A98-2BC5-95FB-4613901ACA75}"/>
                </a:ext>
              </a:extLst>
            </p:cNvPr>
            <p:cNvSpPr/>
            <p:nvPr>
              <p:custDataLst>
                <p:tags r:id="rId13"/>
              </p:custDataLst>
            </p:nvPr>
          </p:nvSpPr>
          <p:spPr>
            <a:xfrm>
              <a:off x="7308605" y="967556"/>
              <a:ext cx="3631565" cy="58801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数据分析</a:t>
              </a:r>
            </a:p>
          </p:txBody>
        </p:sp>
        <p:sp>
          <p:nvSpPr>
            <p:cNvPr id="18" name="下箭头 31">
              <a:extLst>
                <a:ext uri="{FF2B5EF4-FFF2-40B4-BE49-F238E27FC236}">
                  <a16:creationId xmlns:a16="http://schemas.microsoft.com/office/drawing/2014/main" id="{E1DE95F7-7BB4-6D8A-7ED0-40AECFA288AB}"/>
                </a:ext>
              </a:extLst>
            </p:cNvPr>
            <p:cNvSpPr/>
            <p:nvPr>
              <p:custDataLst>
                <p:tags r:id="rId14"/>
              </p:custDataLst>
            </p:nvPr>
          </p:nvSpPr>
          <p:spPr>
            <a:xfrm>
              <a:off x="9030088" y="1691063"/>
              <a:ext cx="188595" cy="37909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23" name="组合 22">
            <a:extLst>
              <a:ext uri="{FF2B5EF4-FFF2-40B4-BE49-F238E27FC236}">
                <a16:creationId xmlns:a16="http://schemas.microsoft.com/office/drawing/2014/main" id="{275271FE-5D33-4ABE-68ED-74AA4E7DA8F6}"/>
              </a:ext>
            </a:extLst>
          </p:cNvPr>
          <p:cNvGrpSpPr/>
          <p:nvPr/>
        </p:nvGrpSpPr>
        <p:grpSpPr>
          <a:xfrm>
            <a:off x="6791327" y="1421103"/>
            <a:ext cx="4695827" cy="4224661"/>
            <a:chOff x="6710358" y="826588"/>
            <a:chExt cx="4695827" cy="4224661"/>
          </a:xfrm>
        </p:grpSpPr>
        <p:sp>
          <p:nvSpPr>
            <p:cNvPr id="2" name="圆角矩形 8">
              <a:extLst>
                <a:ext uri="{FF2B5EF4-FFF2-40B4-BE49-F238E27FC236}">
                  <a16:creationId xmlns:a16="http://schemas.microsoft.com/office/drawing/2014/main" id="{29EC9737-C685-8DAE-82F1-F959BFC95C80}"/>
                </a:ext>
              </a:extLst>
            </p:cNvPr>
            <p:cNvSpPr/>
            <p:nvPr/>
          </p:nvSpPr>
          <p:spPr>
            <a:xfrm>
              <a:off x="6710358" y="826588"/>
              <a:ext cx="4695825" cy="58864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“剧本角色情感识别”赛题数据</a:t>
              </a:r>
              <a:endParaRPr lang="zh-CN" altLang="en-US" dirty="0"/>
            </a:p>
          </p:txBody>
        </p:sp>
        <p:sp>
          <p:nvSpPr>
            <p:cNvPr id="3" name="圆角矩形 9">
              <a:extLst>
                <a:ext uri="{FF2B5EF4-FFF2-40B4-BE49-F238E27FC236}">
                  <a16:creationId xmlns:a16="http://schemas.microsoft.com/office/drawing/2014/main" id="{15E656D8-D906-D270-81A8-A161E8DA34CB}"/>
                </a:ext>
              </a:extLst>
            </p:cNvPr>
            <p:cNvSpPr/>
            <p:nvPr>
              <p:custDataLst>
                <p:tags r:id="rId2"/>
              </p:custDataLst>
            </p:nvPr>
          </p:nvSpPr>
          <p:spPr>
            <a:xfrm>
              <a:off x="6710358" y="3134677"/>
              <a:ext cx="4695825" cy="58864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角色情感识别</a:t>
              </a:r>
              <a:endParaRPr lang="zh-CN" altLang="en-US" dirty="0"/>
            </a:p>
          </p:txBody>
        </p:sp>
        <p:sp>
          <p:nvSpPr>
            <p:cNvPr id="5" name="圆角矩形 12">
              <a:extLst>
                <a:ext uri="{FF2B5EF4-FFF2-40B4-BE49-F238E27FC236}">
                  <a16:creationId xmlns:a16="http://schemas.microsoft.com/office/drawing/2014/main" id="{8557387A-CAA3-6BFA-8134-9DED6615168D}"/>
                </a:ext>
              </a:extLst>
            </p:cNvPr>
            <p:cNvSpPr/>
            <p:nvPr>
              <p:custDataLst>
                <p:tags r:id="rId3"/>
              </p:custDataLst>
            </p:nvPr>
          </p:nvSpPr>
          <p:spPr>
            <a:xfrm>
              <a:off x="6710360" y="4462604"/>
              <a:ext cx="4695825" cy="58864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可视化展示</a:t>
              </a:r>
            </a:p>
          </p:txBody>
        </p:sp>
        <p:sp>
          <p:nvSpPr>
            <p:cNvPr id="6" name="下箭头 13">
              <a:extLst>
                <a:ext uri="{FF2B5EF4-FFF2-40B4-BE49-F238E27FC236}">
                  <a16:creationId xmlns:a16="http://schemas.microsoft.com/office/drawing/2014/main" id="{B06070A7-3552-6349-82E6-8B2B70FC0FA5}"/>
                </a:ext>
              </a:extLst>
            </p:cNvPr>
            <p:cNvSpPr/>
            <p:nvPr/>
          </p:nvSpPr>
          <p:spPr>
            <a:xfrm>
              <a:off x="8936665" y="1493371"/>
              <a:ext cx="243205" cy="412742"/>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下箭头 15">
              <a:extLst>
                <a:ext uri="{FF2B5EF4-FFF2-40B4-BE49-F238E27FC236}">
                  <a16:creationId xmlns:a16="http://schemas.microsoft.com/office/drawing/2014/main" id="{DCC5B7E3-7F99-0357-5F24-BB7FD9B4253D}"/>
                </a:ext>
              </a:extLst>
            </p:cNvPr>
            <p:cNvSpPr/>
            <p:nvPr>
              <p:custDataLst>
                <p:tags r:id="rId4"/>
              </p:custDataLst>
            </p:nvPr>
          </p:nvSpPr>
          <p:spPr>
            <a:xfrm>
              <a:off x="8936666" y="3884915"/>
              <a:ext cx="243205" cy="429684"/>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8">
              <a:extLst>
                <a:ext uri="{FF2B5EF4-FFF2-40B4-BE49-F238E27FC236}">
                  <a16:creationId xmlns:a16="http://schemas.microsoft.com/office/drawing/2014/main" id="{107A6D7F-7DD7-5256-34F2-8EC15A62D61D}"/>
                </a:ext>
              </a:extLst>
            </p:cNvPr>
            <p:cNvSpPr/>
            <p:nvPr/>
          </p:nvSpPr>
          <p:spPr>
            <a:xfrm>
              <a:off x="6710358" y="1980632"/>
              <a:ext cx="4695825" cy="588645"/>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ym typeface="+mn-ea"/>
                </a:rPr>
                <a:t>后台进行数据处理</a:t>
              </a:r>
              <a:endParaRPr lang="zh-CN" altLang="en-US" dirty="0"/>
            </a:p>
          </p:txBody>
        </p:sp>
        <p:sp>
          <p:nvSpPr>
            <p:cNvPr id="22" name="下箭头 15">
              <a:extLst>
                <a:ext uri="{FF2B5EF4-FFF2-40B4-BE49-F238E27FC236}">
                  <a16:creationId xmlns:a16="http://schemas.microsoft.com/office/drawing/2014/main" id="{902AE92A-D03B-C70C-5E02-44CEB342E9A3}"/>
                </a:ext>
              </a:extLst>
            </p:cNvPr>
            <p:cNvSpPr/>
            <p:nvPr>
              <p:custDataLst>
                <p:tags r:id="rId5"/>
              </p:custDataLst>
            </p:nvPr>
          </p:nvSpPr>
          <p:spPr>
            <a:xfrm>
              <a:off x="8936665" y="2665532"/>
              <a:ext cx="243205" cy="429684"/>
            </a:xfrm>
            <a:prstGeom prst="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a:extLst>
              <a:ext uri="{FF2B5EF4-FFF2-40B4-BE49-F238E27FC236}">
                <a16:creationId xmlns:a16="http://schemas.microsoft.com/office/drawing/2014/main" id="{36CE2169-720B-B6F8-AF26-4EA4AF5B7390}"/>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7</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2021456648"/>
      </p:ext>
    </p:extLst>
  </p:cSld>
  <p:clrMapOvr>
    <a:masterClrMapping/>
  </p:clrMapOvr>
  <p:transition advTm="10465">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1428806" y="630566"/>
            <a:ext cx="1962094" cy="405102"/>
          </a:xfrm>
          <a:prstGeom prst="rect">
            <a:avLst/>
          </a:prstGeom>
        </p:spPr>
        <p:txBody>
          <a:bodyPr>
            <a:normAutofit/>
          </a:bodyPr>
          <a:lstStyle/>
          <a:p>
            <a:r>
              <a:rPr lang="zh-CN" altLang="en-US" dirty="0">
                <a:latin typeface="+mn-lt"/>
                <a:ea typeface="+mn-ea"/>
                <a:cs typeface="+mn-ea"/>
                <a:sym typeface="+mn-lt"/>
              </a:rPr>
              <a:t>数据分析</a:t>
            </a:r>
          </a:p>
        </p:txBody>
      </p:sp>
      <p:pic>
        <p:nvPicPr>
          <p:cNvPr id="6" name="Picture 2">
            <a:extLst>
              <a:ext uri="{FF2B5EF4-FFF2-40B4-BE49-F238E27FC236}">
                <a16:creationId xmlns:a16="http://schemas.microsoft.com/office/drawing/2014/main" id="{BB42662B-2695-B6F9-5143-04A8DE3AB655}"/>
              </a:ext>
            </a:extLst>
          </p:cNvPr>
          <p:cNvPicPr>
            <a:picLocks noChangeAspect="1" noChangeArrowheads="1"/>
          </p:cNvPicPr>
          <p:nvPr/>
        </p:nvPicPr>
        <p:blipFill>
          <a:blip r:embed="rId3" cstate="print"/>
          <a:srcRect/>
          <a:stretch>
            <a:fillRect/>
          </a:stretch>
        </p:blipFill>
        <p:spPr bwMode="auto">
          <a:xfrm>
            <a:off x="11199129" y="360619"/>
            <a:ext cx="576050" cy="606937"/>
          </a:xfrm>
          <a:prstGeom prst="rect">
            <a:avLst/>
          </a:prstGeom>
          <a:ln>
            <a:noFill/>
          </a:ln>
          <a:effectLst/>
        </p:spPr>
      </p:pic>
      <p:grpSp>
        <p:nvGrpSpPr>
          <p:cNvPr id="39" name="组合 38">
            <a:extLst>
              <a:ext uri="{FF2B5EF4-FFF2-40B4-BE49-F238E27FC236}">
                <a16:creationId xmlns:a16="http://schemas.microsoft.com/office/drawing/2014/main" id="{B836D1B6-5203-9FC6-924F-F434921055E0}"/>
              </a:ext>
            </a:extLst>
          </p:cNvPr>
          <p:cNvGrpSpPr/>
          <p:nvPr/>
        </p:nvGrpSpPr>
        <p:grpSpPr>
          <a:xfrm>
            <a:off x="6964685" y="1120075"/>
            <a:ext cx="4200469" cy="5377306"/>
            <a:chOff x="7210346" y="1074716"/>
            <a:chExt cx="4200469" cy="5377306"/>
          </a:xfrm>
        </p:grpSpPr>
        <p:pic>
          <p:nvPicPr>
            <p:cNvPr id="20" name="图片 19">
              <a:extLst>
                <a:ext uri="{FF2B5EF4-FFF2-40B4-BE49-F238E27FC236}">
                  <a16:creationId xmlns:a16="http://schemas.microsoft.com/office/drawing/2014/main" id="{9176DAA5-9454-20E1-C7BB-A616D5D8E49A}"/>
                </a:ext>
              </a:extLst>
            </p:cNvPr>
            <p:cNvPicPr>
              <a:picLocks noChangeAspect="1"/>
            </p:cNvPicPr>
            <p:nvPr/>
          </p:nvPicPr>
          <p:blipFill>
            <a:blip r:embed="rId4"/>
            <a:stretch>
              <a:fillRect/>
            </a:stretch>
          </p:blipFill>
          <p:spPr>
            <a:xfrm>
              <a:off x="7210346" y="1074716"/>
              <a:ext cx="4200469" cy="5377306"/>
            </a:xfrm>
            <a:prstGeom prst="rect">
              <a:avLst/>
            </a:prstGeom>
          </p:spPr>
        </p:pic>
        <p:grpSp>
          <p:nvGrpSpPr>
            <p:cNvPr id="34" name="组合 33">
              <a:extLst>
                <a:ext uri="{FF2B5EF4-FFF2-40B4-BE49-F238E27FC236}">
                  <a16:creationId xmlns:a16="http://schemas.microsoft.com/office/drawing/2014/main" id="{92AC80D3-DC92-3413-1515-0E19EA490974}"/>
                </a:ext>
              </a:extLst>
            </p:cNvPr>
            <p:cNvGrpSpPr/>
            <p:nvPr/>
          </p:nvGrpSpPr>
          <p:grpSpPr>
            <a:xfrm>
              <a:off x="7531991" y="3958089"/>
              <a:ext cx="3628404" cy="2471377"/>
              <a:chOff x="7531990" y="3892923"/>
              <a:chExt cx="3628404" cy="2471377"/>
            </a:xfrm>
          </p:grpSpPr>
          <p:sp>
            <p:nvSpPr>
              <p:cNvPr id="29" name="文本框 28">
                <a:extLst>
                  <a:ext uri="{FF2B5EF4-FFF2-40B4-BE49-F238E27FC236}">
                    <a16:creationId xmlns:a16="http://schemas.microsoft.com/office/drawing/2014/main" id="{6BF87927-327E-9F8B-6358-211893BDBFD6}"/>
                  </a:ext>
                </a:extLst>
              </p:cNvPr>
              <p:cNvSpPr txBox="1"/>
              <p:nvPr/>
            </p:nvSpPr>
            <p:spPr>
              <a:xfrm>
                <a:off x="8504710" y="6056523"/>
                <a:ext cx="1682965" cy="307777"/>
              </a:xfrm>
              <a:prstGeom prst="rect">
                <a:avLst/>
              </a:prstGeom>
              <a:noFill/>
            </p:spPr>
            <p:txBody>
              <a:bodyPr wrap="square" rtlCol="0">
                <a:spAutoFit/>
              </a:bodyPr>
              <a:lstStyle/>
              <a:p>
                <a:r>
                  <a:rPr lang="zh-CN" altLang="en-US" sz="1400" dirty="0">
                    <a:solidFill>
                      <a:schemeClr val="bg1"/>
                    </a:solidFill>
                  </a:rPr>
                  <a:t>角色标签缺失情况</a:t>
                </a:r>
              </a:p>
            </p:txBody>
          </p:sp>
          <p:pic>
            <p:nvPicPr>
              <p:cNvPr id="1033" name="图片 1">
                <a:extLst>
                  <a:ext uri="{FF2B5EF4-FFF2-40B4-BE49-F238E27FC236}">
                    <a16:creationId xmlns:a16="http://schemas.microsoft.com/office/drawing/2014/main" id="{96B60D90-8D40-DA2B-0AA2-ED29A2B76A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1990" y="3892923"/>
                <a:ext cx="3628404" cy="21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5" name="组合 34">
              <a:extLst>
                <a:ext uri="{FF2B5EF4-FFF2-40B4-BE49-F238E27FC236}">
                  <a16:creationId xmlns:a16="http://schemas.microsoft.com/office/drawing/2014/main" id="{031B75F4-E72A-D634-B6A4-D4BBCE63337C}"/>
                </a:ext>
              </a:extLst>
            </p:cNvPr>
            <p:cNvGrpSpPr/>
            <p:nvPr/>
          </p:nvGrpSpPr>
          <p:grpSpPr>
            <a:xfrm>
              <a:off x="7531991" y="1251117"/>
              <a:ext cx="3634874" cy="2472119"/>
              <a:chOff x="7531991" y="1170869"/>
              <a:chExt cx="3634874" cy="2472119"/>
            </a:xfrm>
          </p:grpSpPr>
          <p:sp>
            <p:nvSpPr>
              <p:cNvPr id="28" name="文本框 27">
                <a:extLst>
                  <a:ext uri="{FF2B5EF4-FFF2-40B4-BE49-F238E27FC236}">
                    <a16:creationId xmlns:a16="http://schemas.microsoft.com/office/drawing/2014/main" id="{2D8B98F5-5B55-5729-8735-4E0A75682DC3}"/>
                  </a:ext>
                </a:extLst>
              </p:cNvPr>
              <p:cNvSpPr txBox="1"/>
              <p:nvPr/>
            </p:nvSpPr>
            <p:spPr>
              <a:xfrm>
                <a:off x="8391200" y="3335211"/>
                <a:ext cx="1682965" cy="307777"/>
              </a:xfrm>
              <a:prstGeom prst="rect">
                <a:avLst/>
              </a:prstGeom>
              <a:noFill/>
            </p:spPr>
            <p:txBody>
              <a:bodyPr wrap="square" rtlCol="0">
                <a:spAutoFit/>
              </a:bodyPr>
              <a:lstStyle/>
              <a:p>
                <a:r>
                  <a:rPr lang="zh-CN" altLang="en-US" sz="1400" dirty="0">
                    <a:solidFill>
                      <a:schemeClr val="bg1"/>
                    </a:solidFill>
                  </a:rPr>
                  <a:t>情感标签缺失情况</a:t>
                </a:r>
              </a:p>
            </p:txBody>
          </p:sp>
          <p:pic>
            <p:nvPicPr>
              <p:cNvPr id="33" name="图片 32">
                <a:extLst>
                  <a:ext uri="{FF2B5EF4-FFF2-40B4-BE49-F238E27FC236}">
                    <a16:creationId xmlns:a16="http://schemas.microsoft.com/office/drawing/2014/main" id="{3B1618EE-3C6D-2582-6213-52DE4E855BEA}"/>
                  </a:ext>
                </a:extLst>
              </p:cNvPr>
              <p:cNvPicPr>
                <a:picLocks noChangeAspect="1"/>
              </p:cNvPicPr>
              <p:nvPr/>
            </p:nvPicPr>
            <p:blipFill>
              <a:blip r:embed="rId6"/>
              <a:stretch>
                <a:fillRect/>
              </a:stretch>
            </p:blipFill>
            <p:spPr>
              <a:xfrm>
                <a:off x="7531991" y="1170869"/>
                <a:ext cx="3634874" cy="2164342"/>
              </a:xfrm>
              <a:prstGeom prst="rect">
                <a:avLst/>
              </a:prstGeom>
            </p:spPr>
          </p:pic>
        </p:grpSp>
      </p:grpSp>
      <p:grpSp>
        <p:nvGrpSpPr>
          <p:cNvPr id="38" name="组合 37">
            <a:extLst>
              <a:ext uri="{FF2B5EF4-FFF2-40B4-BE49-F238E27FC236}">
                <a16:creationId xmlns:a16="http://schemas.microsoft.com/office/drawing/2014/main" id="{3DFC14CF-2C65-8D31-5453-7B4DD5E168B6}"/>
              </a:ext>
            </a:extLst>
          </p:cNvPr>
          <p:cNvGrpSpPr/>
          <p:nvPr/>
        </p:nvGrpSpPr>
        <p:grpSpPr>
          <a:xfrm>
            <a:off x="1323701" y="1219913"/>
            <a:ext cx="4296290" cy="5277468"/>
            <a:chOff x="980415" y="1219913"/>
            <a:chExt cx="4296290" cy="5277468"/>
          </a:xfrm>
        </p:grpSpPr>
        <p:pic>
          <p:nvPicPr>
            <p:cNvPr id="27" name="图片 26">
              <a:extLst>
                <a:ext uri="{FF2B5EF4-FFF2-40B4-BE49-F238E27FC236}">
                  <a16:creationId xmlns:a16="http://schemas.microsoft.com/office/drawing/2014/main" id="{F0925459-FE00-8D52-976E-3A4B325D9BCA}"/>
                </a:ext>
              </a:extLst>
            </p:cNvPr>
            <p:cNvPicPr>
              <a:picLocks noChangeAspect="1"/>
            </p:cNvPicPr>
            <p:nvPr/>
          </p:nvPicPr>
          <p:blipFill>
            <a:blip r:embed="rId4"/>
            <a:stretch>
              <a:fillRect/>
            </a:stretch>
          </p:blipFill>
          <p:spPr>
            <a:xfrm>
              <a:off x="980415" y="3859451"/>
              <a:ext cx="4276726" cy="2637930"/>
            </a:xfrm>
            <a:prstGeom prst="rect">
              <a:avLst/>
            </a:prstGeom>
          </p:spPr>
        </p:pic>
        <p:pic>
          <p:nvPicPr>
            <p:cNvPr id="26" name="图片 25">
              <a:extLst>
                <a:ext uri="{FF2B5EF4-FFF2-40B4-BE49-F238E27FC236}">
                  <a16:creationId xmlns:a16="http://schemas.microsoft.com/office/drawing/2014/main" id="{59FE4B0E-420D-071A-0887-282DFC5ADD36}"/>
                </a:ext>
              </a:extLst>
            </p:cNvPr>
            <p:cNvPicPr>
              <a:picLocks noChangeAspect="1"/>
            </p:cNvPicPr>
            <p:nvPr/>
          </p:nvPicPr>
          <p:blipFill>
            <a:blip r:embed="rId4"/>
            <a:stretch>
              <a:fillRect/>
            </a:stretch>
          </p:blipFill>
          <p:spPr>
            <a:xfrm>
              <a:off x="999979" y="1219913"/>
              <a:ext cx="4276726" cy="2503323"/>
            </a:xfrm>
            <a:prstGeom prst="rect">
              <a:avLst/>
            </a:prstGeom>
          </p:spPr>
        </p:pic>
        <p:pic>
          <p:nvPicPr>
            <p:cNvPr id="1026" name="图片 7">
              <a:extLst>
                <a:ext uri="{FF2B5EF4-FFF2-40B4-BE49-F238E27FC236}">
                  <a16:creationId xmlns:a16="http://schemas.microsoft.com/office/drawing/2014/main" id="{EF6853AE-8FB6-365F-0499-C8BD11A986A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32303" y="1320834"/>
              <a:ext cx="3572950" cy="202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图片 1">
              <a:extLst>
                <a:ext uri="{FF2B5EF4-FFF2-40B4-BE49-F238E27FC236}">
                  <a16:creationId xmlns:a16="http://schemas.microsoft.com/office/drawing/2014/main" id="{2ACD2315-7AA4-93E8-703D-E76CA7CD88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3473"/>
            <a:stretch>
              <a:fillRect/>
            </a:stretch>
          </p:blipFill>
          <p:spPr bwMode="auto">
            <a:xfrm>
              <a:off x="1332303" y="4005251"/>
              <a:ext cx="3572950" cy="213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文本框 35">
              <a:extLst>
                <a:ext uri="{FF2B5EF4-FFF2-40B4-BE49-F238E27FC236}">
                  <a16:creationId xmlns:a16="http://schemas.microsoft.com/office/drawing/2014/main" id="{400EF9A8-0812-8013-96CA-A58A53672F20}"/>
                </a:ext>
              </a:extLst>
            </p:cNvPr>
            <p:cNvSpPr txBox="1"/>
            <p:nvPr/>
          </p:nvSpPr>
          <p:spPr>
            <a:xfrm>
              <a:off x="2344673" y="6144245"/>
              <a:ext cx="1274870" cy="307777"/>
            </a:xfrm>
            <a:prstGeom prst="rect">
              <a:avLst/>
            </a:prstGeom>
            <a:noFill/>
          </p:spPr>
          <p:txBody>
            <a:bodyPr wrap="square" rtlCol="0">
              <a:spAutoFit/>
            </a:bodyPr>
            <a:lstStyle/>
            <a:p>
              <a:r>
                <a:rPr lang="zh-CN" altLang="en-US" sz="1400" dirty="0">
                  <a:solidFill>
                    <a:schemeClr val="bg1"/>
                  </a:solidFill>
                </a:rPr>
                <a:t>情感标签分布</a:t>
              </a:r>
            </a:p>
          </p:txBody>
        </p:sp>
        <p:sp>
          <p:nvSpPr>
            <p:cNvPr id="37" name="文本框 36">
              <a:extLst>
                <a:ext uri="{FF2B5EF4-FFF2-40B4-BE49-F238E27FC236}">
                  <a16:creationId xmlns:a16="http://schemas.microsoft.com/office/drawing/2014/main" id="{F3A8361E-08CC-C333-834D-6E95DDEF97B9}"/>
                </a:ext>
              </a:extLst>
            </p:cNvPr>
            <p:cNvSpPr txBox="1"/>
            <p:nvPr/>
          </p:nvSpPr>
          <p:spPr>
            <a:xfrm>
              <a:off x="2481343" y="3429000"/>
              <a:ext cx="1274870" cy="307777"/>
            </a:xfrm>
            <a:prstGeom prst="rect">
              <a:avLst/>
            </a:prstGeom>
            <a:noFill/>
          </p:spPr>
          <p:txBody>
            <a:bodyPr wrap="square" rtlCol="0">
              <a:spAutoFit/>
            </a:bodyPr>
            <a:lstStyle/>
            <a:p>
              <a:r>
                <a:rPr lang="zh-CN" altLang="en-US" sz="1400" dirty="0">
                  <a:solidFill>
                    <a:schemeClr val="bg1"/>
                  </a:solidFill>
                </a:rPr>
                <a:t>文本长度分布</a:t>
              </a:r>
            </a:p>
          </p:txBody>
        </p:sp>
      </p:grpSp>
      <p:sp>
        <p:nvSpPr>
          <p:cNvPr id="3" name="文本框 2">
            <a:extLst>
              <a:ext uri="{FF2B5EF4-FFF2-40B4-BE49-F238E27FC236}">
                <a16:creationId xmlns:a16="http://schemas.microsoft.com/office/drawing/2014/main" id="{74E1AF5A-5FCA-69B6-4CD7-564A774BC709}"/>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8</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1833915805"/>
      </p:ext>
    </p:extLst>
  </p:cSld>
  <p:clrMapOvr>
    <a:masterClrMapping/>
  </p:clrMapOvr>
  <p:transition advTm="51406">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438094" y="659141"/>
            <a:ext cx="6012872" cy="405102"/>
          </a:xfrm>
          <a:prstGeom prst="rect">
            <a:avLst/>
          </a:prstGeom>
        </p:spPr>
        <p:txBody>
          <a:bodyPr>
            <a:normAutofit/>
          </a:bodyPr>
          <a:lstStyle/>
          <a:p>
            <a:r>
              <a:rPr lang="zh-CN" altLang="en-US" dirty="0">
                <a:latin typeface="+mn-lt"/>
                <a:ea typeface="+mn-ea"/>
                <a:cs typeface="+mn-ea"/>
                <a:sym typeface="+mn-lt"/>
              </a:rPr>
              <a:t>上下文建模</a:t>
            </a:r>
          </a:p>
        </p:txBody>
      </p:sp>
      <p:pic>
        <p:nvPicPr>
          <p:cNvPr id="2" name="图片 1">
            <a:extLst>
              <a:ext uri="{FF2B5EF4-FFF2-40B4-BE49-F238E27FC236}">
                <a16:creationId xmlns:a16="http://schemas.microsoft.com/office/drawing/2014/main" id="{2617C79B-88EA-5E10-932B-71FD68A2A3B8}"/>
              </a:ext>
            </a:extLst>
          </p:cNvPr>
          <p:cNvPicPr>
            <a:picLocks noChangeAspect="1"/>
          </p:cNvPicPr>
          <p:nvPr/>
        </p:nvPicPr>
        <p:blipFill>
          <a:blip r:embed="rId3"/>
          <a:stretch>
            <a:fillRect/>
          </a:stretch>
        </p:blipFill>
        <p:spPr>
          <a:xfrm>
            <a:off x="1119630" y="1233681"/>
            <a:ext cx="3214245" cy="977402"/>
          </a:xfrm>
          <a:prstGeom prst="rect">
            <a:avLst/>
          </a:prstGeom>
        </p:spPr>
      </p:pic>
      <p:pic>
        <p:nvPicPr>
          <p:cNvPr id="3" name="图片 2">
            <a:extLst>
              <a:ext uri="{FF2B5EF4-FFF2-40B4-BE49-F238E27FC236}">
                <a16:creationId xmlns:a16="http://schemas.microsoft.com/office/drawing/2014/main" id="{979FD8CC-F258-ECAA-DE76-BFDF6C03DCD3}"/>
              </a:ext>
            </a:extLst>
          </p:cNvPr>
          <p:cNvPicPr>
            <a:picLocks noChangeAspect="1"/>
          </p:cNvPicPr>
          <p:nvPr/>
        </p:nvPicPr>
        <p:blipFill>
          <a:blip r:embed="rId4"/>
          <a:stretch>
            <a:fillRect/>
          </a:stretch>
        </p:blipFill>
        <p:spPr>
          <a:xfrm>
            <a:off x="1119629" y="2351525"/>
            <a:ext cx="3214246" cy="1569748"/>
          </a:xfrm>
          <a:prstGeom prst="rect">
            <a:avLst/>
          </a:prstGeom>
        </p:spPr>
      </p:pic>
      <p:pic>
        <p:nvPicPr>
          <p:cNvPr id="5" name="图片 4">
            <a:extLst>
              <a:ext uri="{FF2B5EF4-FFF2-40B4-BE49-F238E27FC236}">
                <a16:creationId xmlns:a16="http://schemas.microsoft.com/office/drawing/2014/main" id="{6F5FA425-E07E-71B1-62E5-95B6ADEA62CF}"/>
              </a:ext>
            </a:extLst>
          </p:cNvPr>
          <p:cNvPicPr>
            <a:picLocks noChangeAspect="1"/>
          </p:cNvPicPr>
          <p:nvPr/>
        </p:nvPicPr>
        <p:blipFill>
          <a:blip r:embed="rId5"/>
          <a:stretch>
            <a:fillRect/>
          </a:stretch>
        </p:blipFill>
        <p:spPr>
          <a:xfrm>
            <a:off x="1014831" y="4113909"/>
            <a:ext cx="3423820" cy="2164542"/>
          </a:xfrm>
          <a:prstGeom prst="rect">
            <a:avLst/>
          </a:prstGeom>
        </p:spPr>
      </p:pic>
      <p:cxnSp>
        <p:nvCxnSpPr>
          <p:cNvPr id="8" name="直接连接符 7">
            <a:extLst>
              <a:ext uri="{FF2B5EF4-FFF2-40B4-BE49-F238E27FC236}">
                <a16:creationId xmlns:a16="http://schemas.microsoft.com/office/drawing/2014/main" id="{2624B86E-F936-FA40-BBE9-4BD2B7BB1549}"/>
              </a:ext>
            </a:extLst>
          </p:cNvPr>
          <p:cNvCxnSpPr/>
          <p:nvPr/>
        </p:nvCxnSpPr>
        <p:spPr>
          <a:xfrm>
            <a:off x="6381750" y="457200"/>
            <a:ext cx="0" cy="5981700"/>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0FE5A191-639B-4E36-6B49-59D4BD8E95B7}"/>
              </a:ext>
            </a:extLst>
          </p:cNvPr>
          <p:cNvSpPr txBox="1"/>
          <p:nvPr/>
        </p:nvSpPr>
        <p:spPr>
          <a:xfrm>
            <a:off x="6743703" y="4557588"/>
            <a:ext cx="4369366" cy="1477328"/>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当前句子＋上文＋下文＋被预测人历史句子</a:t>
            </a:r>
            <a:r>
              <a:rPr lang="en-US" altLang="zh-CN" dirty="0"/>
              <a:t>:</a:t>
            </a:r>
            <a:r>
              <a:rPr lang="zh-CN" altLang="en-US" dirty="0"/>
              <a:t>将上文和当前句子一起拼接的方式可能会削弱当前句子的影响，因此选择将其拆开，作为</a:t>
            </a:r>
            <a:r>
              <a:rPr lang="en-US" altLang="zh-CN" dirty="0"/>
              <a:t>4</a:t>
            </a:r>
            <a:r>
              <a:rPr lang="zh-CN" altLang="en-US" dirty="0"/>
              <a:t>个长句子输入，然后拼接</a:t>
            </a:r>
            <a:r>
              <a:rPr lang="en-US" altLang="zh-CN" dirty="0"/>
              <a:t>4</a:t>
            </a:r>
            <a:r>
              <a:rPr lang="zh-CN" altLang="en-US" dirty="0"/>
              <a:t>个</a:t>
            </a:r>
            <a:r>
              <a:rPr lang="en-US" altLang="zh-CN" dirty="0"/>
              <a:t>[CLS]</a:t>
            </a:r>
            <a:r>
              <a:rPr lang="zh-CN" altLang="en-US" dirty="0"/>
              <a:t>向量进行分类。</a:t>
            </a:r>
          </a:p>
        </p:txBody>
      </p:sp>
      <p:sp>
        <p:nvSpPr>
          <p:cNvPr id="10" name="文本框 9">
            <a:extLst>
              <a:ext uri="{FF2B5EF4-FFF2-40B4-BE49-F238E27FC236}">
                <a16:creationId xmlns:a16="http://schemas.microsoft.com/office/drawing/2014/main" id="{C080F9AD-7C53-FB19-C77F-D74EA213010C}"/>
              </a:ext>
            </a:extLst>
          </p:cNvPr>
          <p:cNvSpPr txBox="1"/>
          <p:nvPr/>
        </p:nvSpPr>
        <p:spPr>
          <a:xfrm>
            <a:off x="6705602" y="1277712"/>
            <a:ext cx="4445568"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t>(</a:t>
            </a:r>
            <a:r>
              <a:rPr lang="zh-CN" altLang="en-US" dirty="0"/>
              <a:t>上文＋当前句子</a:t>
            </a:r>
            <a:r>
              <a:rPr lang="en-US" altLang="zh-CN" dirty="0"/>
              <a:t>)∶</a:t>
            </a:r>
            <a:r>
              <a:rPr lang="zh-CN" altLang="en-US" dirty="0"/>
              <a:t>将上文和当前句子拼接成一句长句子，然后分类</a:t>
            </a:r>
            <a:r>
              <a:rPr lang="en-US" altLang="zh-CN" dirty="0"/>
              <a:t>;</a:t>
            </a:r>
            <a:endParaRPr lang="zh-CN" altLang="en-US" dirty="0"/>
          </a:p>
        </p:txBody>
      </p:sp>
      <p:sp>
        <p:nvSpPr>
          <p:cNvPr id="12" name="文本框 11">
            <a:extLst>
              <a:ext uri="{FF2B5EF4-FFF2-40B4-BE49-F238E27FC236}">
                <a16:creationId xmlns:a16="http://schemas.microsoft.com/office/drawing/2014/main" id="{590AC09A-8F4D-9447-1101-E39D825757F1}"/>
              </a:ext>
            </a:extLst>
          </p:cNvPr>
          <p:cNvSpPr txBox="1"/>
          <p:nvPr/>
        </p:nvSpPr>
        <p:spPr>
          <a:xfrm>
            <a:off x="6743703" y="2179785"/>
            <a:ext cx="4369366" cy="2031325"/>
          </a:xfrm>
          <a:prstGeom prst="rect">
            <a:avLst/>
          </a:prstGeom>
          <a:noFill/>
        </p:spPr>
        <p:txBody>
          <a:bodyPr wrap="square" rtlCol="0">
            <a:spAutoFit/>
          </a:bodyPr>
          <a:lstStyle/>
          <a:p>
            <a:pPr marL="285750" indent="-285750">
              <a:buFont typeface="Wingdings" panose="05000000000000000000" pitchFamily="2" charset="2"/>
              <a:buChar char="Ø"/>
            </a:pPr>
            <a:r>
              <a:rPr lang="en-US" altLang="zh-CN" dirty="0"/>
              <a:t>(</a:t>
            </a:r>
            <a:r>
              <a:rPr lang="zh-CN" altLang="en-US" dirty="0"/>
              <a:t>上文＋当前句子</a:t>
            </a:r>
            <a:r>
              <a:rPr lang="en-US" altLang="zh-CN" dirty="0"/>
              <a:t>)</a:t>
            </a:r>
            <a:r>
              <a:rPr lang="zh-CN" altLang="en-US" dirty="0"/>
              <a:t>＋下文＋被预测人历史句子</a:t>
            </a:r>
            <a:r>
              <a:rPr lang="en-US" altLang="zh-CN" dirty="0"/>
              <a:t>:</a:t>
            </a:r>
            <a:r>
              <a:rPr lang="zh-CN" altLang="en-US" dirty="0"/>
              <a:t>考虑到下文可以对当前预测的情绪起到修正作用，以及被预测人自身情绪的传承，在第一类的基础上，增加下文和被预测人历史句子作为新的两个长句子输入，然后将三个</a:t>
            </a:r>
            <a:r>
              <a:rPr lang="en-US" altLang="zh-CN" dirty="0"/>
              <a:t>[CLS]</a:t>
            </a:r>
            <a:r>
              <a:rPr lang="zh-CN" altLang="en-US" dirty="0"/>
              <a:t>向量拼接，再进行分类</a:t>
            </a:r>
            <a:r>
              <a:rPr lang="en-US" altLang="zh-CN" dirty="0"/>
              <a:t>;</a:t>
            </a:r>
            <a:endParaRPr lang="zh-CN" altLang="en-US" dirty="0"/>
          </a:p>
        </p:txBody>
      </p:sp>
      <p:pic>
        <p:nvPicPr>
          <p:cNvPr id="13" name="Picture 2">
            <a:extLst>
              <a:ext uri="{FF2B5EF4-FFF2-40B4-BE49-F238E27FC236}">
                <a16:creationId xmlns:a16="http://schemas.microsoft.com/office/drawing/2014/main" id="{3E16C8A0-4AE6-7117-B046-EFAA0C4E2AD0}"/>
              </a:ext>
            </a:extLst>
          </p:cNvPr>
          <p:cNvPicPr>
            <a:picLocks noChangeAspect="1" noChangeArrowheads="1"/>
          </p:cNvPicPr>
          <p:nvPr/>
        </p:nvPicPr>
        <p:blipFill>
          <a:blip r:embed="rId6" cstate="print"/>
          <a:srcRect/>
          <a:stretch>
            <a:fillRect/>
          </a:stretch>
        </p:blipFill>
        <p:spPr bwMode="auto">
          <a:xfrm>
            <a:off x="11199129" y="360619"/>
            <a:ext cx="576050" cy="606937"/>
          </a:xfrm>
          <a:prstGeom prst="rect">
            <a:avLst/>
          </a:prstGeom>
          <a:ln>
            <a:noFill/>
          </a:ln>
          <a:effectLst/>
        </p:spPr>
      </p:pic>
      <p:grpSp>
        <p:nvGrpSpPr>
          <p:cNvPr id="29" name="组合 28">
            <a:extLst>
              <a:ext uri="{FF2B5EF4-FFF2-40B4-BE49-F238E27FC236}">
                <a16:creationId xmlns:a16="http://schemas.microsoft.com/office/drawing/2014/main" id="{CCBC4134-A6CD-DF98-8883-CF9FBD8749C0}"/>
              </a:ext>
            </a:extLst>
          </p:cNvPr>
          <p:cNvGrpSpPr/>
          <p:nvPr/>
        </p:nvGrpSpPr>
        <p:grpSpPr>
          <a:xfrm>
            <a:off x="4825085" y="2501734"/>
            <a:ext cx="1678008" cy="2253660"/>
            <a:chOff x="4689276" y="2054473"/>
            <a:chExt cx="1678008" cy="2253660"/>
          </a:xfrm>
        </p:grpSpPr>
        <p:sp>
          <p:nvSpPr>
            <p:cNvPr id="11" name="矩形 10">
              <a:extLst>
                <a:ext uri="{FF2B5EF4-FFF2-40B4-BE49-F238E27FC236}">
                  <a16:creationId xmlns:a16="http://schemas.microsoft.com/office/drawing/2014/main" id="{88143CBD-0DEF-709F-7DC2-6BFEF4AE1F92}"/>
                </a:ext>
              </a:extLst>
            </p:cNvPr>
            <p:cNvSpPr/>
            <p:nvPr/>
          </p:nvSpPr>
          <p:spPr>
            <a:xfrm>
              <a:off x="4695827" y="2077278"/>
              <a:ext cx="216000" cy="216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03F3AAF-0BE1-89A2-52D0-A64C05973AB6}"/>
                </a:ext>
              </a:extLst>
            </p:cNvPr>
            <p:cNvSpPr/>
            <p:nvPr/>
          </p:nvSpPr>
          <p:spPr>
            <a:xfrm>
              <a:off x="4689276" y="2358413"/>
              <a:ext cx="216000" cy="216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E716884D-B608-18EB-6F04-CB3190335C50}"/>
                </a:ext>
              </a:extLst>
            </p:cNvPr>
            <p:cNvSpPr/>
            <p:nvPr/>
          </p:nvSpPr>
          <p:spPr>
            <a:xfrm>
              <a:off x="4689276" y="2644658"/>
              <a:ext cx="216000" cy="216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E42CACC4-AC60-C535-5731-1150A9382503}"/>
                </a:ext>
              </a:extLst>
            </p:cNvPr>
            <p:cNvSpPr/>
            <p:nvPr/>
          </p:nvSpPr>
          <p:spPr>
            <a:xfrm>
              <a:off x="4695827" y="2932982"/>
              <a:ext cx="216000" cy="216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0B5FAE76-F40D-A0C8-34CC-4CFDF5B8B20E}"/>
                </a:ext>
              </a:extLst>
            </p:cNvPr>
            <p:cNvSpPr/>
            <p:nvPr/>
          </p:nvSpPr>
          <p:spPr>
            <a:xfrm>
              <a:off x="4695827" y="3221306"/>
              <a:ext cx="216000" cy="216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CB02176E-DB67-C8F2-A9FD-161ECF28D1E1}"/>
                </a:ext>
              </a:extLst>
            </p:cNvPr>
            <p:cNvSpPr/>
            <p:nvPr/>
          </p:nvSpPr>
          <p:spPr>
            <a:xfrm>
              <a:off x="4689276" y="3503980"/>
              <a:ext cx="216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350D9BE0-47E7-D441-D7AB-C2BD1B9E70E5}"/>
                </a:ext>
              </a:extLst>
            </p:cNvPr>
            <p:cNvSpPr/>
            <p:nvPr/>
          </p:nvSpPr>
          <p:spPr>
            <a:xfrm>
              <a:off x="4695827" y="3786654"/>
              <a:ext cx="216000" cy="21600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81606392-BAE3-3D67-46D5-BFF41634D4C4}"/>
                </a:ext>
              </a:extLst>
            </p:cNvPr>
            <p:cNvSpPr/>
            <p:nvPr/>
          </p:nvSpPr>
          <p:spPr>
            <a:xfrm>
              <a:off x="4689276" y="4065330"/>
              <a:ext cx="216000" cy="21600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3C074AFF-CBC0-C67E-8822-8B876B9E6CD8}"/>
                </a:ext>
              </a:extLst>
            </p:cNvPr>
            <p:cNvSpPr txBox="1"/>
            <p:nvPr/>
          </p:nvSpPr>
          <p:spPr>
            <a:xfrm>
              <a:off x="4994996" y="2054473"/>
              <a:ext cx="871862" cy="261610"/>
            </a:xfrm>
            <a:prstGeom prst="rect">
              <a:avLst/>
            </a:prstGeom>
            <a:noFill/>
          </p:spPr>
          <p:txBody>
            <a:bodyPr wrap="square" rtlCol="0">
              <a:spAutoFit/>
            </a:bodyPr>
            <a:lstStyle/>
            <a:p>
              <a:r>
                <a:rPr lang="en-US" altLang="zh-CN" sz="1100" dirty="0"/>
                <a:t>[CLS]</a:t>
              </a:r>
              <a:r>
                <a:rPr lang="zh-CN" altLang="en-US" sz="1100" dirty="0"/>
                <a:t>向量</a:t>
              </a:r>
            </a:p>
          </p:txBody>
        </p:sp>
        <p:sp>
          <p:nvSpPr>
            <p:cNvPr id="22" name="文本框 21">
              <a:extLst>
                <a:ext uri="{FF2B5EF4-FFF2-40B4-BE49-F238E27FC236}">
                  <a16:creationId xmlns:a16="http://schemas.microsoft.com/office/drawing/2014/main" id="{1E513B9D-125F-630E-27B7-D4A6F7545B37}"/>
                </a:ext>
              </a:extLst>
            </p:cNvPr>
            <p:cNvSpPr txBox="1"/>
            <p:nvPr/>
          </p:nvSpPr>
          <p:spPr>
            <a:xfrm>
              <a:off x="4987084" y="2336131"/>
              <a:ext cx="1121723" cy="261610"/>
            </a:xfrm>
            <a:prstGeom prst="rect">
              <a:avLst/>
            </a:prstGeom>
            <a:noFill/>
          </p:spPr>
          <p:txBody>
            <a:bodyPr wrap="square" rtlCol="0">
              <a:spAutoFit/>
            </a:bodyPr>
            <a:lstStyle/>
            <a:p>
              <a:r>
                <a:rPr lang="zh-CN" altLang="en-US" sz="1100" dirty="0"/>
                <a:t>被预测的向量</a:t>
              </a:r>
            </a:p>
          </p:txBody>
        </p:sp>
        <p:sp>
          <p:nvSpPr>
            <p:cNvPr id="23" name="文本框 22">
              <a:extLst>
                <a:ext uri="{FF2B5EF4-FFF2-40B4-BE49-F238E27FC236}">
                  <a16:creationId xmlns:a16="http://schemas.microsoft.com/office/drawing/2014/main" id="{16A805AB-ACAA-83CA-5600-D8A6C2A2CC49}"/>
                </a:ext>
              </a:extLst>
            </p:cNvPr>
            <p:cNvSpPr txBox="1"/>
            <p:nvPr/>
          </p:nvSpPr>
          <p:spPr>
            <a:xfrm>
              <a:off x="4987083" y="2622861"/>
              <a:ext cx="1121723" cy="261610"/>
            </a:xfrm>
            <a:prstGeom prst="rect">
              <a:avLst/>
            </a:prstGeom>
            <a:noFill/>
          </p:spPr>
          <p:txBody>
            <a:bodyPr wrap="square" rtlCol="0">
              <a:spAutoFit/>
            </a:bodyPr>
            <a:lstStyle/>
            <a:p>
              <a:r>
                <a:rPr lang="en-US" altLang="zh-CN" sz="1100" dirty="0"/>
                <a:t>[SEP]</a:t>
              </a:r>
              <a:r>
                <a:rPr lang="zh-CN" altLang="en-US" sz="1100" dirty="0"/>
                <a:t>向量</a:t>
              </a:r>
            </a:p>
          </p:txBody>
        </p:sp>
        <p:sp>
          <p:nvSpPr>
            <p:cNvPr id="24" name="文本框 23">
              <a:extLst>
                <a:ext uri="{FF2B5EF4-FFF2-40B4-BE49-F238E27FC236}">
                  <a16:creationId xmlns:a16="http://schemas.microsoft.com/office/drawing/2014/main" id="{771EBFE2-9842-897B-0C11-A934B929BDD0}"/>
                </a:ext>
              </a:extLst>
            </p:cNvPr>
            <p:cNvSpPr txBox="1"/>
            <p:nvPr/>
          </p:nvSpPr>
          <p:spPr>
            <a:xfrm>
              <a:off x="4994996" y="2915764"/>
              <a:ext cx="1121723" cy="261610"/>
            </a:xfrm>
            <a:prstGeom prst="rect">
              <a:avLst/>
            </a:prstGeom>
            <a:noFill/>
          </p:spPr>
          <p:txBody>
            <a:bodyPr wrap="square" rtlCol="0">
              <a:spAutoFit/>
            </a:bodyPr>
            <a:lstStyle/>
            <a:p>
              <a:r>
                <a:rPr lang="zh-CN" altLang="en-US" sz="1100" dirty="0"/>
                <a:t>上文</a:t>
              </a:r>
            </a:p>
          </p:txBody>
        </p:sp>
        <p:sp>
          <p:nvSpPr>
            <p:cNvPr id="25" name="文本框 24">
              <a:extLst>
                <a:ext uri="{FF2B5EF4-FFF2-40B4-BE49-F238E27FC236}">
                  <a16:creationId xmlns:a16="http://schemas.microsoft.com/office/drawing/2014/main" id="{591F9035-302C-B47A-6F07-6FF81E3EDDD8}"/>
                </a:ext>
              </a:extLst>
            </p:cNvPr>
            <p:cNvSpPr txBox="1"/>
            <p:nvPr/>
          </p:nvSpPr>
          <p:spPr>
            <a:xfrm>
              <a:off x="4994996" y="3198501"/>
              <a:ext cx="1121723" cy="261610"/>
            </a:xfrm>
            <a:prstGeom prst="rect">
              <a:avLst/>
            </a:prstGeom>
            <a:noFill/>
          </p:spPr>
          <p:txBody>
            <a:bodyPr wrap="square" rtlCol="0">
              <a:spAutoFit/>
            </a:bodyPr>
            <a:lstStyle/>
            <a:p>
              <a:r>
                <a:rPr lang="zh-CN" altLang="en-US" sz="1100" dirty="0"/>
                <a:t>当前句子</a:t>
              </a:r>
            </a:p>
          </p:txBody>
        </p:sp>
        <p:sp>
          <p:nvSpPr>
            <p:cNvPr id="26" name="文本框 25">
              <a:extLst>
                <a:ext uri="{FF2B5EF4-FFF2-40B4-BE49-F238E27FC236}">
                  <a16:creationId xmlns:a16="http://schemas.microsoft.com/office/drawing/2014/main" id="{A792C36A-9D94-6B8E-E174-D2AD84991E22}"/>
                </a:ext>
              </a:extLst>
            </p:cNvPr>
            <p:cNvSpPr txBox="1"/>
            <p:nvPr/>
          </p:nvSpPr>
          <p:spPr>
            <a:xfrm>
              <a:off x="4994996" y="3481175"/>
              <a:ext cx="1121723" cy="261610"/>
            </a:xfrm>
            <a:prstGeom prst="rect">
              <a:avLst/>
            </a:prstGeom>
            <a:noFill/>
          </p:spPr>
          <p:txBody>
            <a:bodyPr wrap="square" rtlCol="0">
              <a:spAutoFit/>
            </a:bodyPr>
            <a:lstStyle/>
            <a:p>
              <a:r>
                <a:rPr lang="zh-CN" altLang="en-US" sz="1100" dirty="0"/>
                <a:t>下文</a:t>
              </a:r>
            </a:p>
          </p:txBody>
        </p:sp>
        <p:sp>
          <p:nvSpPr>
            <p:cNvPr id="27" name="文本框 26">
              <a:extLst>
                <a:ext uri="{FF2B5EF4-FFF2-40B4-BE49-F238E27FC236}">
                  <a16:creationId xmlns:a16="http://schemas.microsoft.com/office/drawing/2014/main" id="{31B4B591-D312-E53B-465D-AC0542CB7893}"/>
                </a:ext>
              </a:extLst>
            </p:cNvPr>
            <p:cNvSpPr txBox="1"/>
            <p:nvPr/>
          </p:nvSpPr>
          <p:spPr>
            <a:xfrm>
              <a:off x="4987083" y="3763849"/>
              <a:ext cx="1380201" cy="261610"/>
            </a:xfrm>
            <a:prstGeom prst="rect">
              <a:avLst/>
            </a:prstGeom>
            <a:noFill/>
          </p:spPr>
          <p:txBody>
            <a:bodyPr wrap="square" rtlCol="0">
              <a:spAutoFit/>
            </a:bodyPr>
            <a:lstStyle/>
            <a:p>
              <a:r>
                <a:rPr lang="zh-CN" altLang="en-US" sz="1100" dirty="0"/>
                <a:t>被预测人历史句子</a:t>
              </a:r>
            </a:p>
          </p:txBody>
        </p:sp>
        <p:sp>
          <p:nvSpPr>
            <p:cNvPr id="28" name="文本框 27">
              <a:extLst>
                <a:ext uri="{FF2B5EF4-FFF2-40B4-BE49-F238E27FC236}">
                  <a16:creationId xmlns:a16="http://schemas.microsoft.com/office/drawing/2014/main" id="{C4F042AE-B3C0-FC40-7009-B5E1D6F2B780}"/>
                </a:ext>
              </a:extLst>
            </p:cNvPr>
            <p:cNvSpPr txBox="1"/>
            <p:nvPr/>
          </p:nvSpPr>
          <p:spPr>
            <a:xfrm>
              <a:off x="4987082" y="4046523"/>
              <a:ext cx="1380201" cy="261610"/>
            </a:xfrm>
            <a:prstGeom prst="rect">
              <a:avLst/>
            </a:prstGeom>
            <a:noFill/>
          </p:spPr>
          <p:txBody>
            <a:bodyPr wrap="square" rtlCol="0">
              <a:spAutoFit/>
            </a:bodyPr>
            <a:lstStyle/>
            <a:p>
              <a:r>
                <a:rPr lang="zh-CN" altLang="en-US" sz="1100" dirty="0"/>
                <a:t>向量拼接</a:t>
              </a:r>
            </a:p>
          </p:txBody>
        </p:sp>
      </p:grpSp>
      <p:sp>
        <p:nvSpPr>
          <p:cNvPr id="7" name="文本框 6">
            <a:extLst>
              <a:ext uri="{FF2B5EF4-FFF2-40B4-BE49-F238E27FC236}">
                <a16:creationId xmlns:a16="http://schemas.microsoft.com/office/drawing/2014/main" id="{89B44C86-69A9-1E5D-D160-2BB88C1639F7}"/>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9</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1879500631"/>
      </p:ext>
    </p:extLst>
  </p:cSld>
  <p:clrMapOvr>
    <a:masterClrMapping/>
  </p:clrMapOvr>
  <p:transition advTm="34667">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438094" y="659141"/>
            <a:ext cx="6012872" cy="405102"/>
          </a:xfrm>
          <a:prstGeom prst="rect">
            <a:avLst/>
          </a:prstGeom>
        </p:spPr>
        <p:txBody>
          <a:bodyPr>
            <a:normAutofit/>
          </a:bodyPr>
          <a:lstStyle/>
          <a:p>
            <a:r>
              <a:rPr lang="en-US" altLang="zh-CN" dirty="0">
                <a:latin typeface="+mn-lt"/>
                <a:ea typeface="+mn-ea"/>
                <a:cs typeface="+mn-ea"/>
                <a:sym typeface="+mn-lt"/>
              </a:rPr>
              <a:t>BERT+MMOE</a:t>
            </a:r>
            <a:endParaRPr lang="zh-CN" altLang="en-US" dirty="0">
              <a:latin typeface="+mn-lt"/>
              <a:ea typeface="+mn-ea"/>
              <a:cs typeface="+mn-ea"/>
              <a:sym typeface="+mn-lt"/>
            </a:endParaRPr>
          </a:p>
        </p:txBody>
      </p:sp>
      <p:grpSp>
        <p:nvGrpSpPr>
          <p:cNvPr id="5" name="组合 4">
            <a:extLst>
              <a:ext uri="{FF2B5EF4-FFF2-40B4-BE49-F238E27FC236}">
                <a16:creationId xmlns:a16="http://schemas.microsoft.com/office/drawing/2014/main" id="{D984725A-A1BC-B69B-DE4A-75A64288B86A}"/>
              </a:ext>
            </a:extLst>
          </p:cNvPr>
          <p:cNvGrpSpPr/>
          <p:nvPr/>
        </p:nvGrpSpPr>
        <p:grpSpPr>
          <a:xfrm>
            <a:off x="673684" y="1476866"/>
            <a:ext cx="10546765" cy="4365962"/>
            <a:chOff x="170154" y="1133585"/>
            <a:chExt cx="11851690" cy="5110019"/>
          </a:xfrm>
        </p:grpSpPr>
        <p:pic>
          <p:nvPicPr>
            <p:cNvPr id="6" name="图片 5">
              <a:extLst>
                <a:ext uri="{FF2B5EF4-FFF2-40B4-BE49-F238E27FC236}">
                  <a16:creationId xmlns:a16="http://schemas.microsoft.com/office/drawing/2014/main" id="{534F1325-5F89-C5C7-3391-01DB493E1C37}"/>
                </a:ext>
              </a:extLst>
            </p:cNvPr>
            <p:cNvPicPr>
              <a:picLocks noChangeAspect="1"/>
            </p:cNvPicPr>
            <p:nvPr/>
          </p:nvPicPr>
          <p:blipFill>
            <a:blip r:embed="rId4"/>
            <a:stretch>
              <a:fillRect/>
            </a:stretch>
          </p:blipFill>
          <p:spPr>
            <a:xfrm>
              <a:off x="170154" y="1133585"/>
              <a:ext cx="11851690" cy="5110019"/>
            </a:xfrm>
            <a:prstGeom prst="rect">
              <a:avLst/>
            </a:prstGeom>
          </p:spPr>
        </p:pic>
        <p:sp>
          <p:nvSpPr>
            <p:cNvPr id="8" name="文本框 7">
              <a:extLst>
                <a:ext uri="{FF2B5EF4-FFF2-40B4-BE49-F238E27FC236}">
                  <a16:creationId xmlns:a16="http://schemas.microsoft.com/office/drawing/2014/main" id="{756F4A35-52B5-6B30-0A07-B356053A1756}"/>
                </a:ext>
              </a:extLst>
            </p:cNvPr>
            <p:cNvSpPr txBox="1"/>
            <p:nvPr/>
          </p:nvSpPr>
          <p:spPr>
            <a:xfrm>
              <a:off x="8276247" y="5307669"/>
              <a:ext cx="1852857" cy="432274"/>
            </a:xfrm>
            <a:prstGeom prst="rect">
              <a:avLst/>
            </a:prstGeom>
            <a:noFill/>
          </p:spPr>
          <p:txBody>
            <a:bodyPr wrap="none" rtlCol="0">
              <a:spAutoFit/>
            </a:bodyPr>
            <a:lstStyle/>
            <a:p>
              <a:r>
                <a:rPr lang="en-US" altLang="zh-CN" dirty="0"/>
                <a:t>BERT+MMOE</a:t>
              </a:r>
              <a:endParaRPr lang="zh-CN" altLang="en-US" dirty="0"/>
            </a:p>
          </p:txBody>
        </p:sp>
        <p:cxnSp>
          <p:nvCxnSpPr>
            <p:cNvPr id="9" name="直接连接符 8">
              <a:extLst>
                <a:ext uri="{FF2B5EF4-FFF2-40B4-BE49-F238E27FC236}">
                  <a16:creationId xmlns:a16="http://schemas.microsoft.com/office/drawing/2014/main" id="{0F99A9C4-CB70-928B-77DA-23991975B572}"/>
                </a:ext>
              </a:extLst>
            </p:cNvPr>
            <p:cNvCxnSpPr>
              <a:cxnSpLocks/>
            </p:cNvCxnSpPr>
            <p:nvPr>
              <p:custDataLst>
                <p:tags r:id="rId1"/>
              </p:custDataLst>
            </p:nvPr>
          </p:nvCxnSpPr>
          <p:spPr>
            <a:xfrm>
              <a:off x="5475124" y="1370842"/>
              <a:ext cx="0" cy="4872762"/>
            </a:xfrm>
            <a:prstGeom prst="line">
              <a:avLst/>
            </a:prstGeom>
            <a:ln>
              <a:solidFill>
                <a:schemeClr val="bg1">
                  <a:lumMod val="50000"/>
                </a:schemeClr>
              </a:solidFill>
            </a:ln>
          </p:spPr>
          <p:style>
            <a:lnRef idx="1">
              <a:schemeClr val="accent3"/>
            </a:lnRef>
            <a:fillRef idx="0">
              <a:schemeClr val="accent3"/>
            </a:fillRef>
            <a:effectRef idx="0">
              <a:schemeClr val="accent3"/>
            </a:effectRef>
            <a:fontRef idx="minor">
              <a:schemeClr val="tx1"/>
            </a:fontRef>
          </p:style>
        </p:cxnSp>
        <p:sp>
          <p:nvSpPr>
            <p:cNvPr id="10" name="文本框 9">
              <a:extLst>
                <a:ext uri="{FF2B5EF4-FFF2-40B4-BE49-F238E27FC236}">
                  <a16:creationId xmlns:a16="http://schemas.microsoft.com/office/drawing/2014/main" id="{F618EF24-FC3B-21AF-C3A3-0C5AEA44BD01}"/>
                </a:ext>
              </a:extLst>
            </p:cNvPr>
            <p:cNvSpPr txBox="1"/>
            <p:nvPr/>
          </p:nvSpPr>
          <p:spPr>
            <a:xfrm>
              <a:off x="1711888" y="5428234"/>
              <a:ext cx="1533299" cy="432274"/>
            </a:xfrm>
            <a:prstGeom prst="rect">
              <a:avLst/>
            </a:prstGeom>
            <a:noFill/>
          </p:spPr>
          <p:txBody>
            <a:bodyPr wrap="none" rtlCol="0">
              <a:spAutoFit/>
            </a:bodyPr>
            <a:lstStyle/>
            <a:p>
              <a:r>
                <a:rPr lang="en-US" altLang="zh-CN" dirty="0"/>
                <a:t>MMOE</a:t>
              </a:r>
              <a:r>
                <a:rPr lang="zh-CN" altLang="en-US" dirty="0"/>
                <a:t>框架</a:t>
              </a:r>
            </a:p>
          </p:txBody>
        </p:sp>
        <p:pic>
          <p:nvPicPr>
            <p:cNvPr id="11" name="图片 10">
              <a:extLst>
                <a:ext uri="{FF2B5EF4-FFF2-40B4-BE49-F238E27FC236}">
                  <a16:creationId xmlns:a16="http://schemas.microsoft.com/office/drawing/2014/main" id="{7719F3C9-62EF-E169-FDB2-2659741F5579}"/>
                </a:ext>
              </a:extLst>
            </p:cNvPr>
            <p:cNvPicPr>
              <a:picLocks noChangeAspect="1"/>
            </p:cNvPicPr>
            <p:nvPr/>
          </p:nvPicPr>
          <p:blipFill>
            <a:blip r:embed="rId5"/>
            <a:stretch>
              <a:fillRect/>
            </a:stretch>
          </p:blipFill>
          <p:spPr>
            <a:xfrm>
              <a:off x="3910196" y="5800087"/>
              <a:ext cx="628571" cy="266667"/>
            </a:xfrm>
            <a:prstGeom prst="rect">
              <a:avLst/>
            </a:prstGeom>
          </p:spPr>
        </p:pic>
        <p:pic>
          <p:nvPicPr>
            <p:cNvPr id="13" name="图片 12">
              <a:extLst>
                <a:ext uri="{FF2B5EF4-FFF2-40B4-BE49-F238E27FC236}">
                  <a16:creationId xmlns:a16="http://schemas.microsoft.com/office/drawing/2014/main" id="{3C89A4DC-E362-325B-CD8F-109D2749F5C5}"/>
                </a:ext>
              </a:extLst>
            </p:cNvPr>
            <p:cNvPicPr>
              <a:picLocks noChangeAspect="1"/>
            </p:cNvPicPr>
            <p:nvPr/>
          </p:nvPicPr>
          <p:blipFill>
            <a:blip r:embed="rId6"/>
            <a:stretch>
              <a:fillRect/>
            </a:stretch>
          </p:blipFill>
          <p:spPr>
            <a:xfrm>
              <a:off x="3810164" y="5727175"/>
              <a:ext cx="1390476" cy="133333"/>
            </a:xfrm>
            <a:prstGeom prst="rect">
              <a:avLst/>
            </a:prstGeom>
          </p:spPr>
        </p:pic>
        <p:sp>
          <p:nvSpPr>
            <p:cNvPr id="14" name="文本框 13">
              <a:extLst>
                <a:ext uri="{FF2B5EF4-FFF2-40B4-BE49-F238E27FC236}">
                  <a16:creationId xmlns:a16="http://schemas.microsoft.com/office/drawing/2014/main" id="{8C131A1E-F831-EBC6-2F2A-A85256B317A5}"/>
                </a:ext>
              </a:extLst>
            </p:cNvPr>
            <p:cNvSpPr txBox="1"/>
            <p:nvPr/>
          </p:nvSpPr>
          <p:spPr>
            <a:xfrm>
              <a:off x="719272" y="5752711"/>
              <a:ext cx="10753453" cy="396251"/>
            </a:xfrm>
            <a:prstGeom prst="rect">
              <a:avLst/>
            </a:prstGeom>
            <a:noFill/>
          </p:spPr>
          <p:txBody>
            <a:bodyPr wrap="square" rtlCol="0">
              <a:spAutoFit/>
            </a:bodyPr>
            <a:lstStyle/>
            <a:p>
              <a:endParaRPr lang="zh-CN" altLang="en-US" sz="1600" b="1" dirty="0"/>
            </a:p>
          </p:txBody>
        </p:sp>
      </p:grpSp>
      <p:pic>
        <p:nvPicPr>
          <p:cNvPr id="2050" name="图片 1">
            <a:extLst>
              <a:ext uri="{FF2B5EF4-FFF2-40B4-BE49-F238E27FC236}">
                <a16:creationId xmlns:a16="http://schemas.microsoft.com/office/drawing/2014/main" id="{75BE0B31-CC10-4B6D-2F77-E42A713252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6641" y="2286291"/>
            <a:ext cx="3244850"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a:extLst>
              <a:ext uri="{FF2B5EF4-FFF2-40B4-BE49-F238E27FC236}">
                <a16:creationId xmlns:a16="http://schemas.microsoft.com/office/drawing/2014/main" id="{B433880C-3E9F-5E4E-7F08-303A241CFCEA}"/>
              </a:ext>
            </a:extLst>
          </p:cNvPr>
          <p:cNvGrpSpPr/>
          <p:nvPr/>
        </p:nvGrpSpPr>
        <p:grpSpPr>
          <a:xfrm>
            <a:off x="5739765" y="2388473"/>
            <a:ext cx="4944143" cy="2477120"/>
            <a:chOff x="5191394" y="1634253"/>
            <a:chExt cx="5410345" cy="3574933"/>
          </a:xfrm>
        </p:grpSpPr>
        <p:grpSp>
          <p:nvGrpSpPr>
            <p:cNvPr id="17" name="组合 16">
              <a:extLst>
                <a:ext uri="{FF2B5EF4-FFF2-40B4-BE49-F238E27FC236}">
                  <a16:creationId xmlns:a16="http://schemas.microsoft.com/office/drawing/2014/main" id="{F658348C-5F60-D2ED-E4BF-D5A8346CF847}"/>
                </a:ext>
              </a:extLst>
            </p:cNvPr>
            <p:cNvGrpSpPr/>
            <p:nvPr/>
          </p:nvGrpSpPr>
          <p:grpSpPr>
            <a:xfrm>
              <a:off x="7195930" y="1634253"/>
              <a:ext cx="3405809" cy="3395136"/>
              <a:chOff x="7010399" y="1991258"/>
              <a:chExt cx="3405809" cy="3395136"/>
            </a:xfrm>
          </p:grpSpPr>
          <p:grpSp>
            <p:nvGrpSpPr>
              <p:cNvPr id="22" name="组合 21">
                <a:extLst>
                  <a:ext uri="{FF2B5EF4-FFF2-40B4-BE49-F238E27FC236}">
                    <a16:creationId xmlns:a16="http://schemas.microsoft.com/office/drawing/2014/main" id="{302D1AB9-8720-F076-B710-C120FFAA9390}"/>
                  </a:ext>
                </a:extLst>
              </p:cNvPr>
              <p:cNvGrpSpPr/>
              <p:nvPr/>
            </p:nvGrpSpPr>
            <p:grpSpPr>
              <a:xfrm>
                <a:off x="7010399" y="1991258"/>
                <a:ext cx="3405809" cy="2911418"/>
                <a:chOff x="6639339" y="1505985"/>
                <a:chExt cx="3405809" cy="2911418"/>
              </a:xfrm>
            </p:grpSpPr>
            <p:sp>
              <p:nvSpPr>
                <p:cNvPr id="35" name="矩形 34">
                  <a:extLst>
                    <a:ext uri="{FF2B5EF4-FFF2-40B4-BE49-F238E27FC236}">
                      <a16:creationId xmlns:a16="http://schemas.microsoft.com/office/drawing/2014/main" id="{CB7C0D95-89EF-26F1-E2AC-3057B566EF3C}"/>
                    </a:ext>
                  </a:extLst>
                </p:cNvPr>
                <p:cNvSpPr/>
                <p:nvPr/>
              </p:nvSpPr>
              <p:spPr>
                <a:xfrm>
                  <a:off x="6639339" y="3704642"/>
                  <a:ext cx="3405809" cy="712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BERT</a:t>
                  </a:r>
                  <a:endParaRPr lang="zh-CN" altLang="en-US" dirty="0">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DC72E6F7-1640-1A7F-6929-7FCAB3A71ECF}"/>
                    </a:ext>
                  </a:extLst>
                </p:cNvPr>
                <p:cNvSpPr/>
                <p:nvPr/>
              </p:nvSpPr>
              <p:spPr>
                <a:xfrm>
                  <a:off x="7918891" y="3427245"/>
                  <a:ext cx="826827" cy="21534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37" name="矩形 36">
                  <a:extLst>
                    <a:ext uri="{FF2B5EF4-FFF2-40B4-BE49-F238E27FC236}">
                      <a16:creationId xmlns:a16="http://schemas.microsoft.com/office/drawing/2014/main" id="{0F666970-491F-1F9C-6F25-1C554E4593D1}"/>
                    </a:ext>
                  </a:extLst>
                </p:cNvPr>
                <p:cNvSpPr/>
                <p:nvPr/>
              </p:nvSpPr>
              <p:spPr>
                <a:xfrm>
                  <a:off x="7401337" y="2505019"/>
                  <a:ext cx="1881809" cy="5041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MMOE</a:t>
                  </a:r>
                  <a:endParaRPr lang="zh-CN" altLang="en-US" dirty="0">
                    <a:latin typeface="Times New Roman" panose="02020603050405020304" pitchFamily="18" charset="0"/>
                    <a:cs typeface="Times New Roman" panose="02020603050405020304" pitchFamily="18" charset="0"/>
                  </a:endParaRPr>
                </a:p>
              </p:txBody>
            </p:sp>
            <p:sp>
              <p:nvSpPr>
                <p:cNvPr id="38" name="矩形 37">
                  <a:extLst>
                    <a:ext uri="{FF2B5EF4-FFF2-40B4-BE49-F238E27FC236}">
                      <a16:creationId xmlns:a16="http://schemas.microsoft.com/office/drawing/2014/main" id="{12C0CE7C-C1E7-0479-716A-6D00A993C978}"/>
                    </a:ext>
                  </a:extLst>
                </p:cNvPr>
                <p:cNvSpPr/>
                <p:nvPr/>
              </p:nvSpPr>
              <p:spPr>
                <a:xfrm>
                  <a:off x="7043524" y="1505985"/>
                  <a:ext cx="2557670" cy="549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output</a:t>
                  </a:r>
                  <a:endParaRPr lang="zh-CN" altLang="en-US" dirty="0">
                    <a:latin typeface="Times New Roman" panose="02020603050405020304" pitchFamily="18" charset="0"/>
                    <a:cs typeface="Times New Roman" panose="02020603050405020304" pitchFamily="18" charset="0"/>
                  </a:endParaRPr>
                </a:p>
              </p:txBody>
            </p:sp>
            <p:sp>
              <p:nvSpPr>
                <p:cNvPr id="39" name="箭头: 上 38">
                  <a:extLst>
                    <a:ext uri="{FF2B5EF4-FFF2-40B4-BE49-F238E27FC236}">
                      <a16:creationId xmlns:a16="http://schemas.microsoft.com/office/drawing/2014/main" id="{9DDF3010-A716-21A0-682E-55CEE8E4282F}"/>
                    </a:ext>
                  </a:extLst>
                </p:cNvPr>
                <p:cNvSpPr/>
                <p:nvPr/>
              </p:nvSpPr>
              <p:spPr>
                <a:xfrm>
                  <a:off x="8266043" y="3061725"/>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箭头: 上 39">
                  <a:extLst>
                    <a:ext uri="{FF2B5EF4-FFF2-40B4-BE49-F238E27FC236}">
                      <a16:creationId xmlns:a16="http://schemas.microsoft.com/office/drawing/2014/main" id="{ED3ABE3A-78D2-9DF8-065A-BCD264093811}"/>
                    </a:ext>
                  </a:extLst>
                </p:cNvPr>
                <p:cNvSpPr/>
                <p:nvPr/>
              </p:nvSpPr>
              <p:spPr>
                <a:xfrm>
                  <a:off x="8246160" y="2152044"/>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84FB728F-8029-A213-4643-406DA0E75B02}"/>
                  </a:ext>
                </a:extLst>
              </p:cNvPr>
              <p:cNvGrpSpPr/>
              <p:nvPr/>
            </p:nvGrpSpPr>
            <p:grpSpPr>
              <a:xfrm>
                <a:off x="7010399" y="5273750"/>
                <a:ext cx="974038" cy="109333"/>
                <a:chOff x="6977271" y="5360504"/>
                <a:chExt cx="974038" cy="109333"/>
              </a:xfrm>
            </p:grpSpPr>
            <p:sp>
              <p:nvSpPr>
                <p:cNvPr id="32" name="矩形 31">
                  <a:extLst>
                    <a:ext uri="{FF2B5EF4-FFF2-40B4-BE49-F238E27FC236}">
                      <a16:creationId xmlns:a16="http://schemas.microsoft.com/office/drawing/2014/main" id="{BA725292-A182-D069-4DEA-F0C6D12A12CD}"/>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565FD953-898F-E812-4759-D4A0BEB95187}"/>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45888761-4653-3637-6554-94A3188F8EAB}"/>
                    </a:ext>
                  </a:extLst>
                </p:cNvPr>
                <p:cNvSpPr/>
                <p:nvPr/>
              </p:nvSpPr>
              <p:spPr>
                <a:xfrm>
                  <a:off x="7620005" y="5363819"/>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24" name="组合 23">
                <a:extLst>
                  <a:ext uri="{FF2B5EF4-FFF2-40B4-BE49-F238E27FC236}">
                    <a16:creationId xmlns:a16="http://schemas.microsoft.com/office/drawing/2014/main" id="{86A5176E-37ED-CCEC-471B-7A3BD9651C31}"/>
                  </a:ext>
                </a:extLst>
              </p:cNvPr>
              <p:cNvGrpSpPr/>
              <p:nvPr/>
            </p:nvGrpSpPr>
            <p:grpSpPr>
              <a:xfrm>
                <a:off x="8209718" y="5280374"/>
                <a:ext cx="974038" cy="106020"/>
                <a:chOff x="6977271" y="5360504"/>
                <a:chExt cx="974038" cy="106020"/>
              </a:xfrm>
            </p:grpSpPr>
            <p:sp>
              <p:nvSpPr>
                <p:cNvPr id="29" name="矩形 28">
                  <a:extLst>
                    <a:ext uri="{FF2B5EF4-FFF2-40B4-BE49-F238E27FC236}">
                      <a16:creationId xmlns:a16="http://schemas.microsoft.com/office/drawing/2014/main" id="{88F0B403-3C6D-C092-81F9-3DB88A87F599}"/>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3932D72E-227C-86DD-0E75-3FA3B971D818}"/>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5AAF864-CA48-CB27-A779-A181C39CB1C3}"/>
                    </a:ext>
                  </a:extLst>
                </p:cNvPr>
                <p:cNvSpPr/>
                <p:nvPr/>
              </p:nvSpPr>
              <p:spPr>
                <a:xfrm>
                  <a:off x="7620005" y="5360504"/>
                  <a:ext cx="331304" cy="9939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grpSp>
            <p:nvGrpSpPr>
              <p:cNvPr id="25" name="组合 24">
                <a:extLst>
                  <a:ext uri="{FF2B5EF4-FFF2-40B4-BE49-F238E27FC236}">
                    <a16:creationId xmlns:a16="http://schemas.microsoft.com/office/drawing/2014/main" id="{17CBC621-AF0C-AAE3-F121-7753A5D5F329}"/>
                  </a:ext>
                </a:extLst>
              </p:cNvPr>
              <p:cNvGrpSpPr/>
              <p:nvPr/>
            </p:nvGrpSpPr>
            <p:grpSpPr>
              <a:xfrm>
                <a:off x="9442170" y="5266507"/>
                <a:ext cx="974038" cy="109333"/>
                <a:chOff x="6977271" y="5360504"/>
                <a:chExt cx="974038" cy="109333"/>
              </a:xfrm>
            </p:grpSpPr>
            <p:sp>
              <p:nvSpPr>
                <p:cNvPr id="26" name="矩形 25">
                  <a:extLst>
                    <a:ext uri="{FF2B5EF4-FFF2-40B4-BE49-F238E27FC236}">
                      <a16:creationId xmlns:a16="http://schemas.microsoft.com/office/drawing/2014/main" id="{2AB31D5C-971B-CA60-CAE2-423D362510DC}"/>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8BDBE302-8942-5ECA-A802-72C91D105852}"/>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BEE7DE82-96CA-9184-7B5B-C5467BD38D53}"/>
                    </a:ext>
                  </a:extLst>
                </p:cNvPr>
                <p:cNvSpPr/>
                <p:nvPr/>
              </p:nvSpPr>
              <p:spPr>
                <a:xfrm>
                  <a:off x="7620005" y="5360504"/>
                  <a:ext cx="331304" cy="10933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grpSp>
        <p:sp>
          <p:nvSpPr>
            <p:cNvPr id="18" name="文本框 17">
              <a:extLst>
                <a:ext uri="{FF2B5EF4-FFF2-40B4-BE49-F238E27FC236}">
                  <a16:creationId xmlns:a16="http://schemas.microsoft.com/office/drawing/2014/main" id="{DEAE3A35-0214-56DF-25BF-2BD8A75FE2B1}"/>
                </a:ext>
              </a:extLst>
            </p:cNvPr>
            <p:cNvSpPr txBox="1"/>
            <p:nvPr/>
          </p:nvSpPr>
          <p:spPr>
            <a:xfrm>
              <a:off x="5191394" y="4765008"/>
              <a:ext cx="1809212" cy="444178"/>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输入层</a:t>
              </a:r>
            </a:p>
          </p:txBody>
        </p:sp>
        <p:sp>
          <p:nvSpPr>
            <p:cNvPr id="19" name="文本框 18">
              <a:extLst>
                <a:ext uri="{FF2B5EF4-FFF2-40B4-BE49-F238E27FC236}">
                  <a16:creationId xmlns:a16="http://schemas.microsoft.com/office/drawing/2014/main" id="{06F5E6F9-618C-BD3D-852D-BDD053CEA68A}"/>
                </a:ext>
              </a:extLst>
            </p:cNvPr>
            <p:cNvSpPr txBox="1"/>
            <p:nvPr/>
          </p:nvSpPr>
          <p:spPr>
            <a:xfrm>
              <a:off x="5191394" y="2754574"/>
              <a:ext cx="1809212" cy="444178"/>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MMOE</a:t>
              </a:r>
              <a:endParaRPr lang="zh-CN" altLang="en-US" sz="10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A63F983B-D7BB-6D3C-975C-30DC6230AE80}"/>
                </a:ext>
              </a:extLst>
            </p:cNvPr>
            <p:cNvSpPr txBox="1"/>
            <p:nvPr/>
          </p:nvSpPr>
          <p:spPr>
            <a:xfrm>
              <a:off x="5191394" y="1778430"/>
              <a:ext cx="1809212" cy="444178"/>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输出预测层</a:t>
              </a:r>
            </a:p>
          </p:txBody>
        </p:sp>
        <p:sp>
          <p:nvSpPr>
            <p:cNvPr id="21" name="文本框 20">
              <a:extLst>
                <a:ext uri="{FF2B5EF4-FFF2-40B4-BE49-F238E27FC236}">
                  <a16:creationId xmlns:a16="http://schemas.microsoft.com/office/drawing/2014/main" id="{41E6493C-29A4-0A42-3D70-1282C37FB33C}"/>
                </a:ext>
              </a:extLst>
            </p:cNvPr>
            <p:cNvSpPr txBox="1"/>
            <p:nvPr/>
          </p:nvSpPr>
          <p:spPr>
            <a:xfrm>
              <a:off x="5191394" y="4003121"/>
              <a:ext cx="1809212" cy="444178"/>
            </a:xfrm>
            <a:prstGeom prst="rect">
              <a:avLst/>
            </a:prstGeom>
            <a:noFill/>
          </p:spPr>
          <p:txBody>
            <a:bodyPr wrap="square" rtlCol="0">
              <a:spAutoFit/>
            </a:bodyPr>
            <a:lstStyle/>
            <a:p>
              <a:pPr algn="ctr"/>
              <a:r>
                <a:rPr lang="en-US" altLang="zh-CN" sz="1400" dirty="0">
                  <a:latin typeface="宋体" panose="02010600030101010101" pitchFamily="2" charset="-122"/>
                  <a:ea typeface="宋体" panose="02010600030101010101" pitchFamily="2" charset="-122"/>
                </a:rPr>
                <a:t>BERT</a:t>
              </a:r>
              <a:r>
                <a:rPr lang="zh-CN" altLang="en-US" sz="1400" dirty="0">
                  <a:latin typeface="宋体" panose="02010600030101010101" pitchFamily="2" charset="-122"/>
                  <a:ea typeface="宋体" panose="02010600030101010101" pitchFamily="2" charset="-122"/>
                </a:rPr>
                <a:t>编码层</a:t>
              </a:r>
            </a:p>
          </p:txBody>
        </p:sp>
      </p:grpSp>
      <p:pic>
        <p:nvPicPr>
          <p:cNvPr id="42" name="Picture 2">
            <a:extLst>
              <a:ext uri="{FF2B5EF4-FFF2-40B4-BE49-F238E27FC236}">
                <a16:creationId xmlns:a16="http://schemas.microsoft.com/office/drawing/2014/main" id="{4D8441EA-7DD9-7477-9BD4-C04A4FDF1E16}"/>
              </a:ext>
            </a:extLst>
          </p:cNvPr>
          <p:cNvPicPr>
            <a:picLocks noChangeAspect="1" noChangeArrowheads="1"/>
          </p:cNvPicPr>
          <p:nvPr/>
        </p:nvPicPr>
        <p:blipFill>
          <a:blip r:embed="rId8" cstate="print"/>
          <a:srcRect/>
          <a:stretch>
            <a:fillRect/>
          </a:stretch>
        </p:blipFill>
        <p:spPr bwMode="auto">
          <a:xfrm>
            <a:off x="11199129" y="360619"/>
            <a:ext cx="576050" cy="606937"/>
          </a:xfrm>
          <a:prstGeom prst="rect">
            <a:avLst/>
          </a:prstGeom>
          <a:ln>
            <a:noFill/>
          </a:ln>
          <a:effectLst/>
        </p:spPr>
      </p:pic>
      <p:sp>
        <p:nvSpPr>
          <p:cNvPr id="3" name="文本框 2">
            <a:extLst>
              <a:ext uri="{FF2B5EF4-FFF2-40B4-BE49-F238E27FC236}">
                <a16:creationId xmlns:a16="http://schemas.microsoft.com/office/drawing/2014/main" id="{C9023D0E-8E96-A37D-031F-6A22080C4DB2}"/>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10</a:t>
            </a:fld>
            <a:endParaRPr lang="zh-CN" altLang="en-US" sz="1400" dirty="0">
              <a:solidFill>
                <a:srgbClr val="0070C0"/>
              </a:solidFill>
              <a:ea typeface="印品黑体" panose="00000500000000000000" pitchFamily="2" charset="-122"/>
            </a:endParaRPr>
          </a:p>
        </p:txBody>
      </p:sp>
      <p:sp>
        <p:nvSpPr>
          <p:cNvPr id="7" name="文本框 6">
            <a:extLst>
              <a:ext uri="{FF2B5EF4-FFF2-40B4-BE49-F238E27FC236}">
                <a16:creationId xmlns:a16="http://schemas.microsoft.com/office/drawing/2014/main" id="{DEC5B99C-E081-ED03-5781-AD9090110CA6}"/>
              </a:ext>
            </a:extLst>
          </p:cNvPr>
          <p:cNvSpPr txBox="1"/>
          <p:nvPr/>
        </p:nvSpPr>
        <p:spPr>
          <a:xfrm>
            <a:off x="878270" y="5924939"/>
            <a:ext cx="10753453" cy="338554"/>
          </a:xfrm>
          <a:prstGeom prst="rect">
            <a:avLst/>
          </a:prstGeom>
          <a:noFill/>
        </p:spPr>
        <p:txBody>
          <a:bodyPr wrap="square" rtlCol="0">
            <a:spAutoFit/>
          </a:bodyPr>
          <a:lstStyle/>
          <a:p>
            <a:r>
              <a:rPr lang="zh-CN" altLang="en-US" sz="1600" b="1" dirty="0"/>
              <a:t>优点：任务间共享专家网络权重，使用门控网络获得每个专家提供的信息比例，能有效获取角色情感之间的关联信息。</a:t>
            </a:r>
          </a:p>
        </p:txBody>
      </p:sp>
    </p:spTree>
    <p:extLst>
      <p:ext uri="{BB962C8B-B14F-4D97-AF65-F5344CB8AC3E}">
        <p14:creationId xmlns:p14="http://schemas.microsoft.com/office/powerpoint/2010/main" val="2068019374"/>
      </p:ext>
    </p:extLst>
  </p:cSld>
  <p:clrMapOvr>
    <a:masterClrMapping/>
  </p:clrMapOvr>
  <p:transition advTm="23781">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438094" y="659141"/>
            <a:ext cx="6012872" cy="405102"/>
          </a:xfrm>
          <a:prstGeom prst="rect">
            <a:avLst/>
          </a:prstGeom>
        </p:spPr>
        <p:txBody>
          <a:bodyPr>
            <a:normAutofit/>
          </a:bodyPr>
          <a:lstStyle/>
          <a:p>
            <a:r>
              <a:rPr lang="en-US" altLang="zh-CN" dirty="0">
                <a:latin typeface="+mn-lt"/>
                <a:ea typeface="+mn-ea"/>
                <a:cs typeface="+mn-ea"/>
                <a:sym typeface="+mn-lt"/>
              </a:rPr>
              <a:t>BERT+AT-LSTM</a:t>
            </a:r>
            <a:endParaRPr lang="zh-CN" altLang="en-US" dirty="0">
              <a:latin typeface="+mn-lt"/>
              <a:ea typeface="+mn-ea"/>
              <a:cs typeface="+mn-ea"/>
              <a:sym typeface="+mn-lt"/>
            </a:endParaRPr>
          </a:p>
        </p:txBody>
      </p:sp>
      <p:pic>
        <p:nvPicPr>
          <p:cNvPr id="2" name="图片 1">
            <a:extLst>
              <a:ext uri="{FF2B5EF4-FFF2-40B4-BE49-F238E27FC236}">
                <a16:creationId xmlns:a16="http://schemas.microsoft.com/office/drawing/2014/main" id="{0E3A2E45-97FA-7645-543F-1EA455B9935E}"/>
              </a:ext>
            </a:extLst>
          </p:cNvPr>
          <p:cNvPicPr>
            <a:picLocks noChangeAspect="1"/>
          </p:cNvPicPr>
          <p:nvPr/>
        </p:nvPicPr>
        <p:blipFill>
          <a:blip r:embed="rId3"/>
          <a:stretch>
            <a:fillRect/>
          </a:stretch>
        </p:blipFill>
        <p:spPr>
          <a:xfrm>
            <a:off x="574867" y="2205338"/>
            <a:ext cx="5603205" cy="2447323"/>
          </a:xfrm>
          <a:prstGeom prst="rect">
            <a:avLst/>
          </a:prstGeom>
        </p:spPr>
      </p:pic>
      <p:cxnSp>
        <p:nvCxnSpPr>
          <p:cNvPr id="5" name="直接连接符 4">
            <a:extLst>
              <a:ext uri="{FF2B5EF4-FFF2-40B4-BE49-F238E27FC236}">
                <a16:creationId xmlns:a16="http://schemas.microsoft.com/office/drawing/2014/main" id="{10B37707-D1A7-0089-4A97-76E8950DF869}"/>
              </a:ext>
            </a:extLst>
          </p:cNvPr>
          <p:cNvCxnSpPr>
            <a:cxnSpLocks/>
          </p:cNvCxnSpPr>
          <p:nvPr/>
        </p:nvCxnSpPr>
        <p:spPr>
          <a:xfrm>
            <a:off x="6381749" y="1113098"/>
            <a:ext cx="0" cy="4522873"/>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633F08DB-FF4B-D315-B5FF-AC27D38D3FEB}"/>
              </a:ext>
            </a:extLst>
          </p:cNvPr>
          <p:cNvGrpSpPr/>
          <p:nvPr/>
        </p:nvGrpSpPr>
        <p:grpSpPr>
          <a:xfrm>
            <a:off x="6766380" y="1978205"/>
            <a:ext cx="4736448" cy="2850002"/>
            <a:chOff x="5189268" y="1634253"/>
            <a:chExt cx="5412471" cy="3586642"/>
          </a:xfrm>
        </p:grpSpPr>
        <p:grpSp>
          <p:nvGrpSpPr>
            <p:cNvPr id="7" name="组合 6">
              <a:extLst>
                <a:ext uri="{FF2B5EF4-FFF2-40B4-BE49-F238E27FC236}">
                  <a16:creationId xmlns:a16="http://schemas.microsoft.com/office/drawing/2014/main" id="{B18CD4B5-C651-CA67-C8E0-E99DB8869198}"/>
                </a:ext>
              </a:extLst>
            </p:cNvPr>
            <p:cNvGrpSpPr/>
            <p:nvPr/>
          </p:nvGrpSpPr>
          <p:grpSpPr>
            <a:xfrm>
              <a:off x="7195930" y="1634253"/>
              <a:ext cx="3405809" cy="3395136"/>
              <a:chOff x="7010399" y="1991258"/>
              <a:chExt cx="3405809" cy="3395136"/>
            </a:xfrm>
          </p:grpSpPr>
          <p:grpSp>
            <p:nvGrpSpPr>
              <p:cNvPr id="12" name="组合 11">
                <a:extLst>
                  <a:ext uri="{FF2B5EF4-FFF2-40B4-BE49-F238E27FC236}">
                    <a16:creationId xmlns:a16="http://schemas.microsoft.com/office/drawing/2014/main" id="{6C63728D-7387-C58D-F81F-C5D0CA62A325}"/>
                  </a:ext>
                </a:extLst>
              </p:cNvPr>
              <p:cNvGrpSpPr/>
              <p:nvPr/>
            </p:nvGrpSpPr>
            <p:grpSpPr>
              <a:xfrm>
                <a:off x="7010399" y="1991258"/>
                <a:ext cx="3405809" cy="2911418"/>
                <a:chOff x="6639339" y="1505985"/>
                <a:chExt cx="3405809" cy="2911418"/>
              </a:xfrm>
            </p:grpSpPr>
            <p:sp>
              <p:nvSpPr>
                <p:cNvPr id="25" name="矩形 24">
                  <a:extLst>
                    <a:ext uri="{FF2B5EF4-FFF2-40B4-BE49-F238E27FC236}">
                      <a16:creationId xmlns:a16="http://schemas.microsoft.com/office/drawing/2014/main" id="{7A430EF1-329B-2E1E-017E-80D568BFBE31}"/>
                    </a:ext>
                  </a:extLst>
                </p:cNvPr>
                <p:cNvSpPr/>
                <p:nvPr/>
              </p:nvSpPr>
              <p:spPr>
                <a:xfrm>
                  <a:off x="6639339" y="3704642"/>
                  <a:ext cx="3405809" cy="712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BERT</a:t>
                  </a:r>
                  <a:endParaRPr lang="zh-CN" altLang="en-US" dirty="0">
                    <a:latin typeface="Times New Roman" panose="02020603050405020304" pitchFamily="18" charset="0"/>
                    <a:cs typeface="Times New Roman" panose="02020603050405020304" pitchFamily="18" charset="0"/>
                  </a:endParaRPr>
                </a:p>
              </p:txBody>
            </p:sp>
            <p:sp>
              <p:nvSpPr>
                <p:cNvPr id="26" name="矩形 25">
                  <a:extLst>
                    <a:ext uri="{FF2B5EF4-FFF2-40B4-BE49-F238E27FC236}">
                      <a16:creationId xmlns:a16="http://schemas.microsoft.com/office/drawing/2014/main" id="{E13DD5B9-7078-2325-4C11-1E711056EC4B}"/>
                    </a:ext>
                  </a:extLst>
                </p:cNvPr>
                <p:cNvSpPr/>
                <p:nvPr/>
              </p:nvSpPr>
              <p:spPr>
                <a:xfrm>
                  <a:off x="7918891" y="3427245"/>
                  <a:ext cx="826827" cy="21534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27" name="矩形 26">
                  <a:extLst>
                    <a:ext uri="{FF2B5EF4-FFF2-40B4-BE49-F238E27FC236}">
                      <a16:creationId xmlns:a16="http://schemas.microsoft.com/office/drawing/2014/main" id="{B032B7D9-7327-AAF1-3162-6DF65D070597}"/>
                    </a:ext>
                  </a:extLst>
                </p:cNvPr>
                <p:cNvSpPr/>
                <p:nvPr/>
              </p:nvSpPr>
              <p:spPr>
                <a:xfrm>
                  <a:off x="7401337" y="2505019"/>
                  <a:ext cx="1881809" cy="5041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AT-LSTM</a:t>
                  </a:r>
                  <a:endParaRPr lang="zh-CN" altLang="en-US" dirty="0">
                    <a:latin typeface="Times New Roman" panose="02020603050405020304" pitchFamily="18" charset="0"/>
                    <a:cs typeface="Times New Roman" panose="02020603050405020304" pitchFamily="18" charset="0"/>
                  </a:endParaRPr>
                </a:p>
              </p:txBody>
            </p:sp>
            <p:sp>
              <p:nvSpPr>
                <p:cNvPr id="28" name="矩形 27">
                  <a:extLst>
                    <a:ext uri="{FF2B5EF4-FFF2-40B4-BE49-F238E27FC236}">
                      <a16:creationId xmlns:a16="http://schemas.microsoft.com/office/drawing/2014/main" id="{5244F028-42BA-0B9C-8EBB-BE530ED8C504}"/>
                    </a:ext>
                  </a:extLst>
                </p:cNvPr>
                <p:cNvSpPr/>
                <p:nvPr/>
              </p:nvSpPr>
              <p:spPr>
                <a:xfrm>
                  <a:off x="7043524" y="1505985"/>
                  <a:ext cx="2557670" cy="549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output</a:t>
                  </a:r>
                  <a:endParaRPr lang="zh-CN" altLang="en-US" dirty="0">
                    <a:latin typeface="Times New Roman" panose="02020603050405020304" pitchFamily="18" charset="0"/>
                    <a:cs typeface="Times New Roman" panose="02020603050405020304" pitchFamily="18" charset="0"/>
                  </a:endParaRPr>
                </a:p>
              </p:txBody>
            </p:sp>
            <p:sp>
              <p:nvSpPr>
                <p:cNvPr id="29" name="箭头: 上 28">
                  <a:extLst>
                    <a:ext uri="{FF2B5EF4-FFF2-40B4-BE49-F238E27FC236}">
                      <a16:creationId xmlns:a16="http://schemas.microsoft.com/office/drawing/2014/main" id="{94BA3F04-2B67-8D35-4923-7890BA5E672F}"/>
                    </a:ext>
                  </a:extLst>
                </p:cNvPr>
                <p:cNvSpPr/>
                <p:nvPr/>
              </p:nvSpPr>
              <p:spPr>
                <a:xfrm>
                  <a:off x="8266043" y="3061725"/>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上 29">
                  <a:extLst>
                    <a:ext uri="{FF2B5EF4-FFF2-40B4-BE49-F238E27FC236}">
                      <a16:creationId xmlns:a16="http://schemas.microsoft.com/office/drawing/2014/main" id="{642AC05B-887F-6380-5977-88856E159F3B}"/>
                    </a:ext>
                  </a:extLst>
                </p:cNvPr>
                <p:cNvSpPr/>
                <p:nvPr/>
              </p:nvSpPr>
              <p:spPr>
                <a:xfrm>
                  <a:off x="8246160" y="2152044"/>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a:extLst>
                  <a:ext uri="{FF2B5EF4-FFF2-40B4-BE49-F238E27FC236}">
                    <a16:creationId xmlns:a16="http://schemas.microsoft.com/office/drawing/2014/main" id="{CF5E8915-9025-E564-B7A7-C64586DF5451}"/>
                  </a:ext>
                </a:extLst>
              </p:cNvPr>
              <p:cNvGrpSpPr/>
              <p:nvPr/>
            </p:nvGrpSpPr>
            <p:grpSpPr>
              <a:xfrm>
                <a:off x="7010399" y="5273750"/>
                <a:ext cx="974038" cy="109333"/>
                <a:chOff x="6977271" y="5360504"/>
                <a:chExt cx="974038" cy="109333"/>
              </a:xfrm>
            </p:grpSpPr>
            <p:sp>
              <p:nvSpPr>
                <p:cNvPr id="22" name="矩形 21">
                  <a:extLst>
                    <a:ext uri="{FF2B5EF4-FFF2-40B4-BE49-F238E27FC236}">
                      <a16:creationId xmlns:a16="http://schemas.microsoft.com/office/drawing/2014/main" id="{F044AC32-EEF0-8430-A990-945451FCDF1F}"/>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67F3DEE-3784-EB6D-1D58-AB307ABC97F7}"/>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44C9516-1BBB-DD4E-0608-3C4D4B189DE0}"/>
                    </a:ext>
                  </a:extLst>
                </p:cNvPr>
                <p:cNvSpPr/>
                <p:nvPr/>
              </p:nvSpPr>
              <p:spPr>
                <a:xfrm>
                  <a:off x="7620005" y="5363819"/>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14" name="组合 13">
                <a:extLst>
                  <a:ext uri="{FF2B5EF4-FFF2-40B4-BE49-F238E27FC236}">
                    <a16:creationId xmlns:a16="http://schemas.microsoft.com/office/drawing/2014/main" id="{3CE67F80-CD8F-72D4-FAA7-C9B9E1B52D1A}"/>
                  </a:ext>
                </a:extLst>
              </p:cNvPr>
              <p:cNvGrpSpPr/>
              <p:nvPr/>
            </p:nvGrpSpPr>
            <p:grpSpPr>
              <a:xfrm>
                <a:off x="8209718" y="5280374"/>
                <a:ext cx="974038" cy="106020"/>
                <a:chOff x="6977271" y="5360504"/>
                <a:chExt cx="974038" cy="106020"/>
              </a:xfrm>
            </p:grpSpPr>
            <p:sp>
              <p:nvSpPr>
                <p:cNvPr id="19" name="矩形 18">
                  <a:extLst>
                    <a:ext uri="{FF2B5EF4-FFF2-40B4-BE49-F238E27FC236}">
                      <a16:creationId xmlns:a16="http://schemas.microsoft.com/office/drawing/2014/main" id="{4B7D540A-479D-92D8-273A-ED8FE13D749C}"/>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9D5691D-4371-F25F-E965-17A5F5FD6DF6}"/>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7D5ECD4-C8C7-5E00-4BDD-303FA88C38F4}"/>
                    </a:ext>
                  </a:extLst>
                </p:cNvPr>
                <p:cNvSpPr/>
                <p:nvPr/>
              </p:nvSpPr>
              <p:spPr>
                <a:xfrm>
                  <a:off x="7620005" y="5360504"/>
                  <a:ext cx="331304" cy="9939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A4CF46FB-C7F6-F764-DDE1-D63848A44398}"/>
                  </a:ext>
                </a:extLst>
              </p:cNvPr>
              <p:cNvGrpSpPr/>
              <p:nvPr/>
            </p:nvGrpSpPr>
            <p:grpSpPr>
              <a:xfrm>
                <a:off x="9442170" y="5266507"/>
                <a:ext cx="974038" cy="109333"/>
                <a:chOff x="6977271" y="5360504"/>
                <a:chExt cx="974038" cy="109333"/>
              </a:xfrm>
            </p:grpSpPr>
            <p:sp>
              <p:nvSpPr>
                <p:cNvPr id="16" name="矩形 15">
                  <a:extLst>
                    <a:ext uri="{FF2B5EF4-FFF2-40B4-BE49-F238E27FC236}">
                      <a16:creationId xmlns:a16="http://schemas.microsoft.com/office/drawing/2014/main" id="{624A16AA-66E3-18B0-EB88-A02A7DFAAD19}"/>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83B76A5E-47D7-4CBE-1A64-3548254382FA}"/>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034D0D90-E0EB-FB5B-7188-0A6C0D2024D7}"/>
                    </a:ext>
                  </a:extLst>
                </p:cNvPr>
                <p:cNvSpPr/>
                <p:nvPr/>
              </p:nvSpPr>
              <p:spPr>
                <a:xfrm>
                  <a:off x="7620005" y="5360504"/>
                  <a:ext cx="331304" cy="10933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grpSp>
        <p:sp>
          <p:nvSpPr>
            <p:cNvPr id="8" name="文本框 7">
              <a:extLst>
                <a:ext uri="{FF2B5EF4-FFF2-40B4-BE49-F238E27FC236}">
                  <a16:creationId xmlns:a16="http://schemas.microsoft.com/office/drawing/2014/main" id="{D2497A36-D7FE-E612-2D40-0CE5DEDD3ED6}"/>
                </a:ext>
              </a:extLst>
            </p:cNvPr>
            <p:cNvSpPr txBox="1"/>
            <p:nvPr/>
          </p:nvSpPr>
          <p:spPr>
            <a:xfrm>
              <a:off x="5189269" y="4810144"/>
              <a:ext cx="1809211" cy="410751"/>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输入层</a:t>
              </a:r>
            </a:p>
          </p:txBody>
        </p:sp>
        <p:sp>
          <p:nvSpPr>
            <p:cNvPr id="9" name="文本框 8">
              <a:extLst>
                <a:ext uri="{FF2B5EF4-FFF2-40B4-BE49-F238E27FC236}">
                  <a16:creationId xmlns:a16="http://schemas.microsoft.com/office/drawing/2014/main" id="{E4AE426A-1D0C-95A6-5681-96CAD1A23816}"/>
                </a:ext>
              </a:extLst>
            </p:cNvPr>
            <p:cNvSpPr txBox="1"/>
            <p:nvPr/>
          </p:nvSpPr>
          <p:spPr>
            <a:xfrm>
              <a:off x="5189268" y="2685078"/>
              <a:ext cx="1809212" cy="410751"/>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AT-LSTM</a:t>
              </a:r>
              <a:endParaRPr lang="zh-CN" altLang="en-US" sz="9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DCAEE6BF-BE4B-A490-DD47-C3498876992B}"/>
                </a:ext>
              </a:extLst>
            </p:cNvPr>
            <p:cNvSpPr txBox="1"/>
            <p:nvPr/>
          </p:nvSpPr>
          <p:spPr>
            <a:xfrm>
              <a:off x="5189268" y="1721303"/>
              <a:ext cx="1809212" cy="410751"/>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输出预测层</a:t>
              </a:r>
            </a:p>
          </p:txBody>
        </p:sp>
        <p:sp>
          <p:nvSpPr>
            <p:cNvPr id="11" name="文本框 10">
              <a:extLst>
                <a:ext uri="{FF2B5EF4-FFF2-40B4-BE49-F238E27FC236}">
                  <a16:creationId xmlns:a16="http://schemas.microsoft.com/office/drawing/2014/main" id="{100DD074-1805-36A3-762A-73B1C87F8790}"/>
                </a:ext>
              </a:extLst>
            </p:cNvPr>
            <p:cNvSpPr txBox="1"/>
            <p:nvPr/>
          </p:nvSpPr>
          <p:spPr>
            <a:xfrm>
              <a:off x="5189268" y="3983913"/>
              <a:ext cx="1809212" cy="410751"/>
            </a:xfrm>
            <a:prstGeom prst="rect">
              <a:avLst/>
            </a:prstGeom>
            <a:noFill/>
          </p:spPr>
          <p:txBody>
            <a:bodyPr wrap="square" rtlCol="0">
              <a:spAutoFit/>
            </a:bodyPr>
            <a:lstStyle/>
            <a:p>
              <a:pPr algn="ctr"/>
              <a:r>
                <a:rPr lang="en-US" altLang="zh-CN" sz="1400" dirty="0">
                  <a:latin typeface="宋体" panose="02010600030101010101" pitchFamily="2" charset="-122"/>
                  <a:ea typeface="宋体" panose="02010600030101010101" pitchFamily="2" charset="-122"/>
                </a:rPr>
                <a:t>BERT</a:t>
              </a:r>
              <a:r>
                <a:rPr lang="zh-CN" altLang="en-US" sz="1400" dirty="0">
                  <a:latin typeface="宋体" panose="02010600030101010101" pitchFamily="2" charset="-122"/>
                  <a:ea typeface="宋体" panose="02010600030101010101" pitchFamily="2" charset="-122"/>
                </a:rPr>
                <a:t>编码层</a:t>
              </a:r>
            </a:p>
          </p:txBody>
        </p:sp>
      </p:grpSp>
      <p:sp>
        <p:nvSpPr>
          <p:cNvPr id="31" name="文本框 30">
            <a:extLst>
              <a:ext uri="{FF2B5EF4-FFF2-40B4-BE49-F238E27FC236}">
                <a16:creationId xmlns:a16="http://schemas.microsoft.com/office/drawing/2014/main" id="{76E2C729-A429-FAA0-12EC-FBBAE8BA274D}"/>
              </a:ext>
            </a:extLst>
          </p:cNvPr>
          <p:cNvSpPr txBox="1"/>
          <p:nvPr/>
        </p:nvSpPr>
        <p:spPr>
          <a:xfrm>
            <a:off x="2522915" y="4984257"/>
            <a:ext cx="1603901" cy="369332"/>
          </a:xfrm>
          <a:prstGeom prst="rect">
            <a:avLst/>
          </a:prstGeom>
          <a:noFill/>
        </p:spPr>
        <p:txBody>
          <a:bodyPr wrap="none" rtlCol="0">
            <a:spAutoFit/>
          </a:bodyPr>
          <a:lstStyle/>
          <a:p>
            <a:r>
              <a:rPr lang="en-US" altLang="zh-CN" dirty="0"/>
              <a:t>AT-LSTM</a:t>
            </a:r>
            <a:r>
              <a:rPr lang="zh-CN" altLang="en-US" dirty="0"/>
              <a:t>框架</a:t>
            </a:r>
          </a:p>
        </p:txBody>
      </p:sp>
      <p:sp>
        <p:nvSpPr>
          <p:cNvPr id="32" name="文本框 31">
            <a:extLst>
              <a:ext uri="{FF2B5EF4-FFF2-40B4-BE49-F238E27FC236}">
                <a16:creationId xmlns:a16="http://schemas.microsoft.com/office/drawing/2014/main" id="{BF169661-6950-AF11-12DE-BFF05ECFCF7F}"/>
              </a:ext>
            </a:extLst>
          </p:cNvPr>
          <p:cNvSpPr txBox="1"/>
          <p:nvPr/>
        </p:nvSpPr>
        <p:spPr>
          <a:xfrm>
            <a:off x="9059835" y="5098557"/>
            <a:ext cx="1888274" cy="369332"/>
          </a:xfrm>
          <a:prstGeom prst="rect">
            <a:avLst/>
          </a:prstGeom>
          <a:noFill/>
        </p:spPr>
        <p:txBody>
          <a:bodyPr wrap="none" rtlCol="0">
            <a:spAutoFit/>
          </a:bodyPr>
          <a:lstStyle/>
          <a:p>
            <a:r>
              <a:rPr lang="en-US" altLang="zh-CN" dirty="0"/>
              <a:t>BERT+AT-LSTM</a:t>
            </a:r>
            <a:endParaRPr lang="zh-CN" altLang="en-US" dirty="0"/>
          </a:p>
        </p:txBody>
      </p:sp>
      <p:pic>
        <p:nvPicPr>
          <p:cNvPr id="33" name="Picture 2">
            <a:extLst>
              <a:ext uri="{FF2B5EF4-FFF2-40B4-BE49-F238E27FC236}">
                <a16:creationId xmlns:a16="http://schemas.microsoft.com/office/drawing/2014/main" id="{13173923-ECF1-4868-D92E-9B8CFDFE5079}"/>
              </a:ext>
            </a:extLst>
          </p:cNvPr>
          <p:cNvPicPr>
            <a:picLocks noChangeAspect="1" noChangeArrowheads="1"/>
          </p:cNvPicPr>
          <p:nvPr/>
        </p:nvPicPr>
        <p:blipFill>
          <a:blip r:embed="rId4" cstate="print"/>
          <a:srcRect/>
          <a:stretch>
            <a:fillRect/>
          </a:stretch>
        </p:blipFill>
        <p:spPr bwMode="auto">
          <a:xfrm>
            <a:off x="11286807" y="363026"/>
            <a:ext cx="576050" cy="606937"/>
          </a:xfrm>
          <a:prstGeom prst="rect">
            <a:avLst/>
          </a:prstGeom>
          <a:ln>
            <a:noFill/>
          </a:ln>
          <a:effectLst/>
        </p:spPr>
      </p:pic>
      <p:sp>
        <p:nvSpPr>
          <p:cNvPr id="34" name="文本框 33">
            <a:extLst>
              <a:ext uri="{FF2B5EF4-FFF2-40B4-BE49-F238E27FC236}">
                <a16:creationId xmlns:a16="http://schemas.microsoft.com/office/drawing/2014/main" id="{241DA0BA-F8C3-1B56-6920-25EC95629EDB}"/>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11</a:t>
            </a:fld>
            <a:endParaRPr lang="zh-CN" altLang="en-US" sz="1400" dirty="0">
              <a:solidFill>
                <a:srgbClr val="0070C0"/>
              </a:solidFill>
              <a:ea typeface="印品黑体" panose="00000500000000000000" pitchFamily="2" charset="-122"/>
            </a:endParaRPr>
          </a:p>
        </p:txBody>
      </p:sp>
      <p:sp>
        <p:nvSpPr>
          <p:cNvPr id="35" name="文本框 34">
            <a:extLst>
              <a:ext uri="{FF2B5EF4-FFF2-40B4-BE49-F238E27FC236}">
                <a16:creationId xmlns:a16="http://schemas.microsoft.com/office/drawing/2014/main" id="{F433A835-216E-F87E-3A21-F6025BAAD5E9}"/>
              </a:ext>
            </a:extLst>
          </p:cNvPr>
          <p:cNvSpPr txBox="1"/>
          <p:nvPr/>
        </p:nvSpPr>
        <p:spPr>
          <a:xfrm>
            <a:off x="821379" y="5906471"/>
            <a:ext cx="10753453" cy="584775"/>
          </a:xfrm>
          <a:prstGeom prst="rect">
            <a:avLst/>
          </a:prstGeom>
          <a:noFill/>
        </p:spPr>
        <p:txBody>
          <a:bodyPr wrap="square" rtlCol="0">
            <a:spAutoFit/>
          </a:bodyPr>
          <a:lstStyle/>
          <a:p>
            <a:r>
              <a:rPr lang="zh-CN" altLang="en-US" sz="1600" b="1" dirty="0"/>
              <a:t>优点：</a:t>
            </a:r>
            <a:r>
              <a:rPr lang="en-US" altLang="zh-CN" sz="1600" b="1" dirty="0"/>
              <a:t>AT-LSTM</a:t>
            </a:r>
            <a:r>
              <a:rPr lang="zh-CN" altLang="en-US" sz="1600" b="1" dirty="0"/>
              <a:t>通过结合长短期记忆网络的序列学习能力和注意力机制的聚焦特性，能够有效捕捉和分析文本中角色情感的细微变化及其相互关联，实现准确且高效的细粒度情感分析。</a:t>
            </a:r>
          </a:p>
        </p:txBody>
      </p:sp>
    </p:spTree>
    <p:extLst>
      <p:ext uri="{BB962C8B-B14F-4D97-AF65-F5344CB8AC3E}">
        <p14:creationId xmlns:p14="http://schemas.microsoft.com/office/powerpoint/2010/main" val="3066605644"/>
      </p:ext>
    </p:extLst>
  </p:cSld>
  <p:clrMapOvr>
    <a:masterClrMapping/>
  </p:clrMapOvr>
  <p:transition advTm="17599">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924149" y="666494"/>
            <a:ext cx="3141537" cy="405102"/>
          </a:xfrm>
          <a:prstGeom prst="rect">
            <a:avLst/>
          </a:prstGeom>
        </p:spPr>
        <p:txBody>
          <a:bodyPr>
            <a:normAutofit/>
          </a:bodyPr>
          <a:lstStyle/>
          <a:p>
            <a:r>
              <a:rPr lang="en-US" altLang="zh-CN" dirty="0">
                <a:latin typeface="+mn-lt"/>
                <a:ea typeface="+mn-ea"/>
                <a:cs typeface="+mn-ea"/>
                <a:sym typeface="+mn-lt"/>
              </a:rPr>
              <a:t>BERT+</a:t>
            </a:r>
            <a:r>
              <a:rPr lang="zh-CN" altLang="en-US" dirty="0">
                <a:latin typeface="+mn-lt"/>
                <a:ea typeface="+mn-ea"/>
                <a:cs typeface="+mn-ea"/>
                <a:sym typeface="+mn-lt"/>
              </a:rPr>
              <a:t>多头注意力</a:t>
            </a:r>
          </a:p>
        </p:txBody>
      </p:sp>
      <p:pic>
        <p:nvPicPr>
          <p:cNvPr id="2" name="图片 1">
            <a:extLst>
              <a:ext uri="{FF2B5EF4-FFF2-40B4-BE49-F238E27FC236}">
                <a16:creationId xmlns:a16="http://schemas.microsoft.com/office/drawing/2014/main" id="{FD1971CF-C1CC-2A66-B3B6-8527C0E1F9B7}"/>
              </a:ext>
            </a:extLst>
          </p:cNvPr>
          <p:cNvPicPr>
            <a:picLocks noChangeAspect="1"/>
          </p:cNvPicPr>
          <p:nvPr/>
        </p:nvPicPr>
        <p:blipFill>
          <a:blip r:embed="rId3"/>
          <a:stretch>
            <a:fillRect/>
          </a:stretch>
        </p:blipFill>
        <p:spPr>
          <a:xfrm>
            <a:off x="924149" y="1271857"/>
            <a:ext cx="3580952" cy="4314286"/>
          </a:xfrm>
          <a:prstGeom prst="rect">
            <a:avLst/>
          </a:prstGeom>
        </p:spPr>
      </p:pic>
      <p:cxnSp>
        <p:nvCxnSpPr>
          <p:cNvPr id="5" name="直接连接符 4">
            <a:extLst>
              <a:ext uri="{FF2B5EF4-FFF2-40B4-BE49-F238E27FC236}">
                <a16:creationId xmlns:a16="http://schemas.microsoft.com/office/drawing/2014/main" id="{1AD8D3A0-2AE6-A999-1DAE-A4B44E020082}"/>
              </a:ext>
            </a:extLst>
          </p:cNvPr>
          <p:cNvCxnSpPr>
            <a:cxnSpLocks/>
          </p:cNvCxnSpPr>
          <p:nvPr/>
        </p:nvCxnSpPr>
        <p:spPr>
          <a:xfrm>
            <a:off x="4886075" y="1266150"/>
            <a:ext cx="0" cy="4485792"/>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920E0A45-60C0-9C64-302C-09CA7C953091}"/>
              </a:ext>
            </a:extLst>
          </p:cNvPr>
          <p:cNvGrpSpPr/>
          <p:nvPr/>
        </p:nvGrpSpPr>
        <p:grpSpPr>
          <a:xfrm>
            <a:off x="4886075" y="1988624"/>
            <a:ext cx="6915401" cy="3000819"/>
            <a:chOff x="274302" y="1025097"/>
            <a:chExt cx="10083901" cy="5292599"/>
          </a:xfrm>
        </p:grpSpPr>
        <p:grpSp>
          <p:nvGrpSpPr>
            <p:cNvPr id="7" name="组合 6">
              <a:extLst>
                <a:ext uri="{FF2B5EF4-FFF2-40B4-BE49-F238E27FC236}">
                  <a16:creationId xmlns:a16="http://schemas.microsoft.com/office/drawing/2014/main" id="{C395B76E-F78E-DC9B-19EB-3532AE724098}"/>
                </a:ext>
              </a:extLst>
            </p:cNvPr>
            <p:cNvGrpSpPr/>
            <p:nvPr/>
          </p:nvGrpSpPr>
          <p:grpSpPr>
            <a:xfrm>
              <a:off x="2908877" y="1025097"/>
              <a:ext cx="7449326" cy="5105880"/>
              <a:chOff x="6658590" y="827074"/>
              <a:chExt cx="5083060" cy="3940838"/>
            </a:xfrm>
          </p:grpSpPr>
          <p:sp>
            <p:nvSpPr>
              <p:cNvPr id="12" name="矩形 11">
                <a:extLst>
                  <a:ext uri="{FF2B5EF4-FFF2-40B4-BE49-F238E27FC236}">
                    <a16:creationId xmlns:a16="http://schemas.microsoft.com/office/drawing/2014/main" id="{911C33F2-048A-135C-1F54-6D0A2976B732}"/>
                  </a:ext>
                </a:extLst>
              </p:cNvPr>
              <p:cNvSpPr/>
              <p:nvPr/>
            </p:nvSpPr>
            <p:spPr>
              <a:xfrm>
                <a:off x="6658591" y="3600052"/>
                <a:ext cx="4980766" cy="712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BERT</a:t>
                </a:r>
                <a:endParaRPr lang="zh-CN" altLang="en-US"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880B2F6F-1974-D9DF-4DC8-42A07C225045}"/>
                  </a:ext>
                </a:extLst>
              </p:cNvPr>
              <p:cNvSpPr/>
              <p:nvPr/>
            </p:nvSpPr>
            <p:spPr>
              <a:xfrm>
                <a:off x="7927224" y="827074"/>
                <a:ext cx="2557670" cy="549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output</a:t>
                </a:r>
                <a:endParaRPr lang="zh-CN" altLang="en-US" dirty="0">
                  <a:latin typeface="Times New Roman" panose="02020603050405020304" pitchFamily="18" charset="0"/>
                  <a:cs typeface="Times New Roman" panose="02020603050405020304" pitchFamily="18" charset="0"/>
                </a:endParaRPr>
              </a:p>
            </p:txBody>
          </p:sp>
          <p:grpSp>
            <p:nvGrpSpPr>
              <p:cNvPr id="14" name="组合 13">
                <a:extLst>
                  <a:ext uri="{FF2B5EF4-FFF2-40B4-BE49-F238E27FC236}">
                    <a16:creationId xmlns:a16="http://schemas.microsoft.com/office/drawing/2014/main" id="{B9FA78AA-20AA-C9BB-81B0-E487FC4D90DC}"/>
                  </a:ext>
                </a:extLst>
              </p:cNvPr>
              <p:cNvGrpSpPr/>
              <p:nvPr/>
            </p:nvGrpSpPr>
            <p:grpSpPr>
              <a:xfrm>
                <a:off x="8532661" y="2898987"/>
                <a:ext cx="526058" cy="476160"/>
                <a:chOff x="8584813" y="2994426"/>
                <a:chExt cx="526058" cy="476160"/>
              </a:xfrm>
            </p:grpSpPr>
            <p:sp>
              <p:nvSpPr>
                <p:cNvPr id="76" name="矩形 75">
                  <a:extLst>
                    <a:ext uri="{FF2B5EF4-FFF2-40B4-BE49-F238E27FC236}">
                      <a16:creationId xmlns:a16="http://schemas.microsoft.com/office/drawing/2014/main" id="{DEDD9E7C-92D1-9803-67D7-D328BE4AB28A}"/>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7" name="箭头: 上 76">
                  <a:extLst>
                    <a:ext uri="{FF2B5EF4-FFF2-40B4-BE49-F238E27FC236}">
                      <a16:creationId xmlns:a16="http://schemas.microsoft.com/office/drawing/2014/main" id="{5A3EE311-8A11-76BB-B666-8F523809139D}"/>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9027783D-2DA4-3985-9795-E43803B0C5BE}"/>
                  </a:ext>
                </a:extLst>
              </p:cNvPr>
              <p:cNvGrpSpPr/>
              <p:nvPr/>
            </p:nvGrpSpPr>
            <p:grpSpPr>
              <a:xfrm>
                <a:off x="6686568" y="4646773"/>
                <a:ext cx="862334" cy="114509"/>
                <a:chOff x="6977271" y="5360504"/>
                <a:chExt cx="974038" cy="108841"/>
              </a:xfrm>
            </p:grpSpPr>
            <p:sp>
              <p:nvSpPr>
                <p:cNvPr id="73" name="矩形 72">
                  <a:extLst>
                    <a:ext uri="{FF2B5EF4-FFF2-40B4-BE49-F238E27FC236}">
                      <a16:creationId xmlns:a16="http://schemas.microsoft.com/office/drawing/2014/main" id="{492E5935-A2A9-B911-C51C-9E5A62ACFC34}"/>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A4362FF9-A7C2-1D35-6EB3-545A403F1AE6}"/>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8C909309-FE1E-8B7A-8ED6-AA081916A723}"/>
                    </a:ext>
                  </a:extLst>
                </p:cNvPr>
                <p:cNvSpPr/>
                <p:nvPr/>
              </p:nvSpPr>
              <p:spPr>
                <a:xfrm>
                  <a:off x="7620005" y="5363327"/>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16" name="组合 15">
                <a:extLst>
                  <a:ext uri="{FF2B5EF4-FFF2-40B4-BE49-F238E27FC236}">
                    <a16:creationId xmlns:a16="http://schemas.microsoft.com/office/drawing/2014/main" id="{6ADA39DA-9DB3-373E-9576-D0E42A754929}"/>
                  </a:ext>
                </a:extLst>
              </p:cNvPr>
              <p:cNvGrpSpPr/>
              <p:nvPr/>
            </p:nvGrpSpPr>
            <p:grpSpPr>
              <a:xfrm>
                <a:off x="6658590" y="2084589"/>
                <a:ext cx="4980767" cy="731828"/>
                <a:chOff x="6658590" y="2084589"/>
                <a:chExt cx="4980767" cy="731828"/>
              </a:xfrm>
            </p:grpSpPr>
            <p:grpSp>
              <p:nvGrpSpPr>
                <p:cNvPr id="49" name="组合 48">
                  <a:extLst>
                    <a:ext uri="{FF2B5EF4-FFF2-40B4-BE49-F238E27FC236}">
                      <a16:creationId xmlns:a16="http://schemas.microsoft.com/office/drawing/2014/main" id="{61A86440-388F-8F0E-46BA-94EEF616FA3D}"/>
                    </a:ext>
                  </a:extLst>
                </p:cNvPr>
                <p:cNvGrpSpPr/>
                <p:nvPr/>
              </p:nvGrpSpPr>
              <p:grpSpPr>
                <a:xfrm>
                  <a:off x="6658590" y="2103656"/>
                  <a:ext cx="596349" cy="712761"/>
                  <a:chOff x="7321825" y="1995210"/>
                  <a:chExt cx="1033667" cy="1158808"/>
                </a:xfrm>
              </p:grpSpPr>
              <p:sp>
                <p:nvSpPr>
                  <p:cNvPr id="70" name="箭头: 上 69">
                    <a:extLst>
                      <a:ext uri="{FF2B5EF4-FFF2-40B4-BE49-F238E27FC236}">
                        <a16:creationId xmlns:a16="http://schemas.microsoft.com/office/drawing/2014/main" id="{3BF19754-8BF2-3A38-B518-449E012B7824}"/>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BEE10559-D953-9BE5-DCB7-EB5DE02DB0B0}"/>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Att1</a:t>
                    </a:r>
                    <a:endParaRPr lang="zh-CN" altLang="en-US" dirty="0">
                      <a:latin typeface="Times New Roman" panose="02020603050405020304" pitchFamily="18" charset="0"/>
                      <a:cs typeface="Times New Roman" panose="02020603050405020304" pitchFamily="18" charset="0"/>
                    </a:endParaRPr>
                  </a:p>
                </p:txBody>
              </p:sp>
              <p:sp>
                <p:nvSpPr>
                  <p:cNvPr id="72" name="矩形 71">
                    <a:extLst>
                      <a:ext uri="{FF2B5EF4-FFF2-40B4-BE49-F238E27FC236}">
                        <a16:creationId xmlns:a16="http://schemas.microsoft.com/office/drawing/2014/main" id="{9DB830B2-AE5D-97DB-DDC5-F06816C6589F}"/>
                      </a:ext>
                    </a:extLst>
                  </p:cNvPr>
                  <p:cNvSpPr/>
                  <p:nvPr/>
                </p:nvSpPr>
                <p:spPr>
                  <a:xfrm>
                    <a:off x="7321825" y="1995210"/>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nvGrpSpPr>
                <p:cNvPr id="50" name="组合 49">
                  <a:extLst>
                    <a:ext uri="{FF2B5EF4-FFF2-40B4-BE49-F238E27FC236}">
                      <a16:creationId xmlns:a16="http://schemas.microsoft.com/office/drawing/2014/main" id="{0DE241C8-E9F8-6F9F-E35B-06172EBAE1AF}"/>
                    </a:ext>
                  </a:extLst>
                </p:cNvPr>
                <p:cNvGrpSpPr/>
                <p:nvPr/>
              </p:nvGrpSpPr>
              <p:grpSpPr>
                <a:xfrm>
                  <a:off x="7548902" y="2093289"/>
                  <a:ext cx="596349" cy="712761"/>
                  <a:chOff x="7321825" y="1995210"/>
                  <a:chExt cx="1033667" cy="1158808"/>
                </a:xfrm>
              </p:grpSpPr>
              <p:sp>
                <p:nvSpPr>
                  <p:cNvPr id="67" name="箭头: 上 66">
                    <a:extLst>
                      <a:ext uri="{FF2B5EF4-FFF2-40B4-BE49-F238E27FC236}">
                        <a16:creationId xmlns:a16="http://schemas.microsoft.com/office/drawing/2014/main" id="{8CE16840-F58C-C4B7-CD6A-CD7510F79778}"/>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a:extLst>
                      <a:ext uri="{FF2B5EF4-FFF2-40B4-BE49-F238E27FC236}">
                        <a16:creationId xmlns:a16="http://schemas.microsoft.com/office/drawing/2014/main" id="{9DDFE472-1ADF-CD04-7F82-181B85E0E33B}"/>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Att2</a:t>
                    </a:r>
                    <a:endParaRPr lang="zh-CN" altLang="en-US" dirty="0">
                      <a:latin typeface="Times New Roman" panose="02020603050405020304" pitchFamily="18" charset="0"/>
                      <a:cs typeface="Times New Roman" panose="02020603050405020304" pitchFamily="18" charset="0"/>
                    </a:endParaRPr>
                  </a:p>
                </p:txBody>
              </p:sp>
              <p:sp>
                <p:nvSpPr>
                  <p:cNvPr id="69" name="矩形 68">
                    <a:extLst>
                      <a:ext uri="{FF2B5EF4-FFF2-40B4-BE49-F238E27FC236}">
                        <a16:creationId xmlns:a16="http://schemas.microsoft.com/office/drawing/2014/main" id="{E88B6D70-EF36-27E8-158A-95DB7BBA1DE0}"/>
                      </a:ext>
                    </a:extLst>
                  </p:cNvPr>
                  <p:cNvSpPr/>
                  <p:nvPr/>
                </p:nvSpPr>
                <p:spPr>
                  <a:xfrm>
                    <a:off x="7321825" y="1995210"/>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nvGrpSpPr>
                <p:cNvPr id="51" name="组合 50">
                  <a:extLst>
                    <a:ext uri="{FF2B5EF4-FFF2-40B4-BE49-F238E27FC236}">
                      <a16:creationId xmlns:a16="http://schemas.microsoft.com/office/drawing/2014/main" id="{31D50C2F-2806-A866-860D-D6A3C14393D2}"/>
                    </a:ext>
                  </a:extLst>
                </p:cNvPr>
                <p:cNvGrpSpPr/>
                <p:nvPr/>
              </p:nvGrpSpPr>
              <p:grpSpPr>
                <a:xfrm>
                  <a:off x="10230682" y="2099635"/>
                  <a:ext cx="596349" cy="712761"/>
                  <a:chOff x="7321825" y="1995210"/>
                  <a:chExt cx="1033667" cy="1158808"/>
                </a:xfrm>
              </p:grpSpPr>
              <p:sp>
                <p:nvSpPr>
                  <p:cNvPr id="64" name="箭头: 上 63">
                    <a:extLst>
                      <a:ext uri="{FF2B5EF4-FFF2-40B4-BE49-F238E27FC236}">
                        <a16:creationId xmlns:a16="http://schemas.microsoft.com/office/drawing/2014/main" id="{DFD620CC-B016-E99E-F20E-0940880DBED9}"/>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99EC4C76-ACE5-AA60-F661-C76C7A25DAA1}"/>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Att5</a:t>
                    </a:r>
                    <a:endParaRPr lang="zh-CN" altLang="en-US" dirty="0">
                      <a:latin typeface="Times New Roman" panose="02020603050405020304" pitchFamily="18" charset="0"/>
                      <a:cs typeface="Times New Roman" panose="02020603050405020304" pitchFamily="18" charset="0"/>
                    </a:endParaRPr>
                  </a:p>
                </p:txBody>
              </p:sp>
              <p:sp>
                <p:nvSpPr>
                  <p:cNvPr id="66" name="矩形 65">
                    <a:extLst>
                      <a:ext uri="{FF2B5EF4-FFF2-40B4-BE49-F238E27FC236}">
                        <a16:creationId xmlns:a16="http://schemas.microsoft.com/office/drawing/2014/main" id="{1D45E44C-6DEC-A0BA-0B21-265299A3EB12}"/>
                      </a:ext>
                    </a:extLst>
                  </p:cNvPr>
                  <p:cNvSpPr/>
                  <p:nvPr/>
                </p:nvSpPr>
                <p:spPr>
                  <a:xfrm>
                    <a:off x="7321825" y="1995210"/>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nvGrpSpPr>
                <p:cNvPr id="52" name="组合 51">
                  <a:extLst>
                    <a:ext uri="{FF2B5EF4-FFF2-40B4-BE49-F238E27FC236}">
                      <a16:creationId xmlns:a16="http://schemas.microsoft.com/office/drawing/2014/main" id="{EFBD173C-2068-A2BA-2BF4-CE0F32CE15D5}"/>
                    </a:ext>
                  </a:extLst>
                </p:cNvPr>
                <p:cNvGrpSpPr/>
                <p:nvPr/>
              </p:nvGrpSpPr>
              <p:grpSpPr>
                <a:xfrm>
                  <a:off x="8449151" y="2084589"/>
                  <a:ext cx="596349" cy="712761"/>
                  <a:chOff x="7321825" y="1995210"/>
                  <a:chExt cx="1033667" cy="1158808"/>
                </a:xfrm>
              </p:grpSpPr>
              <p:sp>
                <p:nvSpPr>
                  <p:cNvPr id="61" name="箭头: 上 60">
                    <a:extLst>
                      <a:ext uri="{FF2B5EF4-FFF2-40B4-BE49-F238E27FC236}">
                        <a16:creationId xmlns:a16="http://schemas.microsoft.com/office/drawing/2014/main" id="{F63DAC45-B01F-4221-CC8D-CFDC39392CF0}"/>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451F8B27-D145-81BD-508E-5D950FDC2A41}"/>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Att3</a:t>
                    </a:r>
                    <a:endParaRPr lang="zh-CN" altLang="en-US" dirty="0">
                      <a:latin typeface="Times New Roman" panose="02020603050405020304" pitchFamily="18" charset="0"/>
                      <a:cs typeface="Times New Roman" panose="02020603050405020304" pitchFamily="18" charset="0"/>
                    </a:endParaRPr>
                  </a:p>
                </p:txBody>
              </p:sp>
              <p:sp>
                <p:nvSpPr>
                  <p:cNvPr id="63" name="矩形 62">
                    <a:extLst>
                      <a:ext uri="{FF2B5EF4-FFF2-40B4-BE49-F238E27FC236}">
                        <a16:creationId xmlns:a16="http://schemas.microsoft.com/office/drawing/2014/main" id="{C23FF4DE-1A78-CF3E-0C2D-016E0EF16D4D}"/>
                      </a:ext>
                    </a:extLst>
                  </p:cNvPr>
                  <p:cNvSpPr/>
                  <p:nvPr/>
                </p:nvSpPr>
                <p:spPr>
                  <a:xfrm>
                    <a:off x="7321825" y="1995210"/>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nvGrpSpPr>
                <p:cNvPr id="53" name="组合 52">
                  <a:extLst>
                    <a:ext uri="{FF2B5EF4-FFF2-40B4-BE49-F238E27FC236}">
                      <a16:creationId xmlns:a16="http://schemas.microsoft.com/office/drawing/2014/main" id="{9FE6B0CC-0B36-2D5B-9C00-A02357669C11}"/>
                    </a:ext>
                  </a:extLst>
                </p:cNvPr>
                <p:cNvGrpSpPr/>
                <p:nvPr/>
              </p:nvGrpSpPr>
              <p:grpSpPr>
                <a:xfrm>
                  <a:off x="9370714" y="2089197"/>
                  <a:ext cx="596349" cy="712761"/>
                  <a:chOff x="7321825" y="1995210"/>
                  <a:chExt cx="1033667" cy="1158808"/>
                </a:xfrm>
              </p:grpSpPr>
              <p:sp>
                <p:nvSpPr>
                  <p:cNvPr id="58" name="箭头: 上 57">
                    <a:extLst>
                      <a:ext uri="{FF2B5EF4-FFF2-40B4-BE49-F238E27FC236}">
                        <a16:creationId xmlns:a16="http://schemas.microsoft.com/office/drawing/2014/main" id="{DCB02E4C-E767-6E2F-B28C-4699249D667E}"/>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BCB17430-BAD1-44E5-C471-B6FC28E4683C}"/>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Att4</a:t>
                    </a:r>
                    <a:endParaRPr lang="zh-CN" altLang="en-US" dirty="0">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6C3FF881-93A1-1EFB-3D91-5B88DA6C0BA1}"/>
                      </a:ext>
                    </a:extLst>
                  </p:cNvPr>
                  <p:cNvSpPr/>
                  <p:nvPr/>
                </p:nvSpPr>
                <p:spPr>
                  <a:xfrm>
                    <a:off x="7321825" y="1995210"/>
                    <a:ext cx="1033667" cy="3578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nvGrpSpPr>
                <p:cNvPr id="54" name="组合 53">
                  <a:extLst>
                    <a:ext uri="{FF2B5EF4-FFF2-40B4-BE49-F238E27FC236}">
                      <a16:creationId xmlns:a16="http://schemas.microsoft.com/office/drawing/2014/main" id="{8A0973F2-ECA5-66F5-34B2-F34F5A0B6ECC}"/>
                    </a:ext>
                  </a:extLst>
                </p:cNvPr>
                <p:cNvGrpSpPr/>
                <p:nvPr/>
              </p:nvGrpSpPr>
              <p:grpSpPr>
                <a:xfrm>
                  <a:off x="11043008" y="2103656"/>
                  <a:ext cx="596349" cy="712761"/>
                  <a:chOff x="7321825" y="1995210"/>
                  <a:chExt cx="1033667" cy="1158808"/>
                </a:xfrm>
              </p:grpSpPr>
              <p:sp>
                <p:nvSpPr>
                  <p:cNvPr id="55" name="箭头: 上 54">
                    <a:extLst>
                      <a:ext uri="{FF2B5EF4-FFF2-40B4-BE49-F238E27FC236}">
                        <a16:creationId xmlns:a16="http://schemas.microsoft.com/office/drawing/2014/main" id="{1555EF71-2559-E534-A45E-E2E5D47C9B5E}"/>
                      </a:ext>
                    </a:extLst>
                  </p:cNvPr>
                  <p:cNvSpPr/>
                  <p:nvPr/>
                </p:nvSpPr>
                <p:spPr>
                  <a:xfrm>
                    <a:off x="7762458" y="2420930"/>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D0B32967-7A2D-0E4B-E9C9-1515ECC67605}"/>
                      </a:ext>
                    </a:extLst>
                  </p:cNvPr>
                  <p:cNvSpPr/>
                  <p:nvPr/>
                </p:nvSpPr>
                <p:spPr>
                  <a:xfrm>
                    <a:off x="7321825" y="2796209"/>
                    <a:ext cx="1033667"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Att6</a:t>
                    </a:r>
                    <a:endParaRPr lang="zh-CN" altLang="en-US" dirty="0">
                      <a:latin typeface="Times New Roman" panose="02020603050405020304" pitchFamily="18" charset="0"/>
                      <a:cs typeface="Times New Roman" panose="02020603050405020304" pitchFamily="18" charset="0"/>
                    </a:endParaRPr>
                  </a:p>
                </p:txBody>
              </p:sp>
              <p:sp>
                <p:nvSpPr>
                  <p:cNvPr id="57" name="矩形 56">
                    <a:extLst>
                      <a:ext uri="{FF2B5EF4-FFF2-40B4-BE49-F238E27FC236}">
                        <a16:creationId xmlns:a16="http://schemas.microsoft.com/office/drawing/2014/main" id="{7CB1E704-9748-931F-AB05-F008D1A64FEB}"/>
                      </a:ext>
                    </a:extLst>
                  </p:cNvPr>
                  <p:cNvSpPr/>
                  <p:nvPr/>
                </p:nvSpPr>
                <p:spPr>
                  <a:xfrm>
                    <a:off x="7321825" y="1995210"/>
                    <a:ext cx="1033667" cy="3578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Fc</a:t>
                    </a:r>
                    <a:endParaRPr lang="zh-CN" altLang="en-US" dirty="0">
                      <a:latin typeface="Times New Roman" panose="02020603050405020304" pitchFamily="18" charset="0"/>
                      <a:cs typeface="Times New Roman" panose="02020603050405020304" pitchFamily="18" charset="0"/>
                    </a:endParaRPr>
                  </a:p>
                </p:txBody>
              </p:sp>
            </p:grpSp>
          </p:grpSp>
          <p:grpSp>
            <p:nvGrpSpPr>
              <p:cNvPr id="17" name="组合 16">
                <a:extLst>
                  <a:ext uri="{FF2B5EF4-FFF2-40B4-BE49-F238E27FC236}">
                    <a16:creationId xmlns:a16="http://schemas.microsoft.com/office/drawing/2014/main" id="{57F8AC5D-7399-95C0-57DC-D32C042B3797}"/>
                  </a:ext>
                </a:extLst>
              </p:cNvPr>
              <p:cNvGrpSpPr/>
              <p:nvPr/>
            </p:nvGrpSpPr>
            <p:grpSpPr>
              <a:xfrm>
                <a:off x="9469159" y="2968639"/>
                <a:ext cx="526058" cy="476160"/>
                <a:chOff x="8584813" y="2994426"/>
                <a:chExt cx="526058" cy="476160"/>
              </a:xfrm>
            </p:grpSpPr>
            <p:sp>
              <p:nvSpPr>
                <p:cNvPr id="47" name="矩形 46">
                  <a:extLst>
                    <a:ext uri="{FF2B5EF4-FFF2-40B4-BE49-F238E27FC236}">
                      <a16:creationId xmlns:a16="http://schemas.microsoft.com/office/drawing/2014/main" id="{537C3874-4B66-17C5-7EE7-D2E84EE2A416}"/>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箭头: 上 47">
                  <a:extLst>
                    <a:ext uri="{FF2B5EF4-FFF2-40B4-BE49-F238E27FC236}">
                      <a16:creationId xmlns:a16="http://schemas.microsoft.com/office/drawing/2014/main" id="{EB835422-4702-A0D8-06BC-0A2686B9A08B}"/>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a:extLst>
                  <a:ext uri="{FF2B5EF4-FFF2-40B4-BE49-F238E27FC236}">
                    <a16:creationId xmlns:a16="http://schemas.microsoft.com/office/drawing/2014/main" id="{C6586596-C230-3A41-6A69-7A383C922742}"/>
                  </a:ext>
                </a:extLst>
              </p:cNvPr>
              <p:cNvGrpSpPr/>
              <p:nvPr/>
            </p:nvGrpSpPr>
            <p:grpSpPr>
              <a:xfrm>
                <a:off x="10304044" y="2988519"/>
                <a:ext cx="526058" cy="476160"/>
                <a:chOff x="8584813" y="2994426"/>
                <a:chExt cx="526058" cy="476160"/>
              </a:xfrm>
            </p:grpSpPr>
            <p:sp>
              <p:nvSpPr>
                <p:cNvPr id="45" name="矩形 44">
                  <a:extLst>
                    <a:ext uri="{FF2B5EF4-FFF2-40B4-BE49-F238E27FC236}">
                      <a16:creationId xmlns:a16="http://schemas.microsoft.com/office/drawing/2014/main" id="{EFACB906-F55A-7FF8-F169-6004269B780B}"/>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6" name="箭头: 上 45">
                  <a:extLst>
                    <a:ext uri="{FF2B5EF4-FFF2-40B4-BE49-F238E27FC236}">
                      <a16:creationId xmlns:a16="http://schemas.microsoft.com/office/drawing/2014/main" id="{D3122205-EB32-9736-44C8-FEFD0C10E095}"/>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a:extLst>
                  <a:ext uri="{FF2B5EF4-FFF2-40B4-BE49-F238E27FC236}">
                    <a16:creationId xmlns:a16="http://schemas.microsoft.com/office/drawing/2014/main" id="{CDEC9125-C2D7-3046-386E-100F5DFB6B08}"/>
                  </a:ext>
                </a:extLst>
              </p:cNvPr>
              <p:cNvGrpSpPr/>
              <p:nvPr/>
            </p:nvGrpSpPr>
            <p:grpSpPr>
              <a:xfrm>
                <a:off x="11052785" y="2962017"/>
                <a:ext cx="526058" cy="476160"/>
                <a:chOff x="8584813" y="2994426"/>
                <a:chExt cx="526058" cy="476160"/>
              </a:xfrm>
            </p:grpSpPr>
            <p:sp>
              <p:nvSpPr>
                <p:cNvPr id="43" name="矩形 42">
                  <a:extLst>
                    <a:ext uri="{FF2B5EF4-FFF2-40B4-BE49-F238E27FC236}">
                      <a16:creationId xmlns:a16="http://schemas.microsoft.com/office/drawing/2014/main" id="{5A060BEE-8ED0-A545-4DC1-770EEC780F8B}"/>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4" name="箭头: 上 43">
                  <a:extLst>
                    <a:ext uri="{FF2B5EF4-FFF2-40B4-BE49-F238E27FC236}">
                      <a16:creationId xmlns:a16="http://schemas.microsoft.com/office/drawing/2014/main" id="{8CFD3C97-E98A-B6A6-8B6E-7D9456338535}"/>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7D7935D2-C9A2-764A-775D-6A46A232F3C9}"/>
                  </a:ext>
                </a:extLst>
              </p:cNvPr>
              <p:cNvGrpSpPr/>
              <p:nvPr/>
            </p:nvGrpSpPr>
            <p:grpSpPr>
              <a:xfrm>
                <a:off x="7599305" y="2926881"/>
                <a:ext cx="526058" cy="476160"/>
                <a:chOff x="8584813" y="2994426"/>
                <a:chExt cx="526058" cy="476160"/>
              </a:xfrm>
            </p:grpSpPr>
            <p:sp>
              <p:nvSpPr>
                <p:cNvPr id="41" name="矩形 40">
                  <a:extLst>
                    <a:ext uri="{FF2B5EF4-FFF2-40B4-BE49-F238E27FC236}">
                      <a16:creationId xmlns:a16="http://schemas.microsoft.com/office/drawing/2014/main" id="{DE55D5B0-9879-56BF-A557-104FEEE593E5}"/>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2" name="箭头: 上 41">
                  <a:extLst>
                    <a:ext uri="{FF2B5EF4-FFF2-40B4-BE49-F238E27FC236}">
                      <a16:creationId xmlns:a16="http://schemas.microsoft.com/office/drawing/2014/main" id="{977B9F13-E20A-0F7F-81E5-1C0A5959E693}"/>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21A99F68-7CFD-ED73-EFE7-BEE70C25FD25}"/>
                  </a:ext>
                </a:extLst>
              </p:cNvPr>
              <p:cNvGrpSpPr/>
              <p:nvPr/>
            </p:nvGrpSpPr>
            <p:grpSpPr>
              <a:xfrm>
                <a:off x="6667518" y="2898987"/>
                <a:ext cx="526058" cy="476160"/>
                <a:chOff x="8584813" y="2994426"/>
                <a:chExt cx="526058" cy="476160"/>
              </a:xfrm>
            </p:grpSpPr>
            <p:sp>
              <p:nvSpPr>
                <p:cNvPr id="39" name="矩形 38">
                  <a:extLst>
                    <a:ext uri="{FF2B5EF4-FFF2-40B4-BE49-F238E27FC236}">
                      <a16:creationId xmlns:a16="http://schemas.microsoft.com/office/drawing/2014/main" id="{BF59E249-1A85-7F42-4C19-DCC165652A5C}"/>
                    </a:ext>
                  </a:extLst>
                </p:cNvPr>
                <p:cNvSpPr/>
                <p:nvPr/>
              </p:nvSpPr>
              <p:spPr>
                <a:xfrm>
                  <a:off x="8584813" y="3301735"/>
                  <a:ext cx="526058" cy="16885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0" name="箭头: 上 39">
                  <a:extLst>
                    <a:ext uri="{FF2B5EF4-FFF2-40B4-BE49-F238E27FC236}">
                      <a16:creationId xmlns:a16="http://schemas.microsoft.com/office/drawing/2014/main" id="{A172DCDC-7BFE-704F-804F-0618390CB8EA}"/>
                    </a:ext>
                  </a:extLst>
                </p:cNvPr>
                <p:cNvSpPr/>
                <p:nvPr/>
              </p:nvSpPr>
              <p:spPr>
                <a:xfrm>
                  <a:off x="8766312" y="2994426"/>
                  <a:ext cx="152399" cy="27908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箭头: 上 21">
                <a:extLst>
                  <a:ext uri="{FF2B5EF4-FFF2-40B4-BE49-F238E27FC236}">
                    <a16:creationId xmlns:a16="http://schemas.microsoft.com/office/drawing/2014/main" id="{09EF66CF-39F8-EC2C-6571-B16293BB6824}"/>
                  </a:ext>
                </a:extLst>
              </p:cNvPr>
              <p:cNvSpPr/>
              <p:nvPr/>
            </p:nvSpPr>
            <p:spPr>
              <a:xfrm>
                <a:off x="9025616" y="1477288"/>
                <a:ext cx="413276" cy="60714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A9EF76B8-1011-0BB8-8472-1443C2236474}"/>
                  </a:ext>
                </a:extLst>
              </p:cNvPr>
              <p:cNvGrpSpPr/>
              <p:nvPr/>
            </p:nvGrpSpPr>
            <p:grpSpPr>
              <a:xfrm>
                <a:off x="7730562" y="4646773"/>
                <a:ext cx="862334" cy="114509"/>
                <a:chOff x="6977271" y="5360504"/>
                <a:chExt cx="974038" cy="108841"/>
              </a:xfrm>
            </p:grpSpPr>
            <p:sp>
              <p:nvSpPr>
                <p:cNvPr id="36" name="矩形 35">
                  <a:extLst>
                    <a:ext uri="{FF2B5EF4-FFF2-40B4-BE49-F238E27FC236}">
                      <a16:creationId xmlns:a16="http://schemas.microsoft.com/office/drawing/2014/main" id="{6B3EFCAD-0427-E922-3B72-A64610215774}"/>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A07B07B2-36C5-613E-6EF1-6B0DDBAF91D7}"/>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2C3263E1-16EE-3C27-7187-1F381B0A39E3}"/>
                    </a:ext>
                  </a:extLst>
                </p:cNvPr>
                <p:cNvSpPr/>
                <p:nvPr/>
              </p:nvSpPr>
              <p:spPr>
                <a:xfrm>
                  <a:off x="7620005" y="5363327"/>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24" name="组合 23">
                <a:extLst>
                  <a:ext uri="{FF2B5EF4-FFF2-40B4-BE49-F238E27FC236}">
                    <a16:creationId xmlns:a16="http://schemas.microsoft.com/office/drawing/2014/main" id="{D36934CC-C183-E1A0-8F5B-7AB2341BA98D}"/>
                  </a:ext>
                </a:extLst>
              </p:cNvPr>
              <p:cNvGrpSpPr/>
              <p:nvPr/>
            </p:nvGrpSpPr>
            <p:grpSpPr>
              <a:xfrm>
                <a:off x="8708348" y="4653403"/>
                <a:ext cx="862334" cy="114509"/>
                <a:chOff x="6977271" y="5360504"/>
                <a:chExt cx="974038" cy="108841"/>
              </a:xfrm>
            </p:grpSpPr>
            <p:sp>
              <p:nvSpPr>
                <p:cNvPr id="33" name="矩形 32">
                  <a:extLst>
                    <a:ext uri="{FF2B5EF4-FFF2-40B4-BE49-F238E27FC236}">
                      <a16:creationId xmlns:a16="http://schemas.microsoft.com/office/drawing/2014/main" id="{011CD569-B946-0647-3035-5971FFFC6078}"/>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C11A752B-F07C-ED2F-23AD-F61BDE9D7078}"/>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21A5971F-62E9-5195-D2A7-762CD6727999}"/>
                    </a:ext>
                  </a:extLst>
                </p:cNvPr>
                <p:cNvSpPr/>
                <p:nvPr/>
              </p:nvSpPr>
              <p:spPr>
                <a:xfrm>
                  <a:off x="7620005" y="5363327"/>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25" name="组合 24">
                <a:extLst>
                  <a:ext uri="{FF2B5EF4-FFF2-40B4-BE49-F238E27FC236}">
                    <a16:creationId xmlns:a16="http://schemas.microsoft.com/office/drawing/2014/main" id="{AC382B19-BD6C-16A3-D3E0-CAE57C99D462}"/>
                  </a:ext>
                </a:extLst>
              </p:cNvPr>
              <p:cNvGrpSpPr/>
              <p:nvPr/>
            </p:nvGrpSpPr>
            <p:grpSpPr>
              <a:xfrm>
                <a:off x="9790469" y="4646773"/>
                <a:ext cx="862334" cy="114509"/>
                <a:chOff x="6977271" y="5360504"/>
                <a:chExt cx="974038" cy="108841"/>
              </a:xfrm>
            </p:grpSpPr>
            <p:sp>
              <p:nvSpPr>
                <p:cNvPr id="30" name="矩形 29">
                  <a:extLst>
                    <a:ext uri="{FF2B5EF4-FFF2-40B4-BE49-F238E27FC236}">
                      <a16:creationId xmlns:a16="http://schemas.microsoft.com/office/drawing/2014/main" id="{1B7E9971-FCC1-A088-6FEC-61D8A19DD1BF}"/>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3DD5FF25-A0D5-4F61-898A-F59C3DC72CBE}"/>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7F4E3890-C09E-5DBC-9394-B517D6BB2387}"/>
                    </a:ext>
                  </a:extLst>
                </p:cNvPr>
                <p:cNvSpPr/>
                <p:nvPr/>
              </p:nvSpPr>
              <p:spPr>
                <a:xfrm>
                  <a:off x="7620005" y="5363327"/>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nvGrpSpPr>
              <p:cNvPr id="26" name="组合 25">
                <a:extLst>
                  <a:ext uri="{FF2B5EF4-FFF2-40B4-BE49-F238E27FC236}">
                    <a16:creationId xmlns:a16="http://schemas.microsoft.com/office/drawing/2014/main" id="{B4225BCC-5071-DD85-A7FF-C5D3F3B77135}"/>
                  </a:ext>
                </a:extLst>
              </p:cNvPr>
              <p:cNvGrpSpPr/>
              <p:nvPr/>
            </p:nvGrpSpPr>
            <p:grpSpPr>
              <a:xfrm>
                <a:off x="10879316" y="4643413"/>
                <a:ext cx="862334" cy="121537"/>
                <a:chOff x="6977271" y="5351003"/>
                <a:chExt cx="974038" cy="115521"/>
              </a:xfrm>
            </p:grpSpPr>
            <p:sp>
              <p:nvSpPr>
                <p:cNvPr id="27" name="矩形 26">
                  <a:extLst>
                    <a:ext uri="{FF2B5EF4-FFF2-40B4-BE49-F238E27FC236}">
                      <a16:creationId xmlns:a16="http://schemas.microsoft.com/office/drawing/2014/main" id="{F1944A48-32A6-A899-0EE5-72E35B365EBF}"/>
                    </a:ext>
                  </a:extLst>
                </p:cNvPr>
                <p:cNvSpPr/>
                <p:nvPr/>
              </p:nvSpPr>
              <p:spPr>
                <a:xfrm>
                  <a:off x="6977271" y="5360504"/>
                  <a:ext cx="331304" cy="1060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9B194AF6-A7B9-E129-4418-1C7343F15FB7}"/>
                    </a:ext>
                  </a:extLst>
                </p:cNvPr>
                <p:cNvSpPr/>
                <p:nvPr/>
              </p:nvSpPr>
              <p:spPr>
                <a:xfrm>
                  <a:off x="7295321" y="5360506"/>
                  <a:ext cx="331304" cy="10601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44DAC77E-3EF9-A2B7-A6EB-3E44B8C0E3D3}"/>
                    </a:ext>
                  </a:extLst>
                </p:cNvPr>
                <p:cNvSpPr/>
                <p:nvPr/>
              </p:nvSpPr>
              <p:spPr>
                <a:xfrm>
                  <a:off x="7620005" y="5351003"/>
                  <a:ext cx="331304" cy="10601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p>
              </p:txBody>
            </p:sp>
          </p:grpSp>
        </p:grpSp>
        <p:sp>
          <p:nvSpPr>
            <p:cNvPr id="8" name="文本框 7">
              <a:extLst>
                <a:ext uri="{FF2B5EF4-FFF2-40B4-BE49-F238E27FC236}">
                  <a16:creationId xmlns:a16="http://schemas.microsoft.com/office/drawing/2014/main" id="{B7130FB6-3B3F-347F-9D6B-1C32E36871A9}"/>
                </a:ext>
              </a:extLst>
            </p:cNvPr>
            <p:cNvSpPr txBox="1"/>
            <p:nvPr/>
          </p:nvSpPr>
          <p:spPr>
            <a:xfrm>
              <a:off x="370564" y="5774864"/>
              <a:ext cx="2494714" cy="542832"/>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输入层</a:t>
              </a:r>
            </a:p>
          </p:txBody>
        </p:sp>
        <p:sp>
          <p:nvSpPr>
            <p:cNvPr id="9" name="文本框 8">
              <a:extLst>
                <a:ext uri="{FF2B5EF4-FFF2-40B4-BE49-F238E27FC236}">
                  <a16:creationId xmlns:a16="http://schemas.microsoft.com/office/drawing/2014/main" id="{D30B8030-3F7C-230D-5FDD-B0508F3CA5EA}"/>
                </a:ext>
              </a:extLst>
            </p:cNvPr>
            <p:cNvSpPr txBox="1"/>
            <p:nvPr/>
          </p:nvSpPr>
          <p:spPr>
            <a:xfrm>
              <a:off x="370564" y="4808179"/>
              <a:ext cx="2494714" cy="542832"/>
            </a:xfrm>
            <a:prstGeom prst="rect">
              <a:avLst/>
            </a:prstGeom>
            <a:noFill/>
          </p:spPr>
          <p:txBody>
            <a:bodyPr wrap="square" rtlCol="0">
              <a:spAutoFit/>
            </a:bodyPr>
            <a:lstStyle/>
            <a:p>
              <a:pPr algn="ctr"/>
              <a:r>
                <a:rPr lang="en-US" altLang="zh-CN" sz="1400" dirty="0">
                  <a:latin typeface="Times New Roman" panose="02020603050405020304" pitchFamily="18" charset="0"/>
                  <a:cs typeface="Times New Roman" panose="02020603050405020304" pitchFamily="18" charset="0"/>
                </a:rPr>
                <a:t>BERT</a:t>
              </a:r>
              <a:r>
                <a:rPr lang="zh-CN" altLang="en-US" sz="1400" dirty="0">
                  <a:latin typeface="宋体" panose="02010600030101010101" pitchFamily="2" charset="-122"/>
                  <a:ea typeface="宋体" panose="02010600030101010101" pitchFamily="2" charset="-122"/>
                </a:rPr>
                <a:t>编码层</a:t>
              </a:r>
            </a:p>
          </p:txBody>
        </p:sp>
        <p:sp>
          <p:nvSpPr>
            <p:cNvPr id="10" name="文本框 9">
              <a:extLst>
                <a:ext uri="{FF2B5EF4-FFF2-40B4-BE49-F238E27FC236}">
                  <a16:creationId xmlns:a16="http://schemas.microsoft.com/office/drawing/2014/main" id="{085B8CDB-3A74-B7A0-79A8-E2CC8EC55657}"/>
                </a:ext>
              </a:extLst>
            </p:cNvPr>
            <p:cNvSpPr txBox="1"/>
            <p:nvPr/>
          </p:nvSpPr>
          <p:spPr>
            <a:xfrm>
              <a:off x="357175" y="3163861"/>
              <a:ext cx="2494714" cy="542832"/>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多头注意力机制</a:t>
              </a:r>
            </a:p>
          </p:txBody>
        </p:sp>
        <p:sp>
          <p:nvSpPr>
            <p:cNvPr id="11" name="文本框 10">
              <a:extLst>
                <a:ext uri="{FF2B5EF4-FFF2-40B4-BE49-F238E27FC236}">
                  <a16:creationId xmlns:a16="http://schemas.microsoft.com/office/drawing/2014/main" id="{9ED3AE1A-0F5A-904B-8036-638149395F4C}"/>
                </a:ext>
              </a:extLst>
            </p:cNvPr>
            <p:cNvSpPr txBox="1"/>
            <p:nvPr/>
          </p:nvSpPr>
          <p:spPr>
            <a:xfrm>
              <a:off x="274302" y="1194818"/>
              <a:ext cx="2494714" cy="542832"/>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输出预测层</a:t>
              </a:r>
            </a:p>
          </p:txBody>
        </p:sp>
      </p:grpSp>
      <p:pic>
        <p:nvPicPr>
          <p:cNvPr id="78" name="Picture 2">
            <a:extLst>
              <a:ext uri="{FF2B5EF4-FFF2-40B4-BE49-F238E27FC236}">
                <a16:creationId xmlns:a16="http://schemas.microsoft.com/office/drawing/2014/main" id="{41B61892-5366-0991-5E90-6C20A4353DBB}"/>
              </a:ext>
            </a:extLst>
          </p:cNvPr>
          <p:cNvPicPr>
            <a:picLocks noChangeAspect="1" noChangeArrowheads="1"/>
          </p:cNvPicPr>
          <p:nvPr/>
        </p:nvPicPr>
        <p:blipFill>
          <a:blip r:embed="rId4" cstate="print"/>
          <a:srcRect/>
          <a:stretch>
            <a:fillRect/>
          </a:stretch>
        </p:blipFill>
        <p:spPr bwMode="auto">
          <a:xfrm>
            <a:off x="11286807" y="363026"/>
            <a:ext cx="576050" cy="606937"/>
          </a:xfrm>
          <a:prstGeom prst="rect">
            <a:avLst/>
          </a:prstGeom>
          <a:ln>
            <a:noFill/>
          </a:ln>
          <a:effectLst/>
        </p:spPr>
      </p:pic>
      <p:sp>
        <p:nvSpPr>
          <p:cNvPr id="79" name="文本框 78">
            <a:extLst>
              <a:ext uri="{FF2B5EF4-FFF2-40B4-BE49-F238E27FC236}">
                <a16:creationId xmlns:a16="http://schemas.microsoft.com/office/drawing/2014/main" id="{A22110C8-9499-0660-A04E-62E56CE471CB}"/>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12</a:t>
            </a:fld>
            <a:endParaRPr lang="zh-CN" altLang="en-US" sz="1400" dirty="0">
              <a:solidFill>
                <a:srgbClr val="0070C0"/>
              </a:solidFill>
              <a:ea typeface="印品黑体" panose="00000500000000000000" pitchFamily="2" charset="-122"/>
            </a:endParaRPr>
          </a:p>
        </p:txBody>
      </p:sp>
      <p:sp>
        <p:nvSpPr>
          <p:cNvPr id="82" name="文本框 81">
            <a:extLst>
              <a:ext uri="{FF2B5EF4-FFF2-40B4-BE49-F238E27FC236}">
                <a16:creationId xmlns:a16="http://schemas.microsoft.com/office/drawing/2014/main" id="{D1CA4ECF-6524-2185-E302-3387AC46AE2B}"/>
              </a:ext>
            </a:extLst>
          </p:cNvPr>
          <p:cNvSpPr txBox="1"/>
          <p:nvPr/>
        </p:nvSpPr>
        <p:spPr>
          <a:xfrm>
            <a:off x="821379" y="5906471"/>
            <a:ext cx="10753453" cy="584775"/>
          </a:xfrm>
          <a:prstGeom prst="rect">
            <a:avLst/>
          </a:prstGeom>
          <a:noFill/>
        </p:spPr>
        <p:txBody>
          <a:bodyPr wrap="square" rtlCol="0">
            <a:spAutoFit/>
          </a:bodyPr>
          <a:lstStyle/>
          <a:p>
            <a:r>
              <a:rPr lang="zh-CN" altLang="en-US" sz="1600" b="1" dirty="0"/>
              <a:t>优点：能够同时从多个角度和层次解析文本数据，通过并行处理不同子空间的信息，捕捉更为丰富和细微的情感表达，从而提高情感识别的准确性和模型对复杂情感状态的深入理解。</a:t>
            </a:r>
          </a:p>
        </p:txBody>
      </p:sp>
    </p:spTree>
    <p:extLst>
      <p:ext uri="{BB962C8B-B14F-4D97-AF65-F5344CB8AC3E}">
        <p14:creationId xmlns:p14="http://schemas.microsoft.com/office/powerpoint/2010/main" val="85770896"/>
      </p:ext>
    </p:extLst>
  </p:cSld>
  <p:clrMapOvr>
    <a:masterClrMapping/>
  </p:clrMapOvr>
  <p:transition advTm="2245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1333556" y="611516"/>
            <a:ext cx="2057344" cy="405102"/>
          </a:xfrm>
          <a:prstGeom prst="rect">
            <a:avLst/>
          </a:prstGeom>
        </p:spPr>
        <p:txBody>
          <a:bodyPr>
            <a:normAutofit/>
          </a:bodyPr>
          <a:lstStyle/>
          <a:p>
            <a:r>
              <a:rPr lang="zh-CN" altLang="en-US" dirty="0">
                <a:latin typeface="+mn-lt"/>
                <a:ea typeface="+mn-ea"/>
                <a:cs typeface="+mn-ea"/>
                <a:sym typeface="+mn-lt"/>
              </a:rPr>
              <a:t>训练策略</a:t>
            </a:r>
          </a:p>
        </p:txBody>
      </p:sp>
      <p:grpSp>
        <p:nvGrpSpPr>
          <p:cNvPr id="3" name="组合 2">
            <a:extLst>
              <a:ext uri="{FF2B5EF4-FFF2-40B4-BE49-F238E27FC236}">
                <a16:creationId xmlns:a16="http://schemas.microsoft.com/office/drawing/2014/main" id="{8C992FAE-4E43-F9CC-3B52-E542481FDFF3}"/>
              </a:ext>
            </a:extLst>
          </p:cNvPr>
          <p:cNvGrpSpPr/>
          <p:nvPr/>
        </p:nvGrpSpPr>
        <p:grpSpPr>
          <a:xfrm>
            <a:off x="486434" y="2135980"/>
            <a:ext cx="3216164" cy="3216164"/>
            <a:chOff x="1068251" y="2861983"/>
            <a:chExt cx="3343834" cy="3343834"/>
          </a:xfrm>
          <a:solidFill>
            <a:srgbClr val="0080CB"/>
          </a:solidFill>
        </p:grpSpPr>
        <p:sp>
          <p:nvSpPr>
            <p:cNvPr id="5" name="椭圆 4">
              <a:extLst>
                <a:ext uri="{FF2B5EF4-FFF2-40B4-BE49-F238E27FC236}">
                  <a16:creationId xmlns:a16="http://schemas.microsoft.com/office/drawing/2014/main" id="{34F0277C-B2BB-8D83-AF06-C078592B659F}"/>
                </a:ext>
              </a:extLst>
            </p:cNvPr>
            <p:cNvSpPr/>
            <p:nvPr/>
          </p:nvSpPr>
          <p:spPr>
            <a:xfrm>
              <a:off x="1068251" y="2861983"/>
              <a:ext cx="3343834" cy="334383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id="{644F7086-F68C-9164-7723-669B274C795D}"/>
                </a:ext>
              </a:extLst>
            </p:cNvPr>
            <p:cNvSpPr/>
            <p:nvPr/>
          </p:nvSpPr>
          <p:spPr>
            <a:xfrm>
              <a:off x="1225836" y="3019568"/>
              <a:ext cx="3028664" cy="30286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a:solidFill>
                    <a:srgbClr val="0070C0"/>
                  </a:solidFill>
                  <a:latin typeface="微软雅黑" panose="020B0503020204020204" pitchFamily="34" charset="-122"/>
                  <a:ea typeface="微软雅黑" panose="020B0503020204020204" pitchFamily="34" charset="-122"/>
                </a:rPr>
                <a:t>模型训练策略</a:t>
              </a:r>
            </a:p>
          </p:txBody>
        </p:sp>
      </p:grpSp>
      <p:sp>
        <p:nvSpPr>
          <p:cNvPr id="7" name="Freeform 11">
            <a:extLst>
              <a:ext uri="{FF2B5EF4-FFF2-40B4-BE49-F238E27FC236}">
                <a16:creationId xmlns:a16="http://schemas.microsoft.com/office/drawing/2014/main" id="{A2C2F6A9-F3EF-84BE-0CC7-C80BE3A4D6F7}"/>
              </a:ext>
            </a:extLst>
          </p:cNvPr>
          <p:cNvSpPr/>
          <p:nvPr/>
        </p:nvSpPr>
        <p:spPr bwMode="auto">
          <a:xfrm flipH="1">
            <a:off x="4078747" y="1348628"/>
            <a:ext cx="617919" cy="4724352"/>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12" h="6009">
                <a:moveTo>
                  <a:pt x="0" y="82"/>
                </a:moveTo>
                <a:lnTo>
                  <a:pt x="0" y="0"/>
                </a:lnTo>
                <a:cubicBezTo>
                  <a:pt x="108" y="24"/>
                  <a:pt x="202" y="47"/>
                  <a:pt x="283" y="71"/>
                </a:cubicBezTo>
                <a:cubicBezTo>
                  <a:pt x="364" y="95"/>
                  <a:pt x="442" y="132"/>
                  <a:pt x="518" y="182"/>
                </a:cubicBezTo>
                <a:cubicBezTo>
                  <a:pt x="594" y="231"/>
                  <a:pt x="662" y="293"/>
                  <a:pt x="723" y="367"/>
                </a:cubicBezTo>
                <a:cubicBezTo>
                  <a:pt x="784" y="443"/>
                  <a:pt x="830" y="519"/>
                  <a:pt x="863" y="597"/>
                </a:cubicBezTo>
                <a:cubicBezTo>
                  <a:pt x="894" y="675"/>
                  <a:pt x="917" y="759"/>
                  <a:pt x="935" y="848"/>
                </a:cubicBezTo>
                <a:cubicBezTo>
                  <a:pt x="952" y="937"/>
                  <a:pt x="963" y="1036"/>
                  <a:pt x="966" y="1141"/>
                </a:cubicBezTo>
                <a:cubicBezTo>
                  <a:pt x="970" y="1248"/>
                  <a:pt x="959" y="1368"/>
                  <a:pt x="931" y="1500"/>
                </a:cubicBezTo>
                <a:lnTo>
                  <a:pt x="856" y="1831"/>
                </a:lnTo>
                <a:cubicBezTo>
                  <a:pt x="834" y="1941"/>
                  <a:pt x="826" y="2055"/>
                  <a:pt x="828" y="2176"/>
                </a:cubicBezTo>
                <a:cubicBezTo>
                  <a:pt x="828" y="2308"/>
                  <a:pt x="841" y="2417"/>
                  <a:pt x="869" y="2502"/>
                </a:cubicBezTo>
                <a:cubicBezTo>
                  <a:pt x="896" y="2587"/>
                  <a:pt x="926" y="2649"/>
                  <a:pt x="961" y="2687"/>
                </a:cubicBezTo>
                <a:cubicBezTo>
                  <a:pt x="994" y="2724"/>
                  <a:pt x="1044" y="2767"/>
                  <a:pt x="1110" y="2815"/>
                </a:cubicBezTo>
                <a:cubicBezTo>
                  <a:pt x="1176" y="2862"/>
                  <a:pt x="1221" y="2887"/>
                  <a:pt x="1244" y="2889"/>
                </a:cubicBezTo>
                <a:lnTo>
                  <a:pt x="1412" y="2920"/>
                </a:lnTo>
                <a:lnTo>
                  <a:pt x="1412" y="3079"/>
                </a:lnTo>
                <a:cubicBezTo>
                  <a:pt x="1298" y="3106"/>
                  <a:pt x="1213" y="3134"/>
                  <a:pt x="1156" y="3164"/>
                </a:cubicBezTo>
                <a:cubicBezTo>
                  <a:pt x="1099" y="3193"/>
                  <a:pt x="1047" y="3236"/>
                  <a:pt x="999" y="3291"/>
                </a:cubicBezTo>
                <a:cubicBezTo>
                  <a:pt x="952" y="3347"/>
                  <a:pt x="912" y="3419"/>
                  <a:pt x="880" y="3508"/>
                </a:cubicBezTo>
                <a:cubicBezTo>
                  <a:pt x="847" y="3596"/>
                  <a:pt x="829" y="3695"/>
                  <a:pt x="826" y="3804"/>
                </a:cubicBezTo>
                <a:cubicBezTo>
                  <a:pt x="823" y="3914"/>
                  <a:pt x="830" y="4043"/>
                  <a:pt x="850" y="4193"/>
                </a:cubicBezTo>
                <a:cubicBezTo>
                  <a:pt x="860" y="4296"/>
                  <a:pt x="872" y="4383"/>
                  <a:pt x="884" y="4452"/>
                </a:cubicBezTo>
                <a:lnTo>
                  <a:pt x="935" y="4752"/>
                </a:lnTo>
                <a:cubicBezTo>
                  <a:pt x="948" y="4855"/>
                  <a:pt x="951" y="4953"/>
                  <a:pt x="944" y="5046"/>
                </a:cubicBezTo>
                <a:cubicBezTo>
                  <a:pt x="936" y="5150"/>
                  <a:pt x="919" y="5246"/>
                  <a:pt x="893" y="5331"/>
                </a:cubicBezTo>
                <a:cubicBezTo>
                  <a:pt x="866" y="5416"/>
                  <a:pt x="832" y="5491"/>
                  <a:pt x="792" y="5553"/>
                </a:cubicBezTo>
                <a:cubicBezTo>
                  <a:pt x="753" y="5617"/>
                  <a:pt x="702" y="5678"/>
                  <a:pt x="639" y="5737"/>
                </a:cubicBezTo>
                <a:cubicBezTo>
                  <a:pt x="578" y="5796"/>
                  <a:pt x="517" y="5843"/>
                  <a:pt x="458" y="5879"/>
                </a:cubicBezTo>
                <a:lnTo>
                  <a:pt x="310" y="5967"/>
                </a:lnTo>
                <a:cubicBezTo>
                  <a:pt x="268" y="5997"/>
                  <a:pt x="235" y="6009"/>
                  <a:pt x="212" y="6005"/>
                </a:cubicBezTo>
                <a:cubicBezTo>
                  <a:pt x="189" y="6001"/>
                  <a:pt x="175" y="5990"/>
                  <a:pt x="171" y="5973"/>
                </a:cubicBezTo>
                <a:cubicBezTo>
                  <a:pt x="166" y="5954"/>
                  <a:pt x="179" y="5932"/>
                  <a:pt x="208" y="5905"/>
                </a:cubicBezTo>
                <a:cubicBezTo>
                  <a:pt x="219" y="5896"/>
                  <a:pt x="249" y="5874"/>
                  <a:pt x="300" y="5840"/>
                </a:cubicBezTo>
                <a:cubicBezTo>
                  <a:pt x="351" y="5804"/>
                  <a:pt x="399" y="5760"/>
                  <a:pt x="445" y="5705"/>
                </a:cubicBezTo>
                <a:cubicBezTo>
                  <a:pt x="492" y="5650"/>
                  <a:pt x="532" y="5587"/>
                  <a:pt x="564" y="5512"/>
                </a:cubicBezTo>
                <a:cubicBezTo>
                  <a:pt x="596" y="5439"/>
                  <a:pt x="617" y="5373"/>
                  <a:pt x="625" y="5315"/>
                </a:cubicBezTo>
                <a:cubicBezTo>
                  <a:pt x="634" y="5258"/>
                  <a:pt x="638" y="5192"/>
                  <a:pt x="638" y="5121"/>
                </a:cubicBezTo>
                <a:cubicBezTo>
                  <a:pt x="636" y="5058"/>
                  <a:pt x="629" y="4960"/>
                  <a:pt x="618" y="4825"/>
                </a:cubicBezTo>
                <a:cubicBezTo>
                  <a:pt x="606" y="4690"/>
                  <a:pt x="595" y="4553"/>
                  <a:pt x="584" y="4415"/>
                </a:cubicBezTo>
                <a:cubicBezTo>
                  <a:pt x="574" y="4277"/>
                  <a:pt x="572" y="4156"/>
                  <a:pt x="578" y="4048"/>
                </a:cubicBezTo>
                <a:cubicBezTo>
                  <a:pt x="584" y="3907"/>
                  <a:pt x="603" y="3792"/>
                  <a:pt x="632" y="3704"/>
                </a:cubicBezTo>
                <a:cubicBezTo>
                  <a:pt x="661" y="3616"/>
                  <a:pt x="708" y="3518"/>
                  <a:pt x="772" y="3412"/>
                </a:cubicBezTo>
                <a:cubicBezTo>
                  <a:pt x="837" y="3305"/>
                  <a:pt x="893" y="3239"/>
                  <a:pt x="941" y="3215"/>
                </a:cubicBezTo>
                <a:lnTo>
                  <a:pt x="1273" y="3012"/>
                </a:lnTo>
                <a:cubicBezTo>
                  <a:pt x="1174" y="2959"/>
                  <a:pt x="1094" y="2915"/>
                  <a:pt x="1034" y="2880"/>
                </a:cubicBezTo>
                <a:cubicBezTo>
                  <a:pt x="975" y="2844"/>
                  <a:pt x="924" y="2806"/>
                  <a:pt x="884" y="2767"/>
                </a:cubicBezTo>
                <a:cubicBezTo>
                  <a:pt x="844" y="2729"/>
                  <a:pt x="796" y="2661"/>
                  <a:pt x="739" y="2564"/>
                </a:cubicBezTo>
                <a:cubicBezTo>
                  <a:pt x="683" y="2467"/>
                  <a:pt x="639" y="2372"/>
                  <a:pt x="611" y="2279"/>
                </a:cubicBezTo>
                <a:cubicBezTo>
                  <a:pt x="582" y="2187"/>
                  <a:pt x="565" y="2085"/>
                  <a:pt x="558" y="1973"/>
                </a:cubicBezTo>
                <a:cubicBezTo>
                  <a:pt x="550" y="1862"/>
                  <a:pt x="552" y="1753"/>
                  <a:pt x="562" y="1648"/>
                </a:cubicBezTo>
                <a:cubicBezTo>
                  <a:pt x="566" y="1592"/>
                  <a:pt x="580" y="1478"/>
                  <a:pt x="605" y="1308"/>
                </a:cubicBezTo>
                <a:cubicBezTo>
                  <a:pt x="629" y="1139"/>
                  <a:pt x="643" y="1004"/>
                  <a:pt x="646" y="904"/>
                </a:cubicBezTo>
                <a:cubicBezTo>
                  <a:pt x="649" y="805"/>
                  <a:pt x="641" y="718"/>
                  <a:pt x="619" y="644"/>
                </a:cubicBezTo>
                <a:cubicBezTo>
                  <a:pt x="603" y="589"/>
                  <a:pt x="569" y="522"/>
                  <a:pt x="520" y="441"/>
                </a:cubicBezTo>
                <a:cubicBezTo>
                  <a:pt x="470" y="360"/>
                  <a:pt x="411" y="293"/>
                  <a:pt x="341" y="240"/>
                </a:cubicBezTo>
                <a:cubicBezTo>
                  <a:pt x="272" y="187"/>
                  <a:pt x="208" y="152"/>
                  <a:pt x="152" y="132"/>
                </a:cubicBezTo>
                <a:lnTo>
                  <a:pt x="0" y="82"/>
                </a:lnTo>
                <a:close/>
              </a:path>
            </a:pathLst>
          </a:custGeom>
          <a:solidFill>
            <a:srgbClr val="0070C0"/>
          </a:solidFill>
          <a:ln>
            <a:noFill/>
          </a:ln>
        </p:spPr>
        <p:txBody>
          <a:bodyPr vert="horz" wrap="square" lIns="91440" tIns="45720" rIns="91440" bIns="45720" numCol="1" anchor="t" anchorCtr="0" compatLnSpc="1"/>
          <a:lstStyle/>
          <a:p>
            <a:endParaRPr lang="zh-CN" altLang="en-US"/>
          </a:p>
        </p:txBody>
      </p:sp>
      <p:grpSp>
        <p:nvGrpSpPr>
          <p:cNvPr id="8" name="组合 7">
            <a:extLst>
              <a:ext uri="{FF2B5EF4-FFF2-40B4-BE49-F238E27FC236}">
                <a16:creationId xmlns:a16="http://schemas.microsoft.com/office/drawing/2014/main" id="{8BB20ADE-5D10-60F2-1B9A-AF5B274EE2E8}"/>
              </a:ext>
            </a:extLst>
          </p:cNvPr>
          <p:cNvGrpSpPr/>
          <p:nvPr/>
        </p:nvGrpSpPr>
        <p:grpSpPr>
          <a:xfrm>
            <a:off x="4696666" y="5200575"/>
            <a:ext cx="6577480" cy="1144840"/>
            <a:chOff x="5710619" y="2505937"/>
            <a:chExt cx="6096000" cy="1144840"/>
          </a:xfrm>
        </p:grpSpPr>
        <p:sp>
          <p:nvSpPr>
            <p:cNvPr id="9" name="矩形 8">
              <a:extLst>
                <a:ext uri="{FF2B5EF4-FFF2-40B4-BE49-F238E27FC236}">
                  <a16:creationId xmlns:a16="http://schemas.microsoft.com/office/drawing/2014/main" id="{B35077ED-20A0-2F82-E359-C4029B6929F2}"/>
                </a:ext>
              </a:extLst>
            </p:cNvPr>
            <p:cNvSpPr/>
            <p:nvPr/>
          </p:nvSpPr>
          <p:spPr>
            <a:xfrm>
              <a:off x="5710619" y="2505937"/>
              <a:ext cx="1454759"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混合精度训练</a:t>
              </a:r>
            </a:p>
          </p:txBody>
        </p:sp>
        <p:sp>
          <p:nvSpPr>
            <p:cNvPr id="10" name="矩形 9">
              <a:extLst>
                <a:ext uri="{FF2B5EF4-FFF2-40B4-BE49-F238E27FC236}">
                  <a16:creationId xmlns:a16="http://schemas.microsoft.com/office/drawing/2014/main" id="{D0DE8FE8-8091-87AC-AB01-B5A9DB6F6314}"/>
                </a:ext>
              </a:extLst>
            </p:cNvPr>
            <p:cNvSpPr/>
            <p:nvPr/>
          </p:nvSpPr>
          <p:spPr>
            <a:xfrm>
              <a:off x="5710619" y="2863254"/>
              <a:ext cx="6096000" cy="787523"/>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结合较高和较低精度的数据格式（如</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32</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位和</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位浮点数），减少内存使用、加速计算过程，同时保持模型的精度和性能。</a:t>
              </a:r>
            </a:p>
          </p:txBody>
        </p:sp>
      </p:grpSp>
      <p:grpSp>
        <p:nvGrpSpPr>
          <p:cNvPr id="14" name="组合 13">
            <a:extLst>
              <a:ext uri="{FF2B5EF4-FFF2-40B4-BE49-F238E27FC236}">
                <a16:creationId xmlns:a16="http://schemas.microsoft.com/office/drawing/2014/main" id="{90611930-2385-8B92-903B-54247E7FD1E9}"/>
              </a:ext>
            </a:extLst>
          </p:cNvPr>
          <p:cNvGrpSpPr/>
          <p:nvPr/>
        </p:nvGrpSpPr>
        <p:grpSpPr>
          <a:xfrm>
            <a:off x="4696666" y="1629612"/>
            <a:ext cx="6577480" cy="1131296"/>
            <a:chOff x="5710619" y="5040001"/>
            <a:chExt cx="6096000" cy="1131296"/>
          </a:xfrm>
        </p:grpSpPr>
        <p:sp>
          <p:nvSpPr>
            <p:cNvPr id="15" name="矩形 14">
              <a:extLst>
                <a:ext uri="{FF2B5EF4-FFF2-40B4-BE49-F238E27FC236}">
                  <a16:creationId xmlns:a16="http://schemas.microsoft.com/office/drawing/2014/main" id="{66905540-ECE8-4AD8-0594-B74A7C22369F}"/>
                </a:ext>
              </a:extLst>
            </p:cNvPr>
            <p:cNvSpPr/>
            <p:nvPr/>
          </p:nvSpPr>
          <p:spPr>
            <a:xfrm>
              <a:off x="5744185" y="5040001"/>
              <a:ext cx="1966600" cy="458908"/>
            </a:xfrm>
            <a:prstGeom prst="rect">
              <a:avLst/>
            </a:prstGeom>
          </p:spPr>
          <p:txBody>
            <a:bodyPr wrap="none">
              <a:spAutoFit/>
            </a:bodyPr>
            <a:lstStyle/>
            <a:p>
              <a:pPr lvl="0">
                <a:lnSpc>
                  <a:spcPct val="150000"/>
                </a:lnSpc>
              </a:pPr>
              <a:r>
                <a:rPr lang="zh-CN" altLang="zh-CN" b="1" dirty="0">
                  <a:solidFill>
                    <a:srgbClr val="00B0F0"/>
                  </a:solidFill>
                  <a:latin typeface="微软雅黑" panose="020B0503020204020204" pitchFamily="34" charset="-122"/>
                  <a:ea typeface="微软雅黑" panose="020B0503020204020204" pitchFamily="34" charset="-122"/>
                </a:rPr>
                <a:t>随机权重平均</a:t>
              </a:r>
              <a:r>
                <a:rPr lang="en-US" altLang="zh-CN" b="1" dirty="0">
                  <a:solidFill>
                    <a:srgbClr val="00B0F0"/>
                  </a:solidFill>
                  <a:latin typeface="微软雅黑" panose="020B0503020204020204" pitchFamily="34" charset="-122"/>
                  <a:ea typeface="微软雅黑" panose="020B0503020204020204" pitchFamily="34" charset="-122"/>
                </a:rPr>
                <a:t>SWA</a:t>
              </a:r>
              <a:endParaRPr lang="zh-CN" altLang="zh-CN" b="1" dirty="0">
                <a:solidFill>
                  <a:srgbClr val="00B0F0"/>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5CC532B1-0924-61A2-0E89-A429EDFCC736}"/>
                </a:ext>
              </a:extLst>
            </p:cNvPr>
            <p:cNvSpPr/>
            <p:nvPr/>
          </p:nvSpPr>
          <p:spPr>
            <a:xfrm>
              <a:off x="5710619" y="5383774"/>
              <a:ext cx="6096000" cy="787523"/>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在训练过程中对模型的参数进行平均，以平滑参数更新过程中的噪声，提高模型的泛化性。</a:t>
              </a:r>
            </a:p>
          </p:txBody>
        </p:sp>
      </p:grpSp>
      <p:grpSp>
        <p:nvGrpSpPr>
          <p:cNvPr id="17" name="组合 16">
            <a:extLst>
              <a:ext uri="{FF2B5EF4-FFF2-40B4-BE49-F238E27FC236}">
                <a16:creationId xmlns:a16="http://schemas.microsoft.com/office/drawing/2014/main" id="{D9C83EDA-8A8B-60A2-B60D-6C42A31BB6D3}"/>
              </a:ext>
            </a:extLst>
          </p:cNvPr>
          <p:cNvGrpSpPr/>
          <p:nvPr/>
        </p:nvGrpSpPr>
        <p:grpSpPr>
          <a:xfrm>
            <a:off x="4732883" y="894063"/>
            <a:ext cx="6577480" cy="775508"/>
            <a:chOff x="5710619" y="5026457"/>
            <a:chExt cx="6096000" cy="775508"/>
          </a:xfrm>
        </p:grpSpPr>
        <p:sp>
          <p:nvSpPr>
            <p:cNvPr id="18" name="矩形 17">
              <a:extLst>
                <a:ext uri="{FF2B5EF4-FFF2-40B4-BE49-F238E27FC236}">
                  <a16:creationId xmlns:a16="http://schemas.microsoft.com/office/drawing/2014/main" id="{0599D03E-78BF-D0CC-A28E-05C0505CF5CC}"/>
                </a:ext>
              </a:extLst>
            </p:cNvPr>
            <p:cNvSpPr/>
            <p:nvPr/>
          </p:nvSpPr>
          <p:spPr>
            <a:xfrm>
              <a:off x="5710619" y="5026457"/>
              <a:ext cx="1529043"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对抗训练</a:t>
              </a:r>
              <a:r>
                <a:rPr lang="en-US" altLang="zh-CN" b="1" dirty="0">
                  <a:solidFill>
                    <a:srgbClr val="00B0F0"/>
                  </a:solidFill>
                  <a:latin typeface="微软雅黑" panose="020B0503020204020204" pitchFamily="34" charset="-122"/>
                  <a:ea typeface="微软雅黑" panose="020B0503020204020204" pitchFamily="34" charset="-122"/>
                </a:rPr>
                <a:t>FGM</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18F23B15-DC98-BD12-B683-1705DE0A6B36}"/>
                </a:ext>
              </a:extLst>
            </p:cNvPr>
            <p:cNvSpPr/>
            <p:nvPr/>
          </p:nvSpPr>
          <p:spPr>
            <a:xfrm>
              <a:off x="5710619" y="5383774"/>
              <a:ext cx="6096000" cy="418191"/>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给数据添加小幅度的扰动，使模型能正确分类样本，提高模型的鲁棒性。</a:t>
              </a:r>
            </a:p>
          </p:txBody>
        </p:sp>
      </p:grpSp>
      <p:grpSp>
        <p:nvGrpSpPr>
          <p:cNvPr id="20" name="组合 19">
            <a:extLst>
              <a:ext uri="{FF2B5EF4-FFF2-40B4-BE49-F238E27FC236}">
                <a16:creationId xmlns:a16="http://schemas.microsoft.com/office/drawing/2014/main" id="{4115DA57-1FDC-28F2-8021-F69578A066B3}"/>
              </a:ext>
            </a:extLst>
          </p:cNvPr>
          <p:cNvGrpSpPr/>
          <p:nvPr/>
        </p:nvGrpSpPr>
        <p:grpSpPr>
          <a:xfrm>
            <a:off x="4696666" y="4017355"/>
            <a:ext cx="6577480" cy="1144840"/>
            <a:chOff x="5710619" y="5026457"/>
            <a:chExt cx="6096000" cy="1144840"/>
          </a:xfrm>
        </p:grpSpPr>
        <p:sp>
          <p:nvSpPr>
            <p:cNvPr id="21" name="矩形 20">
              <a:extLst>
                <a:ext uri="{FF2B5EF4-FFF2-40B4-BE49-F238E27FC236}">
                  <a16:creationId xmlns:a16="http://schemas.microsoft.com/office/drawing/2014/main" id="{CEBEB421-11A5-05B0-E99A-1A21C57D07E0}"/>
                </a:ext>
              </a:extLst>
            </p:cNvPr>
            <p:cNvSpPr/>
            <p:nvPr/>
          </p:nvSpPr>
          <p:spPr>
            <a:xfrm>
              <a:off x="5710619" y="5026457"/>
              <a:ext cx="1240824"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学习率预热</a:t>
              </a:r>
            </a:p>
          </p:txBody>
        </p:sp>
        <p:sp>
          <p:nvSpPr>
            <p:cNvPr id="22" name="矩形 21">
              <a:extLst>
                <a:ext uri="{FF2B5EF4-FFF2-40B4-BE49-F238E27FC236}">
                  <a16:creationId xmlns:a16="http://schemas.microsoft.com/office/drawing/2014/main" id="{F3804033-9D03-68C5-86AE-47A628F5818B}"/>
                </a:ext>
              </a:extLst>
            </p:cNvPr>
            <p:cNvSpPr/>
            <p:nvPr/>
          </p:nvSpPr>
          <p:spPr>
            <a:xfrm>
              <a:off x="5710619" y="5383774"/>
              <a:ext cx="6096000" cy="787523"/>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进行学习率预热动态调节学习率，并对模型不同模块分层设置学习率，提高模型的泛化能力和训练效果。</a:t>
              </a:r>
            </a:p>
          </p:txBody>
        </p:sp>
      </p:grpSp>
      <p:grpSp>
        <p:nvGrpSpPr>
          <p:cNvPr id="23" name="组合 22">
            <a:extLst>
              <a:ext uri="{FF2B5EF4-FFF2-40B4-BE49-F238E27FC236}">
                <a16:creationId xmlns:a16="http://schemas.microsoft.com/office/drawing/2014/main" id="{25623173-9113-2EDC-23C7-BD1BCE83358A}"/>
              </a:ext>
            </a:extLst>
          </p:cNvPr>
          <p:cNvGrpSpPr/>
          <p:nvPr/>
        </p:nvGrpSpPr>
        <p:grpSpPr>
          <a:xfrm>
            <a:off x="4696666" y="2830031"/>
            <a:ext cx="6577480" cy="1148944"/>
            <a:chOff x="5710619" y="5026457"/>
            <a:chExt cx="6096000" cy="1148944"/>
          </a:xfrm>
        </p:grpSpPr>
        <p:sp>
          <p:nvSpPr>
            <p:cNvPr id="24" name="矩形 23">
              <a:extLst>
                <a:ext uri="{FF2B5EF4-FFF2-40B4-BE49-F238E27FC236}">
                  <a16:creationId xmlns:a16="http://schemas.microsoft.com/office/drawing/2014/main" id="{FCE77F9E-1FB2-3D06-A8FE-D19778AD0FE8}"/>
                </a:ext>
              </a:extLst>
            </p:cNvPr>
            <p:cNvSpPr/>
            <p:nvPr/>
          </p:nvSpPr>
          <p:spPr>
            <a:xfrm>
              <a:off x="5710619" y="5026457"/>
              <a:ext cx="1389390" cy="369332"/>
            </a:xfrm>
            <a:prstGeom prst="rect">
              <a:avLst/>
            </a:prstGeom>
          </p:spPr>
          <p:txBody>
            <a:bodyPr wrap="none">
              <a:spAutoFit/>
            </a:bodyPr>
            <a:lstStyle/>
            <a:p>
              <a:r>
                <a:rPr lang="en-US" altLang="zh-CN" b="1" dirty="0">
                  <a:solidFill>
                    <a:srgbClr val="00B0F0"/>
                  </a:solidFill>
                  <a:latin typeface="微软雅黑" panose="020B0503020204020204" pitchFamily="34" charset="-122"/>
                  <a:ea typeface="微软雅黑" panose="020B0503020204020204" pitchFamily="34" charset="-122"/>
                </a:rPr>
                <a:t>K</a:t>
              </a:r>
              <a:r>
                <a:rPr lang="zh-CN" altLang="en-US" b="1" dirty="0">
                  <a:solidFill>
                    <a:srgbClr val="00B0F0"/>
                  </a:solidFill>
                  <a:latin typeface="微软雅黑" panose="020B0503020204020204" pitchFamily="34" charset="-122"/>
                  <a:ea typeface="微软雅黑" panose="020B0503020204020204" pitchFamily="34" charset="-122"/>
                </a:rPr>
                <a:t>折交叉训练</a:t>
              </a:r>
            </a:p>
          </p:txBody>
        </p:sp>
        <p:sp>
          <p:nvSpPr>
            <p:cNvPr id="25" name="矩形 24">
              <a:extLst>
                <a:ext uri="{FF2B5EF4-FFF2-40B4-BE49-F238E27FC236}">
                  <a16:creationId xmlns:a16="http://schemas.microsoft.com/office/drawing/2014/main" id="{7469819E-3966-D013-4AEB-4051FE05843B}"/>
                </a:ext>
              </a:extLst>
            </p:cNvPr>
            <p:cNvSpPr/>
            <p:nvPr/>
          </p:nvSpPr>
          <p:spPr>
            <a:xfrm>
              <a:off x="5710619" y="5383774"/>
              <a:ext cx="6096000" cy="791627"/>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将数据平均分为</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K</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份，轮流使用其中一个子集作为测试集、其余作为训练集，进行</a:t>
              </a:r>
              <a:r>
                <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rPr>
                <a:t>K</a:t>
              </a: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次训练和测试，提高模型评估的准确性和可靠性。</a:t>
              </a:r>
            </a:p>
          </p:txBody>
        </p:sp>
      </p:grpSp>
      <p:pic>
        <p:nvPicPr>
          <p:cNvPr id="27" name="Picture 2">
            <a:extLst>
              <a:ext uri="{FF2B5EF4-FFF2-40B4-BE49-F238E27FC236}">
                <a16:creationId xmlns:a16="http://schemas.microsoft.com/office/drawing/2014/main" id="{D39A3C77-3A40-2622-94B4-6713B994854C}"/>
              </a:ext>
            </a:extLst>
          </p:cNvPr>
          <p:cNvPicPr>
            <a:picLocks noChangeAspect="1" noChangeArrowheads="1"/>
          </p:cNvPicPr>
          <p:nvPr/>
        </p:nvPicPr>
        <p:blipFill>
          <a:blip r:embed="rId3" cstate="print"/>
          <a:srcRect/>
          <a:stretch>
            <a:fillRect/>
          </a:stretch>
        </p:blipFill>
        <p:spPr bwMode="auto">
          <a:xfrm>
            <a:off x="11286807" y="363026"/>
            <a:ext cx="576050" cy="606937"/>
          </a:xfrm>
          <a:prstGeom prst="rect">
            <a:avLst/>
          </a:prstGeom>
          <a:ln>
            <a:noFill/>
          </a:ln>
          <a:effectLst/>
        </p:spPr>
      </p:pic>
      <p:sp>
        <p:nvSpPr>
          <p:cNvPr id="11" name="文本框 10">
            <a:extLst>
              <a:ext uri="{FF2B5EF4-FFF2-40B4-BE49-F238E27FC236}">
                <a16:creationId xmlns:a16="http://schemas.microsoft.com/office/drawing/2014/main" id="{1D5FBF2C-16DA-063A-8368-57E18012E64D}"/>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13</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3448329973"/>
      </p:ext>
    </p:extLst>
  </p:cSld>
  <p:clrMapOvr>
    <a:masterClrMapping/>
  </p:clrMapOvr>
  <p:transition advTm="17672">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1218175" y="627650"/>
            <a:ext cx="2252341" cy="405102"/>
          </a:xfrm>
          <a:prstGeom prst="rect">
            <a:avLst/>
          </a:prstGeom>
        </p:spPr>
        <p:txBody>
          <a:bodyPr>
            <a:normAutofit/>
          </a:bodyPr>
          <a:lstStyle/>
          <a:p>
            <a:r>
              <a:rPr lang="zh-CN" altLang="en-US" dirty="0">
                <a:latin typeface="+mn-lt"/>
                <a:ea typeface="+mn-ea"/>
                <a:cs typeface="+mn-ea"/>
                <a:sym typeface="+mn-lt"/>
              </a:rPr>
              <a:t>数据集介绍</a:t>
            </a:r>
          </a:p>
        </p:txBody>
      </p:sp>
      <p:sp>
        <p:nvSpPr>
          <p:cNvPr id="3" name="文本框 2">
            <a:extLst>
              <a:ext uri="{FF2B5EF4-FFF2-40B4-BE49-F238E27FC236}">
                <a16:creationId xmlns:a16="http://schemas.microsoft.com/office/drawing/2014/main" id="{F1853CB1-C613-6930-750F-75D4873753B2}"/>
              </a:ext>
            </a:extLst>
          </p:cNvPr>
          <p:cNvSpPr txBox="1"/>
          <p:nvPr/>
        </p:nvSpPr>
        <p:spPr>
          <a:xfrm>
            <a:off x="745724" y="1416121"/>
            <a:ext cx="10830757" cy="584775"/>
          </a:xfrm>
          <a:prstGeom prst="rect">
            <a:avLst/>
          </a:prstGeom>
          <a:noFill/>
        </p:spPr>
        <p:txBody>
          <a:bodyPr wrap="square" rtlCol="0">
            <a:spAutoFit/>
          </a:bodyPr>
          <a:lstStyle/>
          <a:p>
            <a:pPr algn="just"/>
            <a:r>
              <a:rPr lang="zh-CN" altLang="en-US" sz="1600" b="1" dirty="0">
                <a:latin typeface="+mn-ea"/>
              </a:rPr>
              <a:t>实验数据：</a:t>
            </a:r>
            <a:r>
              <a:rPr lang="zh-CN" altLang="en-US" sz="1600" dirty="0"/>
              <a:t>本文的数据来自</a:t>
            </a:r>
            <a:r>
              <a:rPr lang="en-US" altLang="zh-CN" sz="1600" dirty="0"/>
              <a:t>CCFBDCI</a:t>
            </a:r>
            <a:r>
              <a:rPr lang="zh-CN" altLang="en-US" sz="1600" dirty="0"/>
              <a:t>“剧本角色情感识别”赛题，数据集是一部分电影剧本，每条数据一共有六个标签，分别代表爱乐惊怒恐哀六类情感的情感极性，</a:t>
            </a:r>
            <a:r>
              <a:rPr lang="zh-CN" altLang="en-US" sz="1600" dirty="0">
                <a:latin typeface="+mn-ea"/>
              </a:rPr>
              <a:t>情感极性范围是</a:t>
            </a:r>
            <a:r>
              <a:rPr lang="en-US" altLang="zh-CN" sz="1600" dirty="0">
                <a:latin typeface="+mn-ea"/>
              </a:rPr>
              <a:t>[0, 1, 2, 3]</a:t>
            </a:r>
            <a:r>
              <a:rPr lang="zh-CN" altLang="en-US" sz="1600" dirty="0">
                <a:latin typeface="+mn-ea"/>
              </a:rPr>
              <a:t>，</a:t>
            </a:r>
            <a:r>
              <a:rPr lang="en-US" altLang="zh-CN" sz="1600" dirty="0">
                <a:latin typeface="+mn-ea"/>
              </a:rPr>
              <a:t>0-</a:t>
            </a:r>
            <a:r>
              <a:rPr lang="zh-CN" altLang="en-US" sz="1600" dirty="0">
                <a:latin typeface="+mn-ea"/>
              </a:rPr>
              <a:t>没有，</a:t>
            </a:r>
            <a:r>
              <a:rPr lang="en-US" altLang="zh-CN" sz="1600" dirty="0">
                <a:latin typeface="+mn-ea"/>
              </a:rPr>
              <a:t>1-</a:t>
            </a:r>
            <a:r>
              <a:rPr lang="zh-CN" altLang="en-US" sz="1600" dirty="0">
                <a:latin typeface="+mn-ea"/>
              </a:rPr>
              <a:t>弱，</a:t>
            </a:r>
            <a:r>
              <a:rPr lang="en-US" altLang="zh-CN" sz="1600" dirty="0">
                <a:latin typeface="+mn-ea"/>
              </a:rPr>
              <a:t>2-</a:t>
            </a:r>
            <a:r>
              <a:rPr lang="zh-CN" altLang="en-US" sz="1600" dirty="0">
                <a:latin typeface="+mn-ea"/>
              </a:rPr>
              <a:t>中，</a:t>
            </a:r>
            <a:r>
              <a:rPr lang="en-US" altLang="zh-CN" sz="1600" dirty="0">
                <a:latin typeface="+mn-ea"/>
              </a:rPr>
              <a:t>3-</a:t>
            </a:r>
            <a:r>
              <a:rPr lang="zh-CN" altLang="en-US" sz="1600" dirty="0">
                <a:latin typeface="+mn-ea"/>
              </a:rPr>
              <a:t>强。</a:t>
            </a:r>
          </a:p>
        </p:txBody>
      </p:sp>
      <p:sp>
        <p:nvSpPr>
          <p:cNvPr id="5" name="文本框 4">
            <a:extLst>
              <a:ext uri="{FF2B5EF4-FFF2-40B4-BE49-F238E27FC236}">
                <a16:creationId xmlns:a16="http://schemas.microsoft.com/office/drawing/2014/main" id="{101D4D9E-D6AB-61DD-402E-755F68C3E3EB}"/>
              </a:ext>
            </a:extLst>
          </p:cNvPr>
          <p:cNvSpPr txBox="1"/>
          <p:nvPr/>
        </p:nvSpPr>
        <p:spPr>
          <a:xfrm>
            <a:off x="745723" y="1999996"/>
            <a:ext cx="10830757" cy="338554"/>
          </a:xfrm>
          <a:prstGeom prst="rect">
            <a:avLst/>
          </a:prstGeom>
          <a:noFill/>
        </p:spPr>
        <p:txBody>
          <a:bodyPr wrap="square" rtlCol="0">
            <a:spAutoFit/>
          </a:bodyPr>
          <a:lstStyle/>
          <a:p>
            <a:r>
              <a:rPr lang="zh-CN" altLang="en-US" sz="1600" b="1" dirty="0">
                <a:latin typeface="+mn-ea"/>
              </a:rPr>
              <a:t>实验目的：</a:t>
            </a:r>
            <a:r>
              <a:rPr lang="zh-CN" altLang="en-US" sz="1600" dirty="0">
                <a:latin typeface="+mn-ea"/>
              </a:rPr>
              <a:t>对剧本场景中每句对白和动作描述中涉及到的每个角色，识别出六类情感的情感值。</a:t>
            </a:r>
          </a:p>
        </p:txBody>
      </p:sp>
      <p:graphicFrame>
        <p:nvGraphicFramePr>
          <p:cNvPr id="6" name="表格 5">
            <a:extLst>
              <a:ext uri="{FF2B5EF4-FFF2-40B4-BE49-F238E27FC236}">
                <a16:creationId xmlns:a16="http://schemas.microsoft.com/office/drawing/2014/main" id="{39463B61-BA27-EA56-9F94-EEEF4671FA75}"/>
              </a:ext>
            </a:extLst>
          </p:cNvPr>
          <p:cNvGraphicFramePr>
            <a:graphicFrameLocks noGrp="1"/>
          </p:cNvGraphicFramePr>
          <p:nvPr>
            <p:extLst>
              <p:ext uri="{D42A27DB-BD31-4B8C-83A1-F6EECF244321}">
                <p14:modId xmlns:p14="http://schemas.microsoft.com/office/powerpoint/2010/main" val="171553077"/>
              </p:ext>
            </p:extLst>
          </p:nvPr>
        </p:nvGraphicFramePr>
        <p:xfrm>
          <a:off x="780790" y="4580879"/>
          <a:ext cx="10630420" cy="1723249"/>
        </p:xfrm>
        <a:graphic>
          <a:graphicData uri="http://schemas.openxmlformats.org/drawingml/2006/table">
            <a:tbl>
              <a:tblPr firstRow="1" firstCol="1" bandRow="1">
                <a:tableStyleId>{10A1B5D5-9B99-4C35-A422-299274C87663}</a:tableStyleId>
              </a:tblPr>
              <a:tblGrid>
                <a:gridCol w="3716834">
                  <a:extLst>
                    <a:ext uri="{9D8B030D-6E8A-4147-A177-3AD203B41FA5}">
                      <a16:colId xmlns:a16="http://schemas.microsoft.com/office/drawing/2014/main" val="2094040285"/>
                    </a:ext>
                  </a:extLst>
                </a:gridCol>
                <a:gridCol w="3359278">
                  <a:extLst>
                    <a:ext uri="{9D8B030D-6E8A-4147-A177-3AD203B41FA5}">
                      <a16:colId xmlns:a16="http://schemas.microsoft.com/office/drawing/2014/main" val="3628304061"/>
                    </a:ext>
                  </a:extLst>
                </a:gridCol>
                <a:gridCol w="3554308">
                  <a:extLst>
                    <a:ext uri="{9D8B030D-6E8A-4147-A177-3AD203B41FA5}">
                      <a16:colId xmlns:a16="http://schemas.microsoft.com/office/drawing/2014/main" val="401481806"/>
                    </a:ext>
                  </a:extLst>
                </a:gridCol>
              </a:tblGrid>
              <a:tr h="357690">
                <a:tc>
                  <a:txBody>
                    <a:bodyPr/>
                    <a:lstStyle/>
                    <a:p>
                      <a:pPr algn="ctr">
                        <a:lnSpc>
                          <a:spcPct val="150000"/>
                        </a:lnSpc>
                        <a:spcBef>
                          <a:spcPts val="600"/>
                        </a:spcBef>
                        <a:spcAft>
                          <a:spcPts val="300"/>
                        </a:spcAft>
                      </a:pPr>
                      <a:r>
                        <a:rPr lang="zh-CN" sz="1050" dirty="0">
                          <a:effectLst/>
                        </a:rPr>
                        <a:t>字段名称</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200000"/>
                        </a:lnSpc>
                        <a:spcBef>
                          <a:spcPts val="600"/>
                        </a:spcBef>
                        <a:spcAft>
                          <a:spcPts val="300"/>
                        </a:spcAft>
                      </a:pPr>
                      <a:r>
                        <a:rPr lang="zh-CN" altLang="en-US" sz="1050" dirty="0">
                          <a:effectLst/>
                          <a:latin typeface="Times New Roman" panose="02020603050405020304" pitchFamily="18" charset="0"/>
                          <a:ea typeface="宋体" panose="02010600030101010101" pitchFamily="2" charset="-122"/>
                          <a:cs typeface="宋体" panose="02010600030101010101" pitchFamily="2" charset="-122"/>
                        </a:rPr>
                        <a:t>字段说明</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zh-CN" altLang="en-US" sz="1050" dirty="0">
                          <a:effectLst/>
                          <a:latin typeface="Times New Roman" panose="02020603050405020304" pitchFamily="18" charset="0"/>
                          <a:ea typeface="宋体" panose="02010600030101010101" pitchFamily="2" charset="-122"/>
                          <a:cs typeface="宋体" panose="02010600030101010101" pitchFamily="2" charset="-122"/>
                        </a:rPr>
                        <a:t>数据样例</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270932020"/>
                  </a:ext>
                </a:extLst>
              </a:tr>
              <a:tr h="297119">
                <a:tc>
                  <a:txBody>
                    <a:bodyPr/>
                    <a:lstStyle/>
                    <a:p>
                      <a:pPr algn="ctr">
                        <a:lnSpc>
                          <a:spcPct val="150000"/>
                        </a:lnSpc>
                        <a:spcBef>
                          <a:spcPts val="600"/>
                        </a:spcBef>
                        <a:spcAft>
                          <a:spcPts val="300"/>
                        </a:spcAft>
                      </a:pPr>
                      <a:r>
                        <a:rPr lang="en-US" sz="1050" dirty="0">
                          <a:effectLst/>
                        </a:rPr>
                        <a:t>id</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en-US" altLang="zh-CN" sz="1050" dirty="0">
                          <a:effectLst/>
                          <a:latin typeface="Times New Roman" panose="02020603050405020304" pitchFamily="18" charset="0"/>
                          <a:ea typeface="宋体" panose="02010600030101010101" pitchFamily="2" charset="-122"/>
                          <a:cs typeface="宋体" panose="02010600030101010101" pitchFamily="2" charset="-122"/>
                        </a:rPr>
                        <a:t>-</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en-US" altLang="zh-CN" sz="1200" dirty="0">
                          <a:effectLst/>
                          <a:latin typeface="Times New Roman" panose="02020603050405020304" pitchFamily="18" charset="0"/>
                          <a:ea typeface="宋体" panose="02010600030101010101" pitchFamily="2" charset="-122"/>
                          <a:cs typeface="宋体" panose="02010600030101010101" pitchFamily="2" charset="-122"/>
                        </a:rPr>
                        <a:t>1171_0037_A_412</a:t>
                      </a:r>
                    </a:p>
                  </a:txBody>
                  <a:tcPr marL="68580" marR="68580" marT="0" marB="0"/>
                </a:tc>
                <a:extLst>
                  <a:ext uri="{0D108BD9-81ED-4DB2-BD59-A6C34878D82A}">
                    <a16:rowId xmlns:a16="http://schemas.microsoft.com/office/drawing/2014/main" val="4113649757"/>
                  </a:ext>
                </a:extLst>
              </a:tr>
              <a:tr h="297119">
                <a:tc>
                  <a:txBody>
                    <a:bodyPr/>
                    <a:lstStyle/>
                    <a:p>
                      <a:pPr algn="ctr">
                        <a:lnSpc>
                          <a:spcPct val="150000"/>
                        </a:lnSpc>
                        <a:spcBef>
                          <a:spcPts val="600"/>
                        </a:spcBef>
                        <a:spcAft>
                          <a:spcPts val="300"/>
                        </a:spcAft>
                      </a:pPr>
                      <a:r>
                        <a:rPr lang="en-US" sz="1050" dirty="0">
                          <a:effectLst/>
                        </a:rPr>
                        <a:t>content</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zh-CN" altLang="zh-CN" sz="1050" dirty="0">
                          <a:effectLst/>
                        </a:rPr>
                        <a:t>剧本对白或动作描写</a:t>
                      </a:r>
                      <a:endParaRPr lang="zh-CN" alt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en-US" altLang="zh-CN" sz="1050" dirty="0">
                          <a:effectLst/>
                          <a:latin typeface="Times New Roman" panose="02020603050405020304" pitchFamily="18" charset="0"/>
                          <a:ea typeface="宋体" panose="02010600030101010101" pitchFamily="2" charset="-122"/>
                          <a:cs typeface="宋体" panose="02010600030101010101" pitchFamily="2" charset="-122"/>
                        </a:rPr>
                        <a:t>b1</a:t>
                      </a:r>
                      <a:r>
                        <a:rPr lang="zh-CN" altLang="en-US" sz="1050" dirty="0">
                          <a:effectLst/>
                          <a:latin typeface="Times New Roman" panose="02020603050405020304" pitchFamily="18" charset="0"/>
                          <a:ea typeface="宋体" panose="02010600030101010101" pitchFamily="2" charset="-122"/>
                          <a:cs typeface="宋体" panose="02010600030101010101" pitchFamily="2" charset="-122"/>
                        </a:rPr>
                        <a:t>：我爸是不是特瘦？头发都白了吧！（</a:t>
                      </a:r>
                      <a:r>
                        <a:rPr lang="en-US" altLang="zh-CN" sz="1050" dirty="0">
                          <a:effectLst/>
                          <a:latin typeface="Times New Roman" panose="02020603050405020304" pitchFamily="18" charset="0"/>
                          <a:ea typeface="宋体" panose="02010600030101010101" pitchFamily="2" charset="-122"/>
                          <a:cs typeface="宋体" panose="02010600030101010101" pitchFamily="2" charset="-122"/>
                        </a:rPr>
                        <a:t>o2</a:t>
                      </a:r>
                      <a:r>
                        <a:rPr lang="zh-CN" altLang="en-US" sz="1050" dirty="0">
                          <a:effectLst/>
                          <a:latin typeface="Times New Roman" panose="02020603050405020304" pitchFamily="18" charset="0"/>
                          <a:ea typeface="宋体" panose="02010600030101010101" pitchFamily="2" charset="-122"/>
                          <a:cs typeface="宋体" panose="02010600030101010101" pitchFamily="2" charset="-122"/>
                        </a:rPr>
                        <a:t>点头，哭泣）他都快关了十年了，我都快记不得他长什么样了。</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913305032"/>
                  </a:ext>
                </a:extLst>
              </a:tr>
              <a:tr h="309398">
                <a:tc>
                  <a:txBody>
                    <a:bodyPr/>
                    <a:lstStyle/>
                    <a:p>
                      <a:pPr algn="ctr">
                        <a:lnSpc>
                          <a:spcPct val="150000"/>
                        </a:lnSpc>
                        <a:spcBef>
                          <a:spcPts val="600"/>
                        </a:spcBef>
                        <a:spcAft>
                          <a:spcPts val="300"/>
                        </a:spcAft>
                      </a:pPr>
                      <a:r>
                        <a:rPr lang="en-US" sz="1050">
                          <a:effectLst/>
                        </a:rPr>
                        <a:t>character</a:t>
                      </a:r>
                      <a:endParaRPr lang="zh-CN" sz="12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zh-CN" altLang="zh-CN" sz="1050" dirty="0">
                          <a:effectLst/>
                        </a:rPr>
                        <a:t>文中提到的角色</a:t>
                      </a:r>
                      <a:endParaRPr lang="zh-CN" alt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en-US" altLang="zh-CN" sz="1050" dirty="0">
                          <a:effectLst/>
                          <a:latin typeface="Times New Roman" panose="02020603050405020304" pitchFamily="18" charset="0"/>
                          <a:ea typeface="宋体" panose="02010600030101010101" pitchFamily="2" charset="-122"/>
                          <a:cs typeface="宋体" panose="02010600030101010101" pitchFamily="2" charset="-122"/>
                        </a:rPr>
                        <a:t>b1</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696318555"/>
                  </a:ext>
                </a:extLst>
              </a:tr>
              <a:tr h="309398">
                <a:tc>
                  <a:txBody>
                    <a:bodyPr/>
                    <a:lstStyle/>
                    <a:p>
                      <a:pPr algn="ctr">
                        <a:lnSpc>
                          <a:spcPct val="150000"/>
                        </a:lnSpc>
                        <a:spcBef>
                          <a:spcPts val="600"/>
                        </a:spcBef>
                        <a:spcAft>
                          <a:spcPts val="300"/>
                        </a:spcAft>
                      </a:pPr>
                      <a:r>
                        <a:rPr lang="en-US" sz="1050">
                          <a:effectLst/>
                        </a:rPr>
                        <a:t>emotion</a:t>
                      </a:r>
                      <a:endParaRPr lang="zh-CN" sz="12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zh-CN" altLang="zh-CN" sz="1050" dirty="0">
                          <a:effectLst/>
                        </a:rPr>
                        <a:t>爱乐惊怒恐哀情感值</a:t>
                      </a:r>
                      <a:endParaRPr lang="zh-CN" alt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tc>
                  <a:txBody>
                    <a:bodyPr/>
                    <a:lstStyle/>
                    <a:p>
                      <a:pPr algn="ctr">
                        <a:lnSpc>
                          <a:spcPct val="150000"/>
                        </a:lnSpc>
                        <a:spcBef>
                          <a:spcPts val="600"/>
                        </a:spcBef>
                        <a:spcAft>
                          <a:spcPts val="300"/>
                        </a:spcAft>
                      </a:pPr>
                      <a:r>
                        <a:rPr lang="en-US" altLang="zh-CN" sz="1050" dirty="0">
                          <a:effectLst/>
                          <a:latin typeface="Times New Roman" panose="02020603050405020304" pitchFamily="18" charset="0"/>
                          <a:ea typeface="宋体" panose="02010600030101010101" pitchFamily="2" charset="-122"/>
                          <a:cs typeface="宋体" panose="02010600030101010101" pitchFamily="2" charset="-122"/>
                        </a:rPr>
                        <a:t>3,3,0,0,0,0</a:t>
                      </a:r>
                      <a:endParaRPr lang="zh-CN" sz="12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010407069"/>
                  </a:ext>
                </a:extLst>
              </a:tr>
            </a:tbl>
          </a:graphicData>
        </a:graphic>
      </p:graphicFrame>
      <p:sp>
        <p:nvSpPr>
          <p:cNvPr id="10" name="文本框 9">
            <a:extLst>
              <a:ext uri="{FF2B5EF4-FFF2-40B4-BE49-F238E27FC236}">
                <a16:creationId xmlns:a16="http://schemas.microsoft.com/office/drawing/2014/main" id="{24FE9584-117A-5ED5-FD47-6DC27FD1028B}"/>
              </a:ext>
            </a:extLst>
          </p:cNvPr>
          <p:cNvSpPr txBox="1"/>
          <p:nvPr/>
        </p:nvSpPr>
        <p:spPr>
          <a:xfrm>
            <a:off x="745723" y="3832104"/>
            <a:ext cx="1340973" cy="338554"/>
          </a:xfrm>
          <a:prstGeom prst="rect">
            <a:avLst/>
          </a:prstGeom>
          <a:noFill/>
        </p:spPr>
        <p:txBody>
          <a:bodyPr wrap="square" rtlCol="0">
            <a:spAutoFit/>
          </a:bodyPr>
          <a:lstStyle/>
          <a:p>
            <a:r>
              <a:rPr lang="zh-CN" altLang="en-US" sz="1600" b="1" dirty="0">
                <a:latin typeface="+mn-ea"/>
              </a:rPr>
              <a:t>评估指标：</a:t>
            </a:r>
            <a:endParaRPr lang="zh-CN" altLang="en-US" sz="1600" dirty="0">
              <a:latin typeface="+mn-ea"/>
            </a:endParaRPr>
          </a:p>
        </p:txBody>
      </p:sp>
      <p:sp>
        <p:nvSpPr>
          <p:cNvPr id="11" name="文本框 10">
            <a:extLst>
              <a:ext uri="{FF2B5EF4-FFF2-40B4-BE49-F238E27FC236}">
                <a16:creationId xmlns:a16="http://schemas.microsoft.com/office/drawing/2014/main" id="{34A1A4F1-BCCA-6179-7FD6-AE39ED840A4C}"/>
              </a:ext>
            </a:extLst>
          </p:cNvPr>
          <p:cNvSpPr txBox="1"/>
          <p:nvPr/>
        </p:nvSpPr>
        <p:spPr>
          <a:xfrm>
            <a:off x="780790" y="2526306"/>
            <a:ext cx="10830757" cy="584775"/>
          </a:xfrm>
          <a:prstGeom prst="rect">
            <a:avLst/>
          </a:prstGeom>
          <a:noFill/>
        </p:spPr>
        <p:txBody>
          <a:bodyPr wrap="square" rtlCol="0">
            <a:spAutoFit/>
          </a:bodyPr>
          <a:lstStyle/>
          <a:p>
            <a:r>
              <a:rPr lang="zh-CN" altLang="en-US" sz="1600" b="1" dirty="0">
                <a:latin typeface="+mn-ea"/>
              </a:rPr>
              <a:t>研究困难：</a:t>
            </a:r>
            <a:br>
              <a:rPr lang="en-US" altLang="zh-CN" sz="1600" dirty="0">
                <a:latin typeface="+mn-ea"/>
              </a:rPr>
            </a:br>
            <a:r>
              <a:rPr lang="en-US" altLang="zh-CN" sz="1600" dirty="0">
                <a:latin typeface="+mn-ea"/>
              </a:rPr>
              <a:t>	  </a:t>
            </a:r>
            <a:endParaRPr lang="zh-CN" altLang="en-US" sz="1600" dirty="0">
              <a:latin typeface="+mn-ea"/>
            </a:endParaRPr>
          </a:p>
        </p:txBody>
      </p:sp>
      <p:pic>
        <p:nvPicPr>
          <p:cNvPr id="12" name="Picture 2">
            <a:extLst>
              <a:ext uri="{FF2B5EF4-FFF2-40B4-BE49-F238E27FC236}">
                <a16:creationId xmlns:a16="http://schemas.microsoft.com/office/drawing/2014/main" id="{10FEF798-65A4-AFAC-CEBF-AE66F8E1D3E2}"/>
              </a:ext>
            </a:extLst>
          </p:cNvPr>
          <p:cNvPicPr>
            <a:picLocks noChangeAspect="1" noChangeArrowheads="1"/>
          </p:cNvPicPr>
          <p:nvPr/>
        </p:nvPicPr>
        <p:blipFill>
          <a:blip r:embed="rId3" cstate="print"/>
          <a:srcRect/>
          <a:stretch>
            <a:fillRect/>
          </a:stretch>
        </p:blipFill>
        <p:spPr bwMode="auto">
          <a:xfrm>
            <a:off x="11288455" y="382338"/>
            <a:ext cx="576050" cy="606937"/>
          </a:xfrm>
          <a:prstGeom prst="rect">
            <a:avLst/>
          </a:prstGeom>
          <a:ln>
            <a:noFill/>
          </a:ln>
          <a:effectLst/>
        </p:spPr>
      </p:pic>
      <p:graphicFrame>
        <p:nvGraphicFramePr>
          <p:cNvPr id="13" name="对象 12">
            <a:extLst>
              <a:ext uri="{FF2B5EF4-FFF2-40B4-BE49-F238E27FC236}">
                <a16:creationId xmlns:a16="http://schemas.microsoft.com/office/drawing/2014/main" id="{AD827299-5F22-4709-D37B-7DECEE81827C}"/>
              </a:ext>
            </a:extLst>
          </p:cNvPr>
          <p:cNvGraphicFramePr>
            <a:graphicFrameLocks noChangeAspect="1"/>
          </p:cNvGraphicFramePr>
          <p:nvPr>
            <p:extLst>
              <p:ext uri="{D42A27DB-BD31-4B8C-83A1-F6EECF244321}">
                <p14:modId xmlns:p14="http://schemas.microsoft.com/office/powerpoint/2010/main" val="2042422598"/>
              </p:ext>
            </p:extLst>
          </p:nvPr>
        </p:nvGraphicFramePr>
        <p:xfrm>
          <a:off x="7502524" y="3668636"/>
          <a:ext cx="1889125" cy="665487"/>
        </p:xfrm>
        <a:graphic>
          <a:graphicData uri="http://schemas.openxmlformats.org/presentationml/2006/ole">
            <mc:AlternateContent xmlns:mc="http://schemas.openxmlformats.org/markup-compatibility/2006">
              <mc:Choice xmlns:v="urn:schemas-microsoft-com:vml" Requires="v">
                <p:oleObj name="Equation" r:id="rId4" imgW="1117440" imgH="393480" progId="Equation.DSMT4">
                  <p:embed/>
                </p:oleObj>
              </mc:Choice>
              <mc:Fallback>
                <p:oleObj name="Equation" r:id="rId4" imgW="1117440" imgH="393480" progId="Equation.DSMT4">
                  <p:embed/>
                  <p:pic>
                    <p:nvPicPr>
                      <p:cNvPr id="0" name=""/>
                      <p:cNvPicPr/>
                      <p:nvPr/>
                    </p:nvPicPr>
                    <p:blipFill>
                      <a:blip r:embed="rId5"/>
                      <a:stretch>
                        <a:fillRect/>
                      </a:stretch>
                    </p:blipFill>
                    <p:spPr>
                      <a:xfrm>
                        <a:off x="7502524" y="3668636"/>
                        <a:ext cx="1889125" cy="66548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A646B41-02B8-FD0D-AF1F-AE77B9D1EF6B}"/>
              </a:ext>
            </a:extLst>
          </p:cNvPr>
          <p:cNvGraphicFramePr>
            <a:graphicFrameLocks noChangeAspect="1"/>
          </p:cNvGraphicFramePr>
          <p:nvPr>
            <p:extLst>
              <p:ext uri="{D42A27DB-BD31-4B8C-83A1-F6EECF244321}">
                <p14:modId xmlns:p14="http://schemas.microsoft.com/office/powerpoint/2010/main" val="2313770866"/>
              </p:ext>
            </p:extLst>
          </p:nvPr>
        </p:nvGraphicFramePr>
        <p:xfrm>
          <a:off x="2344346" y="3613977"/>
          <a:ext cx="3614723" cy="774803"/>
        </p:xfrm>
        <a:graphic>
          <a:graphicData uri="http://schemas.openxmlformats.org/presentationml/2006/ole">
            <mc:AlternateContent xmlns:mc="http://schemas.openxmlformats.org/markup-compatibility/2006">
              <mc:Choice xmlns:v="urn:schemas-microsoft-com:vml" Requires="v">
                <p:oleObj name="Equation" r:id="rId6" imgW="1739880" imgH="672840" progId="Equation.DSMT4">
                  <p:embed/>
                </p:oleObj>
              </mc:Choice>
              <mc:Fallback>
                <p:oleObj name="Equation" r:id="rId6" imgW="1739880" imgH="672840" progId="Equation.DSMT4">
                  <p:embed/>
                  <p:pic>
                    <p:nvPicPr>
                      <p:cNvPr id="0" name=""/>
                      <p:cNvPicPr/>
                      <p:nvPr/>
                    </p:nvPicPr>
                    <p:blipFill>
                      <a:blip r:embed="rId7"/>
                      <a:stretch>
                        <a:fillRect/>
                      </a:stretch>
                    </p:blipFill>
                    <p:spPr>
                      <a:xfrm>
                        <a:off x="2344346" y="3613977"/>
                        <a:ext cx="3614723" cy="774803"/>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6E57976B-28F2-2798-61F4-49EDFF2D3D17}"/>
              </a:ext>
            </a:extLst>
          </p:cNvPr>
          <p:cNvSpPr txBox="1"/>
          <p:nvPr/>
        </p:nvSpPr>
        <p:spPr>
          <a:xfrm>
            <a:off x="1847850" y="2517471"/>
            <a:ext cx="9728630" cy="107721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600" dirty="0"/>
              <a:t>剧本文风偏口语化，与常见的书面化的新闻语料相比差异较大。</a:t>
            </a:r>
            <a:endParaRPr lang="en-US" altLang="zh-CN" sz="1600" dirty="0"/>
          </a:p>
          <a:p>
            <a:pPr marL="285750" indent="-285750">
              <a:buFont typeface="Wingdings" panose="05000000000000000000" pitchFamily="2" charset="2"/>
              <a:buChar char="Ø"/>
            </a:pPr>
            <a:r>
              <a:rPr lang="zh-CN" altLang="en-US" sz="1600" dirty="0"/>
              <a:t>角色的情感不仅取决于当前文本，可能需要考虑前文语境的深度依赖关系。</a:t>
            </a:r>
            <a:endParaRPr lang="en-US" altLang="zh-CN" sz="1600" dirty="0"/>
          </a:p>
          <a:p>
            <a:pPr marL="285750" indent="-285750">
              <a:buFont typeface="Wingdings" panose="05000000000000000000" pitchFamily="2" charset="2"/>
              <a:buChar char="Ø"/>
            </a:pPr>
            <a:r>
              <a:rPr lang="zh-CN" altLang="en-US" sz="1600" dirty="0"/>
              <a:t>同一句子中存在多个需要预测的角色，模型需要有区分不同角色的能力。</a:t>
            </a:r>
            <a:endParaRPr lang="en-US" altLang="zh-CN" sz="1600" dirty="0"/>
          </a:p>
          <a:p>
            <a:pPr marL="285750" indent="-285750">
              <a:buFont typeface="Wingdings" panose="05000000000000000000" pitchFamily="2" charset="2"/>
              <a:buChar char="Ø"/>
            </a:pPr>
            <a:r>
              <a:rPr lang="zh-CN" altLang="en-US" sz="1600" dirty="0"/>
              <a:t>角色可能同时包含多种情感，模型需要具有同时识别多种情感的能力。</a:t>
            </a:r>
            <a:endParaRPr lang="en-US" altLang="zh-CN" sz="1600" dirty="0"/>
          </a:p>
        </p:txBody>
      </p:sp>
      <p:sp>
        <p:nvSpPr>
          <p:cNvPr id="7" name="文本框 6">
            <a:extLst>
              <a:ext uri="{FF2B5EF4-FFF2-40B4-BE49-F238E27FC236}">
                <a16:creationId xmlns:a16="http://schemas.microsoft.com/office/drawing/2014/main" id="{0EFF4111-4692-E7C2-9139-6BABE1680F73}"/>
              </a:ext>
            </a:extLst>
          </p:cNvPr>
          <p:cNvSpPr txBox="1"/>
          <p:nvPr/>
        </p:nvSpPr>
        <p:spPr>
          <a:xfrm>
            <a:off x="11583460" y="6263493"/>
            <a:ext cx="313679"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14</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1889356450"/>
      </p:ext>
    </p:extLst>
  </p:cSld>
  <p:clrMapOvr>
    <a:masterClrMapping/>
  </p:clrMapOvr>
  <p:transition advTm="1893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388398" y="688958"/>
            <a:ext cx="6012872" cy="405102"/>
          </a:xfrm>
          <a:prstGeom prst="rect">
            <a:avLst/>
          </a:prstGeom>
        </p:spPr>
        <p:txBody>
          <a:bodyPr>
            <a:normAutofit/>
          </a:bodyPr>
          <a:lstStyle/>
          <a:p>
            <a:r>
              <a:rPr lang="zh-CN" altLang="en-US" dirty="0">
                <a:latin typeface="+mn-lt"/>
                <a:ea typeface="+mn-ea"/>
                <a:cs typeface="+mn-ea"/>
                <a:sym typeface="+mn-lt"/>
              </a:rPr>
              <a:t>实验结果与模型融合</a:t>
            </a:r>
          </a:p>
        </p:txBody>
      </p:sp>
      <p:graphicFrame>
        <p:nvGraphicFramePr>
          <p:cNvPr id="2" name="表格 1">
            <a:extLst>
              <a:ext uri="{FF2B5EF4-FFF2-40B4-BE49-F238E27FC236}">
                <a16:creationId xmlns:a16="http://schemas.microsoft.com/office/drawing/2014/main" id="{9A622013-77FC-0A7A-7C36-6BE434F729F8}"/>
              </a:ext>
            </a:extLst>
          </p:cNvPr>
          <p:cNvGraphicFramePr>
            <a:graphicFrameLocks noGrp="1"/>
          </p:cNvGraphicFramePr>
          <p:nvPr>
            <p:custDataLst>
              <p:tags r:id="rId1"/>
            </p:custDataLst>
            <p:extLst>
              <p:ext uri="{D42A27DB-BD31-4B8C-83A1-F6EECF244321}">
                <p14:modId xmlns:p14="http://schemas.microsoft.com/office/powerpoint/2010/main" val="1150759175"/>
              </p:ext>
            </p:extLst>
          </p:nvPr>
        </p:nvGraphicFramePr>
        <p:xfrm>
          <a:off x="583502" y="1455661"/>
          <a:ext cx="5758326" cy="4853549"/>
        </p:xfrm>
        <a:graphic>
          <a:graphicData uri="http://schemas.openxmlformats.org/drawingml/2006/table">
            <a:tbl>
              <a:tblPr firstRow="1" bandRow="1">
                <a:tableStyleId>{10A1B5D5-9B99-4C35-A422-299274C87663}</a:tableStyleId>
              </a:tblPr>
              <a:tblGrid>
                <a:gridCol w="2508856">
                  <a:extLst>
                    <a:ext uri="{9D8B030D-6E8A-4147-A177-3AD203B41FA5}">
                      <a16:colId xmlns:a16="http://schemas.microsoft.com/office/drawing/2014/main" val="20000"/>
                    </a:ext>
                  </a:extLst>
                </a:gridCol>
                <a:gridCol w="2138953">
                  <a:extLst>
                    <a:ext uri="{9D8B030D-6E8A-4147-A177-3AD203B41FA5}">
                      <a16:colId xmlns:a16="http://schemas.microsoft.com/office/drawing/2014/main" val="20001"/>
                    </a:ext>
                  </a:extLst>
                </a:gridCol>
                <a:gridCol w="1110517">
                  <a:extLst>
                    <a:ext uri="{9D8B030D-6E8A-4147-A177-3AD203B41FA5}">
                      <a16:colId xmlns:a16="http://schemas.microsoft.com/office/drawing/2014/main" val="20002"/>
                    </a:ext>
                  </a:extLst>
                </a:gridCol>
              </a:tblGrid>
              <a:tr h="285297">
                <a:tc>
                  <a:txBody>
                    <a:bodyPr/>
                    <a:lstStyle/>
                    <a:p>
                      <a:pPr algn="ctr"/>
                      <a:r>
                        <a:rPr lang="zh-CN" altLang="en-US" sz="1200" dirty="0"/>
                        <a:t>方案</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t>改进方法</a:t>
                      </a:r>
                    </a:p>
                  </a:txBody>
                  <a:tcPr/>
                </a:tc>
                <a:tc>
                  <a:txBody>
                    <a:bodyPr/>
                    <a:lstStyle/>
                    <a:p>
                      <a:pPr algn="ctr"/>
                      <a:r>
                        <a:rPr lang="zh-CN" altLang="en-US" sz="1200" dirty="0"/>
                        <a:t>分数</a:t>
                      </a:r>
                    </a:p>
                  </a:txBody>
                  <a:tcPr/>
                </a:tc>
                <a:extLst>
                  <a:ext uri="{0D108BD9-81ED-4DB2-BD59-A6C34878D82A}">
                    <a16:rowId xmlns:a16="http://schemas.microsoft.com/office/drawing/2014/main" val="10000"/>
                  </a:ext>
                </a:extLst>
              </a:tr>
              <a:tr h="285297">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BERT+MMOE</a:t>
                      </a:r>
                    </a:p>
                  </a:txBody>
                  <a:tcPr anchor="ctr">
                    <a:lnR w="12700" cap="flat" cmpd="sng" algn="ctr">
                      <a:solidFill>
                        <a:schemeClr val="accent6"/>
                      </a:solidFill>
                      <a:prstDash val="solid"/>
                      <a:round/>
                      <a:headEnd type="none" w="med" len="med"/>
                      <a:tailEnd type="none" w="med" len="med"/>
                    </a:lnR>
                  </a:tcPr>
                </a:tc>
                <a:tc>
                  <a:txBody>
                    <a:bodyPr/>
                    <a:lstStyle/>
                    <a:p>
                      <a:pPr algn="ctr"/>
                      <a:r>
                        <a:rPr lang="zh-CN" altLang="en-US" sz="1200" dirty="0"/>
                        <a:t>无</a:t>
                      </a:r>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0.7057</a:t>
                      </a:r>
                    </a:p>
                  </a:txBody>
                  <a:tcPr anchor="ctr"/>
                </a:tc>
                <a:extLst>
                  <a:ext uri="{0D108BD9-81ED-4DB2-BD59-A6C34878D82A}">
                    <a16:rowId xmlns:a16="http://schemas.microsoft.com/office/drawing/2014/main" val="10001"/>
                  </a:ext>
                </a:extLst>
              </a:tr>
              <a:tr h="285297">
                <a:tc vMerge="1">
                  <a:txBody>
                    <a:bodyPr/>
                    <a:lstStyle/>
                    <a:p>
                      <a:pPr algn="ctr"/>
                      <a:endParaRPr lang="en-US" altLang="zh-CN"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FGM</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0.7074</a:t>
                      </a:r>
                    </a:p>
                  </a:txBody>
                  <a:tcPr anchor="ctr"/>
                </a:tc>
                <a:extLst>
                  <a:ext uri="{0D108BD9-81ED-4DB2-BD59-A6C34878D82A}">
                    <a16:rowId xmlns:a16="http://schemas.microsoft.com/office/drawing/2014/main" val="10002"/>
                  </a:ext>
                </a:extLst>
              </a:tr>
              <a:tr h="285547">
                <a:tc vMerge="1">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SWA</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0.7086</a:t>
                      </a:r>
                    </a:p>
                  </a:txBody>
                  <a:tcPr anchor="ctr"/>
                </a:tc>
                <a:extLst>
                  <a:ext uri="{0D108BD9-81ED-4DB2-BD59-A6C34878D82A}">
                    <a16:rowId xmlns:a16="http://schemas.microsoft.com/office/drawing/2014/main" val="10003"/>
                  </a:ext>
                </a:extLst>
              </a:tr>
              <a:tr h="285547">
                <a:tc vMerge="1">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t>FGM+SWA</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0.7089</a:t>
                      </a:r>
                      <a:endParaRPr lang="en-US" altLang="zh-CN" sz="1200" b="1" kern="1200" dirty="0">
                        <a:solidFill>
                          <a:srgbClr val="0070C0"/>
                        </a:solidFill>
                        <a:latin typeface="+mn-lt"/>
                        <a:ea typeface="+mn-ea"/>
                        <a:cs typeface="+mn-cs"/>
                      </a:endParaRPr>
                    </a:p>
                  </a:txBody>
                  <a:tcPr anchor="ctr"/>
                </a:tc>
                <a:extLst>
                  <a:ext uri="{0D108BD9-81ED-4DB2-BD59-A6C34878D82A}">
                    <a16:rowId xmlns:a16="http://schemas.microsoft.com/office/drawing/2014/main" val="1622295506"/>
                  </a:ext>
                </a:extLst>
              </a:tr>
              <a:tr h="285547">
                <a:tc vMerge="1">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p>
                  </a:txBody>
                  <a:tcPr>
                    <a:lnR w="12700" cap="flat" cmpd="sng" algn="ctr">
                      <a:solidFill>
                        <a:schemeClr val="accent6"/>
                      </a:solidFill>
                      <a:prstDash val="solid"/>
                      <a:round/>
                      <a:headEnd type="none" w="med" len="med"/>
                      <a:tailEnd type="none" w="med" len="med"/>
                    </a:lnR>
                    <a:lnT w="12700" cmpd="sng">
                      <a:noFill/>
                    </a:lnT>
                  </a:tcPr>
                </a:tc>
                <a:tc>
                  <a:txBody>
                    <a:bodyPr/>
                    <a:lstStyle/>
                    <a:p>
                      <a:pPr algn="ctr"/>
                      <a:r>
                        <a:rPr lang="en-US" altLang="zh-CN" sz="1200" dirty="0">
                          <a:sym typeface="+mn-ea"/>
                        </a:rPr>
                        <a:t>FGM+SWA+5</a:t>
                      </a:r>
                      <a:r>
                        <a:rPr lang="zh-CN" altLang="en-US" sz="1200" dirty="0">
                          <a:sym typeface="+mn-ea"/>
                        </a:rPr>
                        <a:t>折</a:t>
                      </a:r>
                      <a:r>
                        <a:rPr lang="en-US" altLang="zh-CN" sz="1200" dirty="0">
                          <a:sym typeface="+mn-ea"/>
                        </a:rPr>
                        <a:t>+</a:t>
                      </a:r>
                      <a:r>
                        <a:rPr lang="zh-CN" altLang="en-US" sz="1200" dirty="0">
                          <a:sym typeface="+mn-ea"/>
                        </a:rPr>
                        <a:t>学习率预热</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dirty="0">
                          <a:solidFill>
                            <a:srgbClr val="0070C0"/>
                          </a:solidFill>
                          <a:latin typeface="+mn-lt"/>
                          <a:ea typeface="+mn-ea"/>
                          <a:cs typeface="+mn-cs"/>
                        </a:rPr>
                        <a:t>0.7117</a:t>
                      </a:r>
                    </a:p>
                  </a:txBody>
                  <a:tcPr anchor="ctr"/>
                </a:tc>
                <a:extLst>
                  <a:ext uri="{0D108BD9-81ED-4DB2-BD59-A6C34878D82A}">
                    <a16:rowId xmlns:a16="http://schemas.microsoft.com/office/drawing/2014/main" val="10004"/>
                  </a:ext>
                </a:extLst>
              </a:tr>
              <a:tr h="285547">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t>BERT+AT-LSTM</a:t>
                      </a:r>
                      <a:endParaRPr lang="zh-CN" altLang="en-US" sz="1200" dirty="0"/>
                    </a:p>
                  </a:txBody>
                  <a:tcPr anchor="ctr">
                    <a:lnR w="12700" cap="flat" cmpd="sng" algn="ctr">
                      <a:solidFill>
                        <a:schemeClr val="accent6"/>
                      </a:solidFill>
                      <a:prstDash val="solid"/>
                      <a:round/>
                      <a:headEnd type="none" w="med" len="med"/>
                      <a:tailEnd type="none" w="med" len="med"/>
                    </a:lnR>
                    <a:lnB w="12700" cmpd="sng">
                      <a:noFill/>
                    </a:lnB>
                  </a:tcPr>
                </a:tc>
                <a:tc>
                  <a:txBody>
                    <a:bodyPr/>
                    <a:lstStyle/>
                    <a:p>
                      <a:pPr algn="ctr"/>
                      <a:r>
                        <a:rPr lang="zh-CN" altLang="en-US" sz="1200" dirty="0"/>
                        <a:t>无</a:t>
                      </a:r>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0.7052</a:t>
                      </a:r>
                    </a:p>
                  </a:txBody>
                  <a:tcPr anchor="ctr"/>
                </a:tc>
                <a:extLst>
                  <a:ext uri="{0D108BD9-81ED-4DB2-BD59-A6C34878D82A}">
                    <a16:rowId xmlns:a16="http://schemas.microsoft.com/office/drawing/2014/main" val="10005"/>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FGM</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0.7093</a:t>
                      </a:r>
                    </a:p>
                  </a:txBody>
                  <a:tcPr anchor="ctr"/>
                </a:tc>
                <a:extLst>
                  <a:ext uri="{0D108BD9-81ED-4DB2-BD59-A6C34878D82A}">
                    <a16:rowId xmlns:a16="http://schemas.microsoft.com/office/drawing/2014/main" val="10006"/>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SWA</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0" dirty="0"/>
                        <a:t>0.7104</a:t>
                      </a:r>
                    </a:p>
                  </a:txBody>
                  <a:tcPr anchor="ctr"/>
                </a:tc>
                <a:extLst>
                  <a:ext uri="{0D108BD9-81ED-4DB2-BD59-A6C34878D82A}">
                    <a16:rowId xmlns:a16="http://schemas.microsoft.com/office/drawing/2014/main" val="2377391654"/>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t>FGM+SWA+5</a:t>
                      </a:r>
                      <a:r>
                        <a:rPr lang="zh-CN" altLang="en-US" sz="1200" dirty="0"/>
                        <a:t>折</a:t>
                      </a:r>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1" kern="1200" dirty="0">
                          <a:solidFill>
                            <a:srgbClr val="0070C0"/>
                          </a:solidFill>
                          <a:latin typeface="+mn-lt"/>
                          <a:ea typeface="+mn-ea"/>
                          <a:cs typeface="+mn-cs"/>
                        </a:rPr>
                        <a:t>0.7114</a:t>
                      </a:r>
                    </a:p>
                  </a:txBody>
                  <a:tcPr anchor="ctr"/>
                </a:tc>
                <a:extLst>
                  <a:ext uri="{0D108BD9-81ED-4DB2-BD59-A6C34878D82A}">
                    <a16:rowId xmlns:a16="http://schemas.microsoft.com/office/drawing/2014/main" val="891488519"/>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FGM+SWA+5</a:t>
                      </a:r>
                      <a:r>
                        <a:rPr lang="zh-CN" altLang="en-US" sz="1200" dirty="0">
                          <a:sym typeface="+mn-ea"/>
                        </a:rPr>
                        <a:t>折</a:t>
                      </a:r>
                      <a:r>
                        <a:rPr lang="en-US" altLang="zh-CN" sz="1200" dirty="0">
                          <a:sym typeface="+mn-ea"/>
                        </a:rPr>
                        <a:t>+</a:t>
                      </a:r>
                      <a:r>
                        <a:rPr lang="zh-CN" altLang="en-US" sz="1200" dirty="0">
                          <a:sym typeface="+mn-ea"/>
                        </a:rPr>
                        <a:t>学习率预热</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0.7095</a:t>
                      </a:r>
                      <a:endParaRPr lang="zh-CN" altLang="en-US" sz="1200" b="0" kern="1200" dirty="0">
                        <a:solidFill>
                          <a:schemeClr val="dk1"/>
                        </a:solidFill>
                        <a:latin typeface="+mn-lt"/>
                        <a:ea typeface="+mn-ea"/>
                        <a:cs typeface="+mn-cs"/>
                      </a:endParaRPr>
                    </a:p>
                  </a:txBody>
                  <a:tcPr anchor="ctr"/>
                </a:tc>
                <a:extLst>
                  <a:ext uri="{0D108BD9-81ED-4DB2-BD59-A6C34878D82A}">
                    <a16:rowId xmlns:a16="http://schemas.microsoft.com/office/drawing/2014/main" val="10007"/>
                  </a:ext>
                </a:extLst>
              </a:tr>
              <a:tr h="285547">
                <a:tc rowSpan="5">
                  <a:txBody>
                    <a:bodyPr/>
                    <a:lstStyle/>
                    <a:p>
                      <a:pPr algn="ctr"/>
                      <a:r>
                        <a:rPr lang="en-US" altLang="zh-CN" sz="1200" dirty="0"/>
                        <a:t>BERT+</a:t>
                      </a:r>
                      <a:r>
                        <a:rPr lang="zh-CN" altLang="en-US" sz="1200" dirty="0"/>
                        <a:t>多头注意力机制</a:t>
                      </a:r>
                    </a:p>
                  </a:txBody>
                  <a:tcPr anchor="ct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zh-CN" altLang="en-US" sz="1200" dirty="0"/>
                        <a:t>无</a:t>
                      </a:r>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0.7079</a:t>
                      </a:r>
                      <a:endParaRPr lang="zh-CN" altLang="en-US" sz="1200" b="0" kern="1200" dirty="0">
                        <a:solidFill>
                          <a:schemeClr val="dk1"/>
                        </a:solidFill>
                        <a:latin typeface="+mn-lt"/>
                        <a:ea typeface="+mn-ea"/>
                        <a:cs typeface="+mn-cs"/>
                      </a:endParaRPr>
                    </a:p>
                  </a:txBody>
                  <a:tcPr anchor="ctr"/>
                </a:tc>
                <a:extLst>
                  <a:ext uri="{0D108BD9-81ED-4DB2-BD59-A6C34878D82A}">
                    <a16:rowId xmlns:a16="http://schemas.microsoft.com/office/drawing/2014/main" val="2820058531"/>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FGM</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0.7097</a:t>
                      </a:r>
                      <a:endParaRPr lang="zh-CN" altLang="en-US" sz="1200" b="0" kern="1200" dirty="0">
                        <a:solidFill>
                          <a:schemeClr val="dk1"/>
                        </a:solidFill>
                        <a:latin typeface="+mn-lt"/>
                        <a:ea typeface="+mn-ea"/>
                        <a:cs typeface="+mn-cs"/>
                      </a:endParaRPr>
                    </a:p>
                  </a:txBody>
                  <a:tcPr anchor="ctr"/>
                </a:tc>
                <a:extLst>
                  <a:ext uri="{0D108BD9-81ED-4DB2-BD59-A6C34878D82A}">
                    <a16:rowId xmlns:a16="http://schemas.microsoft.com/office/drawing/2014/main" val="3576851847"/>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sym typeface="+mn-ea"/>
                        </a:rPr>
                        <a:t>SWA</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0.7084</a:t>
                      </a:r>
                      <a:endParaRPr lang="zh-CN" altLang="en-US" sz="1200" b="0" kern="1200" dirty="0">
                        <a:solidFill>
                          <a:schemeClr val="dk1"/>
                        </a:solidFill>
                        <a:latin typeface="+mn-lt"/>
                        <a:ea typeface="+mn-ea"/>
                        <a:cs typeface="+mn-cs"/>
                      </a:endParaRPr>
                    </a:p>
                  </a:txBody>
                  <a:tcPr anchor="ctr"/>
                </a:tc>
                <a:extLst>
                  <a:ext uri="{0D108BD9-81ED-4DB2-BD59-A6C34878D82A}">
                    <a16:rowId xmlns:a16="http://schemas.microsoft.com/office/drawing/2014/main" val="829759784"/>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lnB w="12700" cmpd="sng">
                      <a:noFill/>
                    </a:lnB>
                  </a:tcPr>
                </a:tc>
                <a:tc>
                  <a:txBody>
                    <a:bodyPr/>
                    <a:lstStyle/>
                    <a:p>
                      <a:pPr algn="ctr"/>
                      <a:r>
                        <a:rPr lang="en-US" altLang="zh-CN" sz="1200" dirty="0"/>
                        <a:t>FGM+SWA</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marL="0" algn="ctr" defTabSz="914400" rtl="0" eaLnBrk="1" latinLnBrk="0" hangingPunct="1"/>
                      <a:r>
                        <a:rPr lang="en-US" altLang="zh-CN" sz="1200" b="0" kern="1200" dirty="0">
                          <a:solidFill>
                            <a:schemeClr val="dk1"/>
                          </a:solidFill>
                          <a:latin typeface="+mn-lt"/>
                          <a:ea typeface="+mn-ea"/>
                          <a:cs typeface="+mn-cs"/>
                        </a:rPr>
                        <a:t>0.7117</a:t>
                      </a:r>
                      <a:endParaRPr lang="zh-CN" altLang="en-US" sz="1200" b="0" kern="1200" dirty="0">
                        <a:solidFill>
                          <a:schemeClr val="dk1"/>
                        </a:solidFill>
                        <a:latin typeface="+mn-lt"/>
                        <a:ea typeface="+mn-ea"/>
                        <a:cs typeface="+mn-cs"/>
                      </a:endParaRPr>
                    </a:p>
                  </a:txBody>
                  <a:tcPr anchor="ctr"/>
                </a:tc>
                <a:extLst>
                  <a:ext uri="{0D108BD9-81ED-4DB2-BD59-A6C34878D82A}">
                    <a16:rowId xmlns:a16="http://schemas.microsoft.com/office/drawing/2014/main" val="865081816"/>
                  </a:ext>
                </a:extLst>
              </a:tr>
              <a:tr h="285547">
                <a:tc vMerge="1">
                  <a:txBody>
                    <a:bodyPr/>
                    <a:lstStyle/>
                    <a:p>
                      <a:pPr algn="ctr"/>
                      <a:endParaRPr lang="zh-CN" altLang="en-US" sz="1200" dirty="0"/>
                    </a:p>
                  </a:txBody>
                  <a:tcPr>
                    <a:lnR w="12700" cap="flat" cmpd="sng" algn="ctr">
                      <a:solidFill>
                        <a:schemeClr val="accent6"/>
                      </a:solidFill>
                      <a:prstDash val="solid"/>
                      <a:round/>
                      <a:headEnd type="none" w="med" len="med"/>
                      <a:tailEnd type="none" w="med" len="med"/>
                    </a:lnR>
                    <a:lnT w="12700" cmpd="sng">
                      <a:noFill/>
                    </a:lnT>
                  </a:tcPr>
                </a:tc>
                <a:tc>
                  <a:txBody>
                    <a:bodyPr/>
                    <a:lstStyle/>
                    <a:p>
                      <a:pPr algn="ctr"/>
                      <a:r>
                        <a:rPr lang="en-US" altLang="zh-CN" sz="1200" dirty="0">
                          <a:sym typeface="+mn-ea"/>
                        </a:rPr>
                        <a:t>FGM+SWA+5</a:t>
                      </a:r>
                      <a:r>
                        <a:rPr lang="zh-CN" altLang="en-US" sz="1200" dirty="0">
                          <a:sym typeface="+mn-ea"/>
                        </a:rPr>
                        <a:t>折</a:t>
                      </a:r>
                      <a:r>
                        <a:rPr lang="en-US" altLang="zh-CN" sz="1200" dirty="0">
                          <a:sym typeface="+mn-ea"/>
                        </a:rPr>
                        <a:t>+</a:t>
                      </a:r>
                      <a:r>
                        <a:rPr lang="zh-CN" altLang="en-US" sz="1200" dirty="0">
                          <a:sym typeface="+mn-ea"/>
                        </a:rPr>
                        <a:t>学习率预热</a:t>
                      </a:r>
                      <a:endParaRPr lang="zh-CN" altLang="en-US" sz="1200" dirty="0"/>
                    </a:p>
                  </a:txBody>
                  <a:tcPr anchor="ctr">
                    <a:lnL w="12700" cap="flat" cmpd="sng" algn="ctr">
                      <a:solidFill>
                        <a:schemeClr val="accent6"/>
                      </a:solidFill>
                      <a:prstDash val="solid"/>
                      <a:round/>
                      <a:headEnd type="none" w="med" len="med"/>
                      <a:tailEnd type="none" w="med" len="med"/>
                    </a:lnL>
                  </a:tcPr>
                </a:tc>
                <a:tc>
                  <a:txBody>
                    <a:bodyPr/>
                    <a:lstStyle/>
                    <a:p>
                      <a:pPr algn="ctr"/>
                      <a:r>
                        <a:rPr lang="en-US" altLang="zh-CN" sz="1200" b="1" dirty="0">
                          <a:solidFill>
                            <a:srgbClr val="0070C0"/>
                          </a:solidFill>
                        </a:rPr>
                        <a:t>0.7123</a:t>
                      </a:r>
                      <a:endParaRPr lang="zh-CN" altLang="en-US" sz="1200" b="1" dirty="0">
                        <a:solidFill>
                          <a:srgbClr val="0070C0"/>
                        </a:solidFill>
                      </a:endParaRPr>
                    </a:p>
                  </a:txBody>
                  <a:tcPr anchor="ctr"/>
                </a:tc>
                <a:extLst>
                  <a:ext uri="{0D108BD9-81ED-4DB2-BD59-A6C34878D82A}">
                    <a16:rowId xmlns:a16="http://schemas.microsoft.com/office/drawing/2014/main" val="661079055"/>
                  </a:ext>
                </a:extLst>
              </a:tr>
              <a:tr h="285547">
                <a:tc>
                  <a:txBody>
                    <a:bodyPr/>
                    <a:lstStyle/>
                    <a:p>
                      <a:pPr algn="ctr"/>
                      <a:r>
                        <a:rPr lang="zh-CN" altLang="en-US" sz="1200" dirty="0"/>
                        <a:t>模型融合</a:t>
                      </a:r>
                    </a:p>
                  </a:txBody>
                  <a:tcPr anchor="ctr">
                    <a:lnR w="12700" cap="flat" cmpd="sng" algn="ctr">
                      <a:solidFill>
                        <a:schemeClr val="accent6"/>
                      </a:solidFill>
                      <a:prstDash val="solid"/>
                      <a:round/>
                      <a:headEnd type="none" w="med" len="med"/>
                      <a:tailEnd type="none" w="med" len="med"/>
                    </a:lnR>
                    <a:lnT w="12700" cmpd="sng">
                      <a:noFill/>
                    </a:lnT>
                  </a:tcPr>
                </a:tc>
                <a:tc gridSpan="2">
                  <a:txBody>
                    <a:bodyPr/>
                    <a:lstStyle/>
                    <a:p>
                      <a:pPr marL="0" algn="ctr" defTabSz="914400" rtl="0" eaLnBrk="1" latinLnBrk="0" hangingPunct="1"/>
                      <a:r>
                        <a:rPr lang="en-US" altLang="zh-CN" sz="1200" b="1" kern="1200" dirty="0">
                          <a:solidFill>
                            <a:srgbClr val="0070C0"/>
                          </a:solidFill>
                          <a:latin typeface="+mn-lt"/>
                          <a:ea typeface="+mn-ea"/>
                          <a:cs typeface="+mn-cs"/>
                        </a:rPr>
                        <a:t>0.7126</a:t>
                      </a:r>
                      <a:endParaRPr lang="zh-CN" altLang="en-US" sz="1200" b="1" kern="1200" dirty="0">
                        <a:solidFill>
                          <a:srgbClr val="0070C0"/>
                        </a:solidFill>
                        <a:latin typeface="+mn-lt"/>
                        <a:ea typeface="+mn-ea"/>
                        <a:cs typeface="+mn-cs"/>
                      </a:endParaRPr>
                    </a:p>
                  </a:txBody>
                  <a:tcPr anchor="ctr">
                    <a:lnL w="12700" cap="flat" cmpd="sng" algn="ctr">
                      <a:solidFill>
                        <a:schemeClr val="accent6"/>
                      </a:solidFill>
                      <a:prstDash val="solid"/>
                      <a:round/>
                      <a:headEnd type="none" w="med" len="med"/>
                      <a:tailEnd type="none" w="med" len="med"/>
                    </a:lnL>
                  </a:tcPr>
                </a:tc>
                <a:tc hMerge="1">
                  <a:txBody>
                    <a:bodyPr/>
                    <a:lstStyle/>
                    <a:p>
                      <a:pPr algn="ctr"/>
                      <a:endParaRPr lang="zh-CN" altLang="en-US" sz="1200" b="1" dirty="0">
                        <a:solidFill>
                          <a:srgbClr val="0070C0"/>
                        </a:solidFill>
                      </a:endParaRPr>
                    </a:p>
                  </a:txBody>
                  <a:tcPr anchor="ctr"/>
                </a:tc>
                <a:extLst>
                  <a:ext uri="{0D108BD9-81ED-4DB2-BD59-A6C34878D82A}">
                    <a16:rowId xmlns:a16="http://schemas.microsoft.com/office/drawing/2014/main" val="260181781"/>
                  </a:ext>
                </a:extLst>
              </a:tr>
            </a:tbl>
          </a:graphicData>
        </a:graphic>
      </p:graphicFrame>
      <p:pic>
        <p:nvPicPr>
          <p:cNvPr id="5" name="Picture 2">
            <a:extLst>
              <a:ext uri="{FF2B5EF4-FFF2-40B4-BE49-F238E27FC236}">
                <a16:creationId xmlns:a16="http://schemas.microsoft.com/office/drawing/2014/main" id="{B4C1F2B6-AB53-7FE6-1C49-02F816841141}"/>
              </a:ext>
            </a:extLst>
          </p:cNvPr>
          <p:cNvPicPr>
            <a:picLocks noChangeAspect="1" noChangeArrowheads="1"/>
          </p:cNvPicPr>
          <p:nvPr/>
        </p:nvPicPr>
        <p:blipFill>
          <a:blip r:embed="rId4" cstate="print"/>
          <a:srcRect/>
          <a:stretch>
            <a:fillRect/>
          </a:stretch>
        </p:blipFill>
        <p:spPr bwMode="auto">
          <a:xfrm>
            <a:off x="11286807" y="363026"/>
            <a:ext cx="576050" cy="606937"/>
          </a:xfrm>
          <a:prstGeom prst="rect">
            <a:avLst/>
          </a:prstGeom>
          <a:ln>
            <a:noFill/>
          </a:ln>
          <a:effectLst/>
        </p:spPr>
      </p:pic>
      <p:sp>
        <p:nvSpPr>
          <p:cNvPr id="7" name="文本框 6">
            <a:extLst>
              <a:ext uri="{FF2B5EF4-FFF2-40B4-BE49-F238E27FC236}">
                <a16:creationId xmlns:a16="http://schemas.microsoft.com/office/drawing/2014/main" id="{AE43ED85-9A92-EC91-EB7B-3863E4BC31C2}"/>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15</a:t>
            </a:fld>
            <a:endParaRPr lang="zh-CN" altLang="en-US" sz="1400" dirty="0">
              <a:solidFill>
                <a:srgbClr val="0070C0"/>
              </a:solidFill>
              <a:ea typeface="印品黑体" panose="00000500000000000000" pitchFamily="2" charset="-122"/>
            </a:endParaRPr>
          </a:p>
        </p:txBody>
      </p:sp>
      <p:pic>
        <p:nvPicPr>
          <p:cNvPr id="1026" name="图片 1">
            <a:extLst>
              <a:ext uri="{FF2B5EF4-FFF2-40B4-BE49-F238E27FC236}">
                <a16:creationId xmlns:a16="http://schemas.microsoft.com/office/drawing/2014/main" id="{8F49C0FF-22A8-2B6B-6854-A949A986A8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9882" y="2784545"/>
            <a:ext cx="4606925" cy="279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a:extLst>
              <a:ext uri="{FF2B5EF4-FFF2-40B4-BE49-F238E27FC236}">
                <a16:creationId xmlns:a16="http://schemas.microsoft.com/office/drawing/2014/main" id="{952693B3-E3EC-1DF2-7885-4D6D2DF1231B}"/>
              </a:ext>
            </a:extLst>
          </p:cNvPr>
          <p:cNvGraphicFramePr>
            <a:graphicFrameLocks noChangeAspect="1"/>
          </p:cNvGraphicFramePr>
          <p:nvPr>
            <p:extLst>
              <p:ext uri="{D42A27DB-BD31-4B8C-83A1-F6EECF244321}">
                <p14:modId xmlns:p14="http://schemas.microsoft.com/office/powerpoint/2010/main" val="3647593706"/>
              </p:ext>
            </p:extLst>
          </p:nvPr>
        </p:nvGraphicFramePr>
        <p:xfrm>
          <a:off x="6763241" y="2063818"/>
          <a:ext cx="4523565" cy="261937"/>
        </p:xfrm>
        <a:graphic>
          <a:graphicData uri="http://schemas.openxmlformats.org/presentationml/2006/ole">
            <mc:AlternateContent xmlns:mc="http://schemas.openxmlformats.org/markup-compatibility/2006">
              <mc:Choice xmlns:v="urn:schemas-microsoft-com:vml" Requires="v">
                <p:oleObj name="Equation" r:id="rId6" imgW="3657600" imgH="203040" progId="Equation.DSMT4">
                  <p:embed/>
                </p:oleObj>
              </mc:Choice>
              <mc:Fallback>
                <p:oleObj name="Equation" r:id="rId6" imgW="3657600" imgH="203040" progId="Equation.DSMT4">
                  <p:embed/>
                  <p:pic>
                    <p:nvPicPr>
                      <p:cNvPr id="0" name=""/>
                      <p:cNvPicPr/>
                      <p:nvPr/>
                    </p:nvPicPr>
                    <p:blipFill>
                      <a:blip r:embed="rId7"/>
                      <a:stretch>
                        <a:fillRect/>
                      </a:stretch>
                    </p:blipFill>
                    <p:spPr>
                      <a:xfrm>
                        <a:off x="6763241" y="2063818"/>
                        <a:ext cx="4523565" cy="261937"/>
                      </a:xfrm>
                      <a:prstGeom prst="rect">
                        <a:avLst/>
                      </a:prstGeom>
                    </p:spPr>
                  </p:pic>
                </p:oleObj>
              </mc:Fallback>
            </mc:AlternateContent>
          </a:graphicData>
        </a:graphic>
      </p:graphicFrame>
    </p:spTree>
    <p:extLst>
      <p:ext uri="{BB962C8B-B14F-4D97-AF65-F5344CB8AC3E}">
        <p14:creationId xmlns:p14="http://schemas.microsoft.com/office/powerpoint/2010/main" val="807480902"/>
      </p:ext>
    </p:extLst>
  </p:cSld>
  <p:clrMapOvr>
    <a:masterClrMapping/>
  </p:clrMapOvr>
  <p:transition advTm="29358">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系统展示</a:t>
            </a: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System Demonstration</a:t>
            </a:r>
          </a:p>
        </p:txBody>
      </p:sp>
      <p:sp>
        <p:nvSpPr>
          <p:cNvPr id="2" name="文本框 1">
            <a:extLst>
              <a:ext uri="{FF2B5EF4-FFF2-40B4-BE49-F238E27FC236}">
                <a16:creationId xmlns:a16="http://schemas.microsoft.com/office/drawing/2014/main" id="{E5A5D9D1-CF98-29EB-6B74-BFB5DCC9C5A1}"/>
              </a:ext>
            </a:extLst>
          </p:cNvPr>
          <p:cNvSpPr txBox="1"/>
          <p:nvPr/>
        </p:nvSpPr>
        <p:spPr>
          <a:xfrm>
            <a:off x="5376230" y="1650424"/>
            <a:ext cx="1597446" cy="646331"/>
          </a:xfrm>
          <a:prstGeom prst="rect">
            <a:avLst/>
          </a:prstGeom>
          <a:noFill/>
        </p:spPr>
        <p:txBody>
          <a:bodyPr wrap="square" rtlCol="0">
            <a:spAutoFit/>
          </a:bodyPr>
          <a:lstStyle/>
          <a:p>
            <a:r>
              <a:rPr lang="en-US" altLang="zh-CN" sz="3600" dirty="0"/>
              <a:t>Part III</a:t>
            </a:r>
            <a:endParaRPr lang="zh-CN" altLang="en-US" sz="3600" dirty="0"/>
          </a:p>
        </p:txBody>
      </p:sp>
      <p:sp>
        <p:nvSpPr>
          <p:cNvPr id="4" name="文本框 3">
            <a:extLst>
              <a:ext uri="{FF2B5EF4-FFF2-40B4-BE49-F238E27FC236}">
                <a16:creationId xmlns:a16="http://schemas.microsoft.com/office/drawing/2014/main" id="{004FEAA7-DF0D-7E96-C153-F89CBE310AE9}"/>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16</a:t>
            </a:fld>
            <a:endParaRPr lang="zh-CN" altLang="en-US" sz="1400" dirty="0">
              <a:solidFill>
                <a:srgbClr val="0070C0"/>
              </a:solidFill>
              <a:ea typeface="印品黑体" panose="00000500000000000000" pitchFamily="2" charset="-122"/>
            </a:endParaRPr>
          </a:p>
        </p:txBody>
      </p:sp>
    </p:spTree>
  </p:cSld>
  <p:clrMapOvr>
    <a:masterClrMapping/>
  </p:clrMapOvr>
  <p:transition advTm="1077">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CAD5CF5C-E6A9-189D-519B-2BA2ED434201}"/>
              </a:ext>
            </a:extLst>
          </p:cNvPr>
          <p:cNvPicPr>
            <a:picLocks noChangeAspect="1" noChangeArrowheads="1"/>
          </p:cNvPicPr>
          <p:nvPr/>
        </p:nvPicPr>
        <p:blipFill>
          <a:blip r:embed="rId6" cstate="print"/>
          <a:srcRect/>
          <a:stretch>
            <a:fillRect/>
          </a:stretch>
        </p:blipFill>
        <p:spPr bwMode="auto">
          <a:xfrm>
            <a:off x="11286807" y="363026"/>
            <a:ext cx="576050" cy="606937"/>
          </a:xfrm>
          <a:prstGeom prst="rect">
            <a:avLst/>
          </a:prstGeom>
          <a:ln>
            <a:noFill/>
          </a:ln>
          <a:effectLst/>
        </p:spPr>
      </p:pic>
      <p:sp>
        <p:nvSpPr>
          <p:cNvPr id="7" name="powerpoint template design by DAJU_PPT正版来源小红书大橘PPT微信DAJU_PPT请勿抄袭搬运！盗版必究！">
            <a:extLst>
              <a:ext uri="{FF2B5EF4-FFF2-40B4-BE49-F238E27FC236}">
                <a16:creationId xmlns:a16="http://schemas.microsoft.com/office/drawing/2014/main" id="{D76746FF-416C-D404-A463-D6C8F2E4B802}"/>
              </a:ext>
            </a:extLst>
          </p:cNvPr>
          <p:cNvSpPr>
            <a:spLocks noGrp="1"/>
          </p:cNvSpPr>
          <p:nvPr>
            <p:ph type="title"/>
          </p:nvPr>
        </p:nvSpPr>
        <p:spPr>
          <a:xfrm>
            <a:off x="1060204" y="652744"/>
            <a:ext cx="2607723" cy="405102"/>
          </a:xfrm>
          <a:prstGeom prst="rect">
            <a:avLst/>
          </a:prstGeom>
        </p:spPr>
        <p:txBody>
          <a:bodyPr>
            <a:normAutofit/>
          </a:bodyPr>
          <a:lstStyle/>
          <a:p>
            <a:r>
              <a:rPr lang="zh-CN" altLang="en-US" dirty="0">
                <a:latin typeface="+mn-lt"/>
                <a:ea typeface="+mn-ea"/>
                <a:cs typeface="+mn-ea"/>
                <a:sym typeface="+mn-lt"/>
              </a:rPr>
              <a:t>系统可视化</a:t>
            </a:r>
          </a:p>
        </p:txBody>
      </p:sp>
      <p:sp>
        <p:nvSpPr>
          <p:cNvPr id="4" name="文本框 3">
            <a:extLst>
              <a:ext uri="{FF2B5EF4-FFF2-40B4-BE49-F238E27FC236}">
                <a16:creationId xmlns:a16="http://schemas.microsoft.com/office/drawing/2014/main" id="{57DE06A0-A790-AA88-672E-CAEF38891E88}"/>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17</a:t>
            </a:fld>
            <a:endParaRPr lang="zh-CN" altLang="en-US" sz="1400" dirty="0">
              <a:solidFill>
                <a:srgbClr val="0070C0"/>
              </a:solidFill>
              <a:ea typeface="印品黑体" panose="00000500000000000000" pitchFamily="2" charset="-122"/>
            </a:endParaRPr>
          </a:p>
        </p:txBody>
      </p:sp>
      <p:pic>
        <p:nvPicPr>
          <p:cNvPr id="8" name="1716999743375">
            <a:hlinkClick r:id="" action="ppaction://media"/>
            <a:extLst>
              <a:ext uri="{FF2B5EF4-FFF2-40B4-BE49-F238E27FC236}">
                <a16:creationId xmlns:a16="http://schemas.microsoft.com/office/drawing/2014/main" id="{B4A490E4-1744-F736-41C7-4D8231E6A6A2}"/>
              </a:ext>
            </a:extLst>
          </p:cNvPr>
          <p:cNvPicPr>
            <a:picLocks noChangeAspect="1"/>
          </p:cNvPicPr>
          <p:nvPr>
            <a:videoFile r:link="rId2"/>
            <p:extLst>
              <p:ext uri="{DAA4B4D4-6D71-4841-9C94-3DE7FCFB9230}">
                <p14:media xmlns:p14="http://schemas.microsoft.com/office/powerpoint/2010/main" r:embed="rId3">
                  <p14:trim end="3514"/>
                </p14:media>
              </p:ext>
            </p:extLst>
          </p:nvPr>
        </p:nvPicPr>
        <p:blipFill>
          <a:blip r:embed="rId7"/>
          <a:stretch>
            <a:fillRect/>
          </a:stretch>
        </p:blipFill>
        <p:spPr>
          <a:xfrm>
            <a:off x="1060204" y="1284682"/>
            <a:ext cx="10330785" cy="4920574"/>
          </a:xfrm>
          <a:prstGeom prst="rect">
            <a:avLst/>
          </a:prstGeom>
        </p:spPr>
      </p:pic>
    </p:spTree>
    <p:custDataLst>
      <p:tags r:id="rId1"/>
    </p:custDataLst>
    <p:extLst>
      <p:ext uri="{BB962C8B-B14F-4D97-AF65-F5344CB8AC3E}">
        <p14:creationId xmlns:p14="http://schemas.microsoft.com/office/powerpoint/2010/main" val="4061248588"/>
      </p:ext>
    </p:extLst>
  </p:cSld>
  <p:clrMapOvr>
    <a:masterClrMapping/>
  </p:clrMapOvr>
  <p:transition advTm="3332">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476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extLst>
    <p:ext uri="{E180D4A7-C9FB-4DFB-919C-405C955672EB}">
      <p14:showEvtLst xmlns:p14="http://schemas.microsoft.com/office/powerpoint/2010/main">
        <p14:playEvt time="961" objId="8"/>
        <p14:pauseEvt time="2831" objId="8"/>
        <p14:stopEvt time="3332" objId="8"/>
      </p14:showEvt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研究总结</a:t>
            </a: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Research Summary</a:t>
            </a:r>
          </a:p>
        </p:txBody>
      </p:sp>
      <p:sp>
        <p:nvSpPr>
          <p:cNvPr id="2" name="文本框 1">
            <a:extLst>
              <a:ext uri="{FF2B5EF4-FFF2-40B4-BE49-F238E27FC236}">
                <a16:creationId xmlns:a16="http://schemas.microsoft.com/office/drawing/2014/main" id="{E5A5D9D1-CF98-29EB-6B74-BFB5DCC9C5A1}"/>
              </a:ext>
            </a:extLst>
          </p:cNvPr>
          <p:cNvSpPr txBox="1"/>
          <p:nvPr/>
        </p:nvSpPr>
        <p:spPr>
          <a:xfrm>
            <a:off x="5343179" y="1650424"/>
            <a:ext cx="1597446" cy="646331"/>
          </a:xfrm>
          <a:prstGeom prst="rect">
            <a:avLst/>
          </a:prstGeom>
          <a:noFill/>
        </p:spPr>
        <p:txBody>
          <a:bodyPr wrap="square" rtlCol="0">
            <a:spAutoFit/>
          </a:bodyPr>
          <a:lstStyle/>
          <a:p>
            <a:r>
              <a:rPr lang="en-US" altLang="zh-CN" sz="3600" dirty="0"/>
              <a:t>Part IV</a:t>
            </a:r>
            <a:endParaRPr lang="zh-CN" altLang="en-US" sz="3600" dirty="0"/>
          </a:p>
        </p:txBody>
      </p:sp>
      <p:sp>
        <p:nvSpPr>
          <p:cNvPr id="4" name="文本框 3">
            <a:extLst>
              <a:ext uri="{FF2B5EF4-FFF2-40B4-BE49-F238E27FC236}">
                <a16:creationId xmlns:a16="http://schemas.microsoft.com/office/drawing/2014/main" id="{6DEA3EF4-20CE-D16C-5415-35EBD5C37D6D}"/>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18</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3130098123"/>
      </p:ext>
    </p:extLst>
  </p:cSld>
  <p:clrMapOvr>
    <a:masterClrMapping/>
  </p:clrMapOvr>
  <p:transition advTm="1412">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B4345DC-5644-749E-A769-15D0DCCD8D71}"/>
              </a:ext>
            </a:extLst>
          </p:cNvPr>
          <p:cNvSpPr txBox="1"/>
          <p:nvPr/>
        </p:nvSpPr>
        <p:spPr>
          <a:xfrm>
            <a:off x="887589" y="1390782"/>
            <a:ext cx="2952951" cy="46037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研究总结</a:t>
            </a:r>
          </a:p>
        </p:txBody>
      </p:sp>
      <p:sp>
        <p:nvSpPr>
          <p:cNvPr id="4" name="文本框 3">
            <a:extLst>
              <a:ext uri="{FF2B5EF4-FFF2-40B4-BE49-F238E27FC236}">
                <a16:creationId xmlns:a16="http://schemas.microsoft.com/office/drawing/2014/main" id="{F2211D32-61A6-5BEC-1521-3F5804696FC6}"/>
              </a:ext>
            </a:extLst>
          </p:cNvPr>
          <p:cNvSpPr txBox="1"/>
          <p:nvPr>
            <p:custDataLst>
              <p:tags r:id="rId1"/>
            </p:custDataLst>
          </p:nvPr>
        </p:nvSpPr>
        <p:spPr>
          <a:xfrm>
            <a:off x="887589" y="5583930"/>
            <a:ext cx="2952951" cy="46037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毕业去向</a:t>
            </a:r>
          </a:p>
        </p:txBody>
      </p:sp>
      <p:sp>
        <p:nvSpPr>
          <p:cNvPr id="5" name="文本框 4">
            <a:extLst>
              <a:ext uri="{FF2B5EF4-FFF2-40B4-BE49-F238E27FC236}">
                <a16:creationId xmlns:a16="http://schemas.microsoft.com/office/drawing/2014/main" id="{72DF9F92-E4D1-ED7E-09CE-AA8C611C3420}"/>
              </a:ext>
            </a:extLst>
          </p:cNvPr>
          <p:cNvSpPr txBox="1"/>
          <p:nvPr>
            <p:custDataLst>
              <p:tags r:id="rId2"/>
            </p:custDataLst>
          </p:nvPr>
        </p:nvSpPr>
        <p:spPr>
          <a:xfrm>
            <a:off x="887589" y="6054397"/>
            <a:ext cx="2686685" cy="4181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sz="1600" dirty="0">
                <a:latin typeface="微软雅黑" panose="020B0503020204020204" pitchFamily="34" charset="-122"/>
                <a:ea typeface="微软雅黑" panose="020B0503020204020204" pitchFamily="34" charset="-122"/>
              </a:rPr>
              <a:t>推免至</a:t>
            </a:r>
            <a:r>
              <a:rPr lang="zh-CN" altLang="en-US" sz="1600" b="1" dirty="0">
                <a:solidFill>
                  <a:srgbClr val="FF0000"/>
                </a:solidFill>
                <a:latin typeface="微软雅黑" panose="020B0503020204020204" pitchFamily="34" charset="-122"/>
                <a:ea typeface="微软雅黑" panose="020B0503020204020204" pitchFamily="34" charset="-122"/>
              </a:rPr>
              <a:t>中国科学院大学</a:t>
            </a:r>
            <a:endParaRPr lang="zh-CN" sz="1600" b="1" dirty="0">
              <a:solidFill>
                <a:srgbClr val="FF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2B0CDE4D-669D-16D1-E65A-10ADBAD2D0C4}"/>
              </a:ext>
            </a:extLst>
          </p:cNvPr>
          <p:cNvSpPr txBox="1"/>
          <p:nvPr>
            <p:custDataLst>
              <p:tags r:id="rId3"/>
            </p:custDataLst>
          </p:nvPr>
        </p:nvSpPr>
        <p:spPr>
          <a:xfrm>
            <a:off x="887590" y="1846859"/>
            <a:ext cx="10399218"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BERT+MMOE</a:t>
            </a:r>
            <a:r>
              <a:rPr lang="zh-CN" altLang="en-US" sz="1600" dirty="0">
                <a:latin typeface="微软雅黑" panose="020B0503020204020204" pitchFamily="34" charset="-122"/>
                <a:ea typeface="微软雅黑" panose="020B0503020204020204" pitchFamily="34" charset="-122"/>
              </a:rPr>
              <a:t>解决方案：使用多任务学习框架</a:t>
            </a:r>
            <a:r>
              <a:rPr lang="en-US" altLang="zh-CN" sz="1600" dirty="0">
                <a:latin typeface="微软雅黑" panose="020B0503020204020204" pitchFamily="34" charset="-122"/>
                <a:ea typeface="微软雅黑" panose="020B0503020204020204" pitchFamily="34" charset="-122"/>
              </a:rPr>
              <a:t>MMOE</a:t>
            </a:r>
            <a:r>
              <a:rPr lang="zh-CN" altLang="en-US" sz="1600" dirty="0">
                <a:latin typeface="微软雅黑" panose="020B0503020204020204" pitchFamily="34" charset="-122"/>
                <a:ea typeface="微软雅黑" panose="020B0503020204020204" pitchFamily="34" charset="-122"/>
              </a:rPr>
              <a:t>结合</a:t>
            </a:r>
            <a:r>
              <a:rPr lang="en-US" altLang="zh-CN" sz="1600" dirty="0">
                <a:latin typeface="微软雅黑" panose="020B0503020204020204" pitchFamily="34" charset="-122"/>
                <a:ea typeface="微软雅黑" panose="020B0503020204020204" pitchFamily="34" charset="-122"/>
              </a:rPr>
              <a:t>BERT</a:t>
            </a:r>
            <a:r>
              <a:rPr lang="zh-CN" altLang="en-US" sz="1600" dirty="0">
                <a:latin typeface="微软雅黑" panose="020B0503020204020204" pitchFamily="34" charset="-122"/>
                <a:ea typeface="微软雅黑" panose="020B0503020204020204" pitchFamily="34" charset="-122"/>
              </a:rPr>
              <a:t>模型，进行回归训练预测。</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BERT+AT-LSTM</a:t>
            </a:r>
            <a:r>
              <a:rPr lang="zh-CN" altLang="en-US" sz="1600" dirty="0">
                <a:latin typeface="微软雅黑" panose="020B0503020204020204" pitchFamily="34" charset="-122"/>
                <a:ea typeface="微软雅黑" panose="020B0503020204020204" pitchFamily="34" charset="-122"/>
              </a:rPr>
              <a:t>：使用</a:t>
            </a:r>
            <a:r>
              <a:rPr lang="en-US" altLang="zh-CN" sz="1600" dirty="0">
                <a:latin typeface="微软雅黑" panose="020B0503020204020204" pitchFamily="34" charset="-122"/>
                <a:ea typeface="微软雅黑" panose="020B0503020204020204" pitchFamily="34" charset="-122"/>
              </a:rPr>
              <a:t>AT-LSTM</a:t>
            </a:r>
            <a:r>
              <a:rPr lang="zh-CN" altLang="en-US" sz="1600" dirty="0">
                <a:latin typeface="微软雅黑" panose="020B0503020204020204" pitchFamily="34" charset="-122"/>
                <a:ea typeface="微软雅黑" panose="020B0503020204020204" pitchFamily="34" charset="-122"/>
              </a:rPr>
              <a:t>加强模型对目标词上下文信息的提取，进行回归训练预测。</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BERT+</a:t>
            </a:r>
            <a:r>
              <a:rPr lang="zh-CN" altLang="en-US" sz="1600" dirty="0">
                <a:latin typeface="微软雅黑" panose="020B0503020204020204" pitchFamily="34" charset="-122"/>
                <a:ea typeface="微软雅黑" panose="020B0503020204020204" pitchFamily="34" charset="-122"/>
              </a:rPr>
              <a:t>多头注意力机制：为六类情感分别设置对应的神经注意力网络，进行回归训练预测。</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系统展示：</a:t>
            </a:r>
            <a:r>
              <a:rPr lang="zh-CN" sz="1600" dirty="0">
                <a:latin typeface="微软雅黑" panose="020B0503020204020204" pitchFamily="34" charset="-122"/>
                <a:ea typeface="微软雅黑" panose="020B0503020204020204" pitchFamily="34" charset="-122"/>
              </a:rPr>
              <a:t>直观</a:t>
            </a:r>
            <a:r>
              <a:rPr lang="zh-CN" altLang="en-US" sz="1600" dirty="0">
                <a:latin typeface="微软雅黑" panose="020B0503020204020204" pitchFamily="34" charset="-122"/>
                <a:ea typeface="微软雅黑" panose="020B0503020204020204" pitchFamily="34" charset="-122"/>
              </a:rPr>
              <a:t>地对数据进行分析，展示角色的重要性，对识别出的角色情感进行展示。</a:t>
            </a:r>
            <a:endParaRPr lang="en-US" altLang="zh-CN" sz="1600" dirty="0">
              <a:latin typeface="微软雅黑" panose="020B0503020204020204" pitchFamily="34" charset="-122"/>
              <a:ea typeface="微软雅黑" panose="020B0503020204020204" pitchFamily="34" charset="-122"/>
            </a:endParaRPr>
          </a:p>
        </p:txBody>
      </p:sp>
      <p:sp>
        <p:nvSpPr>
          <p:cNvPr id="14" name="powerpoint template design by DAJU_PPT正版来源小红书大橘PPT微信DAJU_PPT请勿抄袭搬运！盗版必究！">
            <a:extLst>
              <a:ext uri="{FF2B5EF4-FFF2-40B4-BE49-F238E27FC236}">
                <a16:creationId xmlns:a16="http://schemas.microsoft.com/office/drawing/2014/main" id="{21A9CC3F-97EF-82E9-0EBA-71644818D083}"/>
              </a:ext>
            </a:extLst>
          </p:cNvPr>
          <p:cNvSpPr>
            <a:spLocks noGrp="1"/>
          </p:cNvSpPr>
          <p:nvPr>
            <p:ph type="title"/>
          </p:nvPr>
        </p:nvSpPr>
        <p:spPr>
          <a:xfrm>
            <a:off x="927069" y="659574"/>
            <a:ext cx="2607723" cy="405102"/>
          </a:xfrm>
          <a:prstGeom prst="rect">
            <a:avLst/>
          </a:prstGeom>
        </p:spPr>
        <p:txBody>
          <a:bodyPr>
            <a:normAutofit/>
          </a:bodyPr>
          <a:lstStyle/>
          <a:p>
            <a:r>
              <a:rPr lang="zh-CN" altLang="en-US" dirty="0">
                <a:latin typeface="+mn-lt"/>
                <a:ea typeface="+mn-ea"/>
                <a:cs typeface="+mn-ea"/>
                <a:sym typeface="+mn-lt"/>
              </a:rPr>
              <a:t>研究总结</a:t>
            </a:r>
          </a:p>
        </p:txBody>
      </p:sp>
      <p:pic>
        <p:nvPicPr>
          <p:cNvPr id="15" name="Picture 2">
            <a:extLst>
              <a:ext uri="{FF2B5EF4-FFF2-40B4-BE49-F238E27FC236}">
                <a16:creationId xmlns:a16="http://schemas.microsoft.com/office/drawing/2014/main" id="{231CBC1B-125E-4491-DAFD-825F0D45960C}"/>
              </a:ext>
            </a:extLst>
          </p:cNvPr>
          <p:cNvPicPr>
            <a:picLocks noChangeAspect="1" noChangeArrowheads="1"/>
          </p:cNvPicPr>
          <p:nvPr/>
        </p:nvPicPr>
        <p:blipFill>
          <a:blip r:embed="rId8" cstate="print"/>
          <a:srcRect/>
          <a:stretch>
            <a:fillRect/>
          </a:stretch>
        </p:blipFill>
        <p:spPr bwMode="auto">
          <a:xfrm>
            <a:off x="11286807" y="363026"/>
            <a:ext cx="576050" cy="606937"/>
          </a:xfrm>
          <a:prstGeom prst="rect">
            <a:avLst/>
          </a:prstGeom>
          <a:ln>
            <a:noFill/>
          </a:ln>
          <a:effectLst/>
        </p:spPr>
      </p:pic>
      <p:sp>
        <p:nvSpPr>
          <p:cNvPr id="6" name="文本框 5">
            <a:extLst>
              <a:ext uri="{FF2B5EF4-FFF2-40B4-BE49-F238E27FC236}">
                <a16:creationId xmlns:a16="http://schemas.microsoft.com/office/drawing/2014/main" id="{38BC8054-CA49-AF2F-894D-3CB9BC777C65}"/>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19</a:t>
            </a:fld>
            <a:endParaRPr lang="zh-CN" altLang="en-US" sz="1400" dirty="0">
              <a:solidFill>
                <a:srgbClr val="0070C0"/>
              </a:solidFill>
              <a:ea typeface="印品黑体" panose="00000500000000000000" pitchFamily="2" charset="-122"/>
            </a:endParaRPr>
          </a:p>
        </p:txBody>
      </p:sp>
      <p:sp>
        <p:nvSpPr>
          <p:cNvPr id="2" name="文本框 1">
            <a:extLst>
              <a:ext uri="{FF2B5EF4-FFF2-40B4-BE49-F238E27FC236}">
                <a16:creationId xmlns:a16="http://schemas.microsoft.com/office/drawing/2014/main" id="{F65CD69A-2396-0BBD-AF4A-81A5D0D05E35}"/>
              </a:ext>
            </a:extLst>
          </p:cNvPr>
          <p:cNvSpPr txBox="1"/>
          <p:nvPr>
            <p:custDataLst>
              <p:tags r:id="rId4"/>
            </p:custDataLst>
          </p:nvPr>
        </p:nvSpPr>
        <p:spPr>
          <a:xfrm>
            <a:off x="848108" y="3487113"/>
            <a:ext cx="2952951" cy="46037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获奖情况</a:t>
            </a:r>
          </a:p>
        </p:txBody>
      </p:sp>
      <p:sp>
        <p:nvSpPr>
          <p:cNvPr id="7" name="文本框 6">
            <a:extLst>
              <a:ext uri="{FF2B5EF4-FFF2-40B4-BE49-F238E27FC236}">
                <a16:creationId xmlns:a16="http://schemas.microsoft.com/office/drawing/2014/main" id="{B89AE0E1-DCC4-D0FD-6346-153FA4D5E2B0}"/>
              </a:ext>
            </a:extLst>
          </p:cNvPr>
          <p:cNvSpPr txBox="1"/>
          <p:nvPr>
            <p:custDataLst>
              <p:tags r:id="rId5"/>
            </p:custDataLst>
          </p:nvPr>
        </p:nvSpPr>
        <p:spPr>
          <a:xfrm>
            <a:off x="887589" y="3938892"/>
            <a:ext cx="1089406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t>第十三届全国大学生数学竞赛（非数学类）                                                        </a:t>
            </a:r>
            <a:r>
              <a:rPr lang="zh-CN" altLang="en-US" sz="1600" dirty="0">
                <a:latin typeface="微软雅黑" panose="020B0503020204020204" pitchFamily="34" charset="-122"/>
                <a:ea typeface="微软雅黑" panose="020B0503020204020204" pitchFamily="34" charset="-122"/>
              </a:rPr>
              <a:t>一等奖</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600" dirty="0"/>
              <a:t>2023</a:t>
            </a:r>
            <a:r>
              <a:rPr lang="zh-CN" altLang="en-US" sz="1600" dirty="0"/>
              <a:t>睿抗机器人开发者大赛（</a:t>
            </a:r>
            <a:r>
              <a:rPr lang="en-US" altLang="zh-CN" sz="1600" dirty="0"/>
              <a:t>RAICOM</a:t>
            </a:r>
            <a:r>
              <a:rPr lang="zh-CN" altLang="en-US" sz="1600" dirty="0"/>
              <a:t>）全国总决赛</a:t>
            </a:r>
            <a:r>
              <a:rPr lang="zh-CN" altLang="en-US" sz="1600" dirty="0">
                <a:latin typeface="微软雅黑" panose="020B0503020204020204" pitchFamily="34" charset="-122"/>
                <a:ea typeface="微软雅黑" panose="020B0503020204020204" pitchFamily="34" charset="-122"/>
              </a:rPr>
              <a:t>                                       </a:t>
            </a:r>
            <a:r>
              <a:rPr lang="zh-CN" sz="1600" dirty="0">
                <a:latin typeface="微软雅黑" panose="020B0503020204020204" pitchFamily="34" charset="-122"/>
                <a:ea typeface="微软雅黑" panose="020B0503020204020204" pitchFamily="34" charset="-122"/>
              </a:rPr>
              <a:t>一等奖</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t>第四届全国大学生算法设计与编程挑战赛</a:t>
            </a:r>
            <a:r>
              <a:rPr lang="zh-CN" altLang="zh-CN"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金</a:t>
            </a:r>
            <a:r>
              <a:rPr lang="zh-CN" altLang="zh-CN" sz="1600" dirty="0">
                <a:latin typeface="微软雅黑" panose="020B0503020204020204" pitchFamily="34" charset="-122"/>
                <a:ea typeface="微软雅黑" panose="020B0503020204020204" pitchFamily="34" charset="-122"/>
              </a:rPr>
              <a:t>奖</a:t>
            </a:r>
            <a:endParaRPr lang="zh-CN" sz="16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dirty="0"/>
              <a:t>第十六届“认证杯”数学中国数学建模网络挑战赛</a:t>
            </a:r>
            <a:r>
              <a:rPr lang="zh-CN"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一</a:t>
            </a:r>
            <a:r>
              <a:rPr lang="zh-CN" sz="1600" dirty="0">
                <a:latin typeface="微软雅黑" panose="020B0503020204020204" pitchFamily="34" charset="-122"/>
                <a:ea typeface="微软雅黑" panose="020B0503020204020204" pitchFamily="34" charset="-122"/>
              </a:rPr>
              <a:t>等奖</a:t>
            </a:r>
          </a:p>
        </p:txBody>
      </p:sp>
    </p:spTree>
    <p:extLst>
      <p:ext uri="{BB962C8B-B14F-4D97-AF65-F5344CB8AC3E}">
        <p14:creationId xmlns:p14="http://schemas.microsoft.com/office/powerpoint/2010/main" val="2885088402"/>
      </p:ext>
    </p:extLst>
  </p:cSld>
  <p:clrMapOvr>
    <a:masterClrMapping/>
  </p:clrMapOvr>
  <p:transition advTm="23929">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285749" y="1624036"/>
            <a:ext cx="11620501" cy="297634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2" rIns="85683" bIns="42842" numCol="1" spcCol="0" rtlCol="0" fromWordArt="0" anchor="ctr" anchorCtr="0" forceAA="0" compatLnSpc="1">
            <a:noAutofit/>
          </a:bodyPr>
          <a:lstStyle/>
          <a:p>
            <a:pPr algn="ctr"/>
            <a:endParaRPr lang="zh-CN" altLang="en-US" sz="4125" b="1" dirty="0">
              <a:latin typeface="印品黑体" panose="00000500000000000000" pitchFamily="2" charset="-122"/>
              <a:ea typeface="印品黑体" panose="00000500000000000000" pitchFamily="2" charset="-122"/>
            </a:endParaRPr>
          </a:p>
        </p:txBody>
      </p:sp>
      <p:sp>
        <p:nvSpPr>
          <p:cNvPr id="116" name="等腰三角形 115"/>
          <p:cNvSpPr/>
          <p:nvPr/>
        </p:nvSpPr>
        <p:spPr>
          <a:xfrm flipV="1">
            <a:off x="5939807" y="4600379"/>
            <a:ext cx="312387" cy="187653"/>
          </a:xfrm>
          <a:prstGeom prst="triangl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2" rIns="85683" bIns="42842" numCol="1" spcCol="0" rtlCol="0" fromWordArt="0" anchor="ctr" anchorCtr="0" forceAA="0" compatLnSpc="1">
            <a:noAutofit/>
          </a:bodyPr>
          <a:lstStyle/>
          <a:p>
            <a:pPr algn="ctr"/>
            <a:endParaRPr lang="zh-CN" altLang="en-US" sz="1580" dirty="0">
              <a:latin typeface="印品黑体" panose="00000500000000000000" pitchFamily="2" charset="-122"/>
              <a:ea typeface="印品黑体" panose="00000500000000000000" pitchFamily="2" charset="-122"/>
            </a:endParaRPr>
          </a:p>
        </p:txBody>
      </p:sp>
      <p:sp>
        <p:nvSpPr>
          <p:cNvPr id="2" name="文本框 1"/>
          <p:cNvSpPr txBox="1"/>
          <p:nvPr/>
        </p:nvSpPr>
        <p:spPr>
          <a:xfrm>
            <a:off x="772357" y="2494837"/>
            <a:ext cx="10724225" cy="769441"/>
          </a:xfrm>
          <a:prstGeom prst="rect">
            <a:avLst/>
          </a:prstGeom>
          <a:noFill/>
        </p:spPr>
        <p:txBody>
          <a:bodyPr wrap="square" rtlCol="0">
            <a:spAutoFit/>
          </a:bodyPr>
          <a:lstStyle/>
          <a:p>
            <a:pPr algn="ctr"/>
            <a:r>
              <a:rPr lang="zh-CN" altLang="en-US" sz="4400" b="1" dirty="0">
                <a:solidFill>
                  <a:schemeClr val="bg1"/>
                </a:solidFill>
                <a:latin typeface="印品黑体" panose="00000500000000000000" pitchFamily="2" charset="-122"/>
                <a:ea typeface="印品黑体" panose="00000500000000000000" pitchFamily="2" charset="-122"/>
              </a:rPr>
              <a:t>欢迎各位评委老师批评指正！</a:t>
            </a:r>
          </a:p>
        </p:txBody>
      </p:sp>
      <p:pic>
        <p:nvPicPr>
          <p:cNvPr id="18" name="Picture 2"/>
          <p:cNvPicPr>
            <a:picLocks noChangeAspect="1" noChangeArrowheads="1"/>
          </p:cNvPicPr>
          <p:nvPr/>
        </p:nvPicPr>
        <p:blipFill>
          <a:blip r:embed="rId3" cstate="print"/>
          <a:srcRect/>
          <a:stretch>
            <a:fillRect/>
          </a:stretch>
        </p:blipFill>
        <p:spPr bwMode="auto">
          <a:xfrm>
            <a:off x="338843" y="404106"/>
            <a:ext cx="576050" cy="606937"/>
          </a:xfrm>
          <a:prstGeom prst="rect">
            <a:avLst/>
          </a:prstGeom>
          <a:ln>
            <a:noFill/>
          </a:ln>
          <a:effectLst>
            <a:outerShdw blurRad="50800" dist="38100" dir="2700000" algn="tl" rotWithShape="0">
              <a:prstClr val="black">
                <a:alpha val="40000"/>
              </a:prstClr>
            </a:outerShdw>
            <a:reflection blurRad="6350" stA="50000" endA="300" endPos="55000" dir="5400000" sy="-100000" algn="bl" rotWithShape="0"/>
          </a:effectLst>
        </p:spPr>
      </p:pic>
      <p:pic>
        <p:nvPicPr>
          <p:cNvPr id="19" name="Picture 8" descr="白校名"/>
          <p:cNvPicPr>
            <a:picLocks noChangeAspect="1" noChangeArrowheads="1"/>
          </p:cNvPicPr>
          <p:nvPr/>
        </p:nvPicPr>
        <p:blipFill>
          <a:blip r:embed="rId4" cstate="print">
            <a:duotone>
              <a:prstClr val="black"/>
              <a:srgbClr val="0070C0">
                <a:tint val="45000"/>
                <a:satMod val="400000"/>
              </a:srgbClr>
            </a:duotone>
          </a:blip>
          <a:srcRect/>
          <a:stretch>
            <a:fillRect/>
          </a:stretch>
        </p:blipFill>
        <p:spPr bwMode="auto">
          <a:xfrm>
            <a:off x="1130912" y="299092"/>
            <a:ext cx="2736238" cy="711579"/>
          </a:xfrm>
          <a:prstGeom prst="rect">
            <a:avLst/>
          </a:prstGeom>
          <a:ln>
            <a:noFill/>
          </a:ln>
          <a:effectLst>
            <a:innerShdw blurRad="63500" dist="50800" dir="5400000">
              <a:prstClr val="black">
                <a:alpha val="50000"/>
              </a:prstClr>
            </a:innerShdw>
          </a:effectLst>
        </p:spPr>
      </p:pic>
      <p:sp>
        <p:nvSpPr>
          <p:cNvPr id="20" name="TextBox 7"/>
          <p:cNvSpPr txBox="1"/>
          <p:nvPr/>
        </p:nvSpPr>
        <p:spPr>
          <a:xfrm>
            <a:off x="986899" y="848553"/>
            <a:ext cx="4865332" cy="231140"/>
          </a:xfrm>
          <a:prstGeom prst="rect">
            <a:avLst/>
          </a:prstGeom>
          <a:noFill/>
          <a:effectLst>
            <a:reflection blurRad="6350" stA="50000" endA="300" endPos="55000" dir="5400000" sy="-100000" algn="bl" rotWithShape="0"/>
          </a:effectLst>
        </p:spPr>
        <p:txBody>
          <a:bodyPr lIns="109161" tIns="54581" rIns="109161" bIns="5458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schemeClr val="bg2">
                    <a:lumMod val="10000"/>
                  </a:schemeClr>
                </a:solidFill>
                <a:effectLst/>
                <a:uLnTx/>
                <a:uFillTx/>
                <a:latin typeface="Calibri" panose="020F0502020204030204" charset="0"/>
                <a:ea typeface="+mn-ea"/>
                <a:cs typeface="Arial" panose="020B0604020202020204" pitchFamily="34" charset="0"/>
              </a:rPr>
              <a:t>CHONGQING  </a:t>
            </a:r>
            <a:r>
              <a:rPr lang="en-US" altLang="zh-CN" sz="800" b="1" dirty="0">
                <a:solidFill>
                  <a:schemeClr val="bg2">
                    <a:lumMod val="10000"/>
                  </a:schemeClr>
                </a:solidFill>
                <a:latin typeface="Calibri" panose="020F0502020204030204" charset="0"/>
                <a:cs typeface="Arial" panose="020B0604020202020204" pitchFamily="34" charset="0"/>
              </a:rPr>
              <a:t>U</a:t>
            </a:r>
            <a:r>
              <a:rPr kumimoji="0" lang="en-US" altLang="zh-CN" sz="800" b="1" i="0" u="none" strike="noStrike" kern="1200" cap="none" spc="0" normalizeH="0" baseline="0" noProof="0" dirty="0">
                <a:ln>
                  <a:noFill/>
                </a:ln>
                <a:solidFill>
                  <a:schemeClr val="bg2">
                    <a:lumMod val="10000"/>
                  </a:schemeClr>
                </a:solidFill>
                <a:effectLst/>
                <a:uLnTx/>
                <a:uFillTx/>
                <a:latin typeface="Calibri" panose="020F0502020204030204" charset="0"/>
                <a:ea typeface="+mn-ea"/>
                <a:cs typeface="Arial" panose="020B0604020202020204" pitchFamily="34" charset="0"/>
              </a:rPr>
              <a:t>NIVERCITY  OF  POSTS  AND  TELECOMMUBCATIONS</a:t>
            </a:r>
          </a:p>
        </p:txBody>
      </p:sp>
      <p:grpSp>
        <p:nvGrpSpPr>
          <p:cNvPr id="3" name="组合 2">
            <a:extLst>
              <a:ext uri="{FF2B5EF4-FFF2-40B4-BE49-F238E27FC236}">
                <a16:creationId xmlns:a16="http://schemas.microsoft.com/office/drawing/2014/main" id="{3B20C837-6A11-9322-54EC-3644209ECA57}"/>
              </a:ext>
            </a:extLst>
          </p:cNvPr>
          <p:cNvGrpSpPr/>
          <p:nvPr/>
        </p:nvGrpSpPr>
        <p:grpSpPr>
          <a:xfrm>
            <a:off x="445861" y="5149202"/>
            <a:ext cx="2264452" cy="876396"/>
            <a:chOff x="1435337" y="4941155"/>
            <a:chExt cx="2264452" cy="876396"/>
          </a:xfrm>
        </p:grpSpPr>
        <p:grpSp>
          <p:nvGrpSpPr>
            <p:cNvPr id="4" name="组合 3">
              <a:extLst>
                <a:ext uri="{FF2B5EF4-FFF2-40B4-BE49-F238E27FC236}">
                  <a16:creationId xmlns:a16="http://schemas.microsoft.com/office/drawing/2014/main" id="{C6B7D709-5821-8F3B-9139-0F37D276D5E0}"/>
                </a:ext>
              </a:extLst>
            </p:cNvPr>
            <p:cNvGrpSpPr/>
            <p:nvPr/>
          </p:nvGrpSpPr>
          <p:grpSpPr>
            <a:xfrm>
              <a:off x="2352214" y="4941155"/>
              <a:ext cx="439400" cy="439400"/>
              <a:chOff x="3972379" y="5134847"/>
              <a:chExt cx="439400" cy="439400"/>
            </a:xfrm>
          </p:grpSpPr>
          <p:sp>
            <p:nvSpPr>
              <p:cNvPr id="6" name="椭圆 5">
                <a:extLst>
                  <a:ext uri="{FF2B5EF4-FFF2-40B4-BE49-F238E27FC236}">
                    <a16:creationId xmlns:a16="http://schemas.microsoft.com/office/drawing/2014/main" id="{244E79AF-8512-09EC-18F3-BF41027C703D}"/>
                  </a:ext>
                </a:extLst>
              </p:cNvPr>
              <p:cNvSpPr/>
              <p:nvPr/>
            </p:nvSpPr>
            <p:spPr>
              <a:xfrm>
                <a:off x="3972379" y="5134847"/>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7" name="male-university-graduate-silhouette-with-the-cap_46143">
                <a:extLst>
                  <a:ext uri="{FF2B5EF4-FFF2-40B4-BE49-F238E27FC236}">
                    <a16:creationId xmlns:a16="http://schemas.microsoft.com/office/drawing/2014/main" id="{B291FD1B-7649-3D98-A5CA-AE577D61A5F7}"/>
                  </a:ext>
                </a:extLst>
              </p:cNvPr>
              <p:cNvSpPr>
                <a:spLocks noChangeAspect="1"/>
              </p:cNvSpPr>
              <p:nvPr/>
            </p:nvSpPr>
            <p:spPr bwMode="auto">
              <a:xfrm>
                <a:off x="4076421" y="5229947"/>
                <a:ext cx="231316" cy="249201"/>
              </a:xfrm>
              <a:custGeom>
                <a:avLst/>
                <a:gdLst>
                  <a:gd name="T0" fmla="*/ 233 w 238"/>
                  <a:gd name="T1" fmla="*/ 236 h 256"/>
                  <a:gd name="T2" fmla="*/ 173 w 238"/>
                  <a:gd name="T3" fmla="*/ 210 h 256"/>
                  <a:gd name="T4" fmla="*/ 168 w 238"/>
                  <a:gd name="T5" fmla="*/ 207 h 256"/>
                  <a:gd name="T6" fmla="*/ 164 w 238"/>
                  <a:gd name="T7" fmla="*/ 195 h 256"/>
                  <a:gd name="T8" fmla="*/ 159 w 238"/>
                  <a:gd name="T9" fmla="*/ 189 h 256"/>
                  <a:gd name="T10" fmla="*/ 157 w 238"/>
                  <a:gd name="T11" fmla="*/ 186 h 256"/>
                  <a:gd name="T12" fmla="*/ 158 w 238"/>
                  <a:gd name="T13" fmla="*/ 167 h 256"/>
                  <a:gd name="T14" fmla="*/ 167 w 238"/>
                  <a:gd name="T15" fmla="*/ 149 h 256"/>
                  <a:gd name="T16" fmla="*/ 178 w 238"/>
                  <a:gd name="T17" fmla="*/ 113 h 256"/>
                  <a:gd name="T18" fmla="*/ 172 w 238"/>
                  <a:gd name="T19" fmla="*/ 109 h 256"/>
                  <a:gd name="T20" fmla="*/ 179 w 238"/>
                  <a:gd name="T21" fmla="*/ 77 h 256"/>
                  <a:gd name="T22" fmla="*/ 180 w 238"/>
                  <a:gd name="T23" fmla="*/ 84 h 256"/>
                  <a:gd name="T24" fmla="*/ 180 w 238"/>
                  <a:gd name="T25" fmla="*/ 86 h 256"/>
                  <a:gd name="T26" fmla="*/ 216 w 238"/>
                  <a:gd name="T27" fmla="*/ 63 h 256"/>
                  <a:gd name="T28" fmla="*/ 119 w 238"/>
                  <a:gd name="T29" fmla="*/ 0 h 256"/>
                  <a:gd name="T30" fmla="*/ 21 w 238"/>
                  <a:gd name="T31" fmla="*/ 63 h 256"/>
                  <a:gd name="T32" fmla="*/ 30 w 238"/>
                  <a:gd name="T33" fmla="*/ 69 h 256"/>
                  <a:gd name="T34" fmla="*/ 30 w 238"/>
                  <a:gd name="T35" fmla="*/ 82 h 256"/>
                  <a:gd name="T36" fmla="*/ 27 w 238"/>
                  <a:gd name="T37" fmla="*/ 85 h 256"/>
                  <a:gd name="T38" fmla="*/ 29 w 238"/>
                  <a:gd name="T39" fmla="*/ 89 h 256"/>
                  <a:gd name="T40" fmla="*/ 21 w 238"/>
                  <a:gd name="T41" fmla="*/ 133 h 256"/>
                  <a:gd name="T42" fmla="*/ 41 w 238"/>
                  <a:gd name="T43" fmla="*/ 133 h 256"/>
                  <a:gd name="T44" fmla="*/ 33 w 238"/>
                  <a:gd name="T45" fmla="*/ 89 h 256"/>
                  <a:gd name="T46" fmla="*/ 35 w 238"/>
                  <a:gd name="T47" fmla="*/ 85 h 256"/>
                  <a:gd name="T48" fmla="*/ 32 w 238"/>
                  <a:gd name="T49" fmla="*/ 82 h 256"/>
                  <a:gd name="T50" fmla="*/ 32 w 238"/>
                  <a:gd name="T51" fmla="*/ 70 h 256"/>
                  <a:gd name="T52" fmla="*/ 57 w 238"/>
                  <a:gd name="T53" fmla="*/ 86 h 256"/>
                  <a:gd name="T54" fmla="*/ 57 w 238"/>
                  <a:gd name="T55" fmla="*/ 85 h 256"/>
                  <a:gd name="T56" fmla="*/ 58 w 238"/>
                  <a:gd name="T57" fmla="*/ 92 h 256"/>
                  <a:gd name="T58" fmla="*/ 67 w 238"/>
                  <a:gd name="T59" fmla="*/ 109 h 256"/>
                  <a:gd name="T60" fmla="*/ 67 w 238"/>
                  <a:gd name="T61" fmla="*/ 110 h 256"/>
                  <a:gd name="T62" fmla="*/ 67 w 238"/>
                  <a:gd name="T63" fmla="*/ 110 h 256"/>
                  <a:gd name="T64" fmla="*/ 65 w 238"/>
                  <a:gd name="T65" fmla="*/ 113 h 256"/>
                  <a:gd name="T66" fmla="*/ 62 w 238"/>
                  <a:gd name="T67" fmla="*/ 118 h 256"/>
                  <a:gd name="T68" fmla="*/ 66 w 238"/>
                  <a:gd name="T69" fmla="*/ 138 h 256"/>
                  <a:gd name="T70" fmla="*/ 70 w 238"/>
                  <a:gd name="T71" fmla="*/ 148 h 256"/>
                  <a:gd name="T72" fmla="*/ 80 w 238"/>
                  <a:gd name="T73" fmla="*/ 166 h 256"/>
                  <a:gd name="T74" fmla="*/ 82 w 238"/>
                  <a:gd name="T75" fmla="*/ 170 h 256"/>
                  <a:gd name="T76" fmla="*/ 80 w 238"/>
                  <a:gd name="T77" fmla="*/ 186 h 256"/>
                  <a:gd name="T78" fmla="*/ 77 w 238"/>
                  <a:gd name="T79" fmla="*/ 189 h 256"/>
                  <a:gd name="T80" fmla="*/ 71 w 238"/>
                  <a:gd name="T81" fmla="*/ 195 h 256"/>
                  <a:gd name="T82" fmla="*/ 67 w 238"/>
                  <a:gd name="T83" fmla="*/ 206 h 256"/>
                  <a:gd name="T84" fmla="*/ 64 w 238"/>
                  <a:gd name="T85" fmla="*/ 209 h 256"/>
                  <a:gd name="T86" fmla="*/ 41 w 238"/>
                  <a:gd name="T87" fmla="*/ 217 h 256"/>
                  <a:gd name="T88" fmla="*/ 4 w 238"/>
                  <a:gd name="T89" fmla="*/ 237 h 256"/>
                  <a:gd name="T90" fmla="*/ 2 w 238"/>
                  <a:gd name="T91" fmla="*/ 256 h 256"/>
                  <a:gd name="T92" fmla="*/ 235 w 238"/>
                  <a:gd name="T93" fmla="*/ 256 h 256"/>
                  <a:gd name="T94" fmla="*/ 233 w 238"/>
                  <a:gd name="T95" fmla="*/ 2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56">
                    <a:moveTo>
                      <a:pt x="233" y="236"/>
                    </a:moveTo>
                    <a:cubicBezTo>
                      <a:pt x="210" y="226"/>
                      <a:pt x="197" y="218"/>
                      <a:pt x="173" y="210"/>
                    </a:cubicBezTo>
                    <a:cubicBezTo>
                      <a:pt x="171" y="209"/>
                      <a:pt x="169" y="208"/>
                      <a:pt x="168" y="207"/>
                    </a:cubicBezTo>
                    <a:cubicBezTo>
                      <a:pt x="166" y="203"/>
                      <a:pt x="165" y="199"/>
                      <a:pt x="164" y="195"/>
                    </a:cubicBezTo>
                    <a:cubicBezTo>
                      <a:pt x="163" y="193"/>
                      <a:pt x="162" y="190"/>
                      <a:pt x="159" y="189"/>
                    </a:cubicBezTo>
                    <a:cubicBezTo>
                      <a:pt x="158" y="189"/>
                      <a:pt x="157" y="187"/>
                      <a:pt x="157" y="186"/>
                    </a:cubicBezTo>
                    <a:cubicBezTo>
                      <a:pt x="157" y="177"/>
                      <a:pt x="154" y="171"/>
                      <a:pt x="158" y="167"/>
                    </a:cubicBezTo>
                    <a:cubicBezTo>
                      <a:pt x="165" y="161"/>
                      <a:pt x="164" y="153"/>
                      <a:pt x="167" y="149"/>
                    </a:cubicBezTo>
                    <a:cubicBezTo>
                      <a:pt x="171" y="145"/>
                      <a:pt x="180" y="117"/>
                      <a:pt x="178" y="113"/>
                    </a:cubicBezTo>
                    <a:cubicBezTo>
                      <a:pt x="176" y="109"/>
                      <a:pt x="170" y="111"/>
                      <a:pt x="172" y="109"/>
                    </a:cubicBezTo>
                    <a:cubicBezTo>
                      <a:pt x="177" y="102"/>
                      <a:pt x="179" y="89"/>
                      <a:pt x="179" y="77"/>
                    </a:cubicBezTo>
                    <a:cubicBezTo>
                      <a:pt x="180" y="79"/>
                      <a:pt x="180" y="81"/>
                      <a:pt x="180" y="84"/>
                    </a:cubicBezTo>
                    <a:cubicBezTo>
                      <a:pt x="180" y="86"/>
                      <a:pt x="180" y="86"/>
                      <a:pt x="180" y="86"/>
                    </a:cubicBezTo>
                    <a:cubicBezTo>
                      <a:pt x="216" y="63"/>
                      <a:pt x="216" y="63"/>
                      <a:pt x="216" y="63"/>
                    </a:cubicBezTo>
                    <a:cubicBezTo>
                      <a:pt x="119" y="0"/>
                      <a:pt x="119" y="0"/>
                      <a:pt x="119" y="0"/>
                    </a:cubicBezTo>
                    <a:cubicBezTo>
                      <a:pt x="21" y="63"/>
                      <a:pt x="21" y="63"/>
                      <a:pt x="21" y="63"/>
                    </a:cubicBezTo>
                    <a:cubicBezTo>
                      <a:pt x="30" y="69"/>
                      <a:pt x="30" y="69"/>
                      <a:pt x="30" y="69"/>
                    </a:cubicBezTo>
                    <a:cubicBezTo>
                      <a:pt x="30" y="82"/>
                      <a:pt x="30" y="82"/>
                      <a:pt x="30" y="82"/>
                    </a:cubicBezTo>
                    <a:cubicBezTo>
                      <a:pt x="29" y="82"/>
                      <a:pt x="27" y="84"/>
                      <a:pt x="27" y="85"/>
                    </a:cubicBezTo>
                    <a:cubicBezTo>
                      <a:pt x="27" y="87"/>
                      <a:pt x="28" y="88"/>
                      <a:pt x="29" y="89"/>
                    </a:cubicBezTo>
                    <a:cubicBezTo>
                      <a:pt x="21" y="133"/>
                      <a:pt x="21" y="133"/>
                      <a:pt x="21" y="133"/>
                    </a:cubicBezTo>
                    <a:cubicBezTo>
                      <a:pt x="41" y="133"/>
                      <a:pt x="41" y="133"/>
                      <a:pt x="41" y="133"/>
                    </a:cubicBezTo>
                    <a:cubicBezTo>
                      <a:pt x="33" y="89"/>
                      <a:pt x="33" y="89"/>
                      <a:pt x="33" y="89"/>
                    </a:cubicBezTo>
                    <a:cubicBezTo>
                      <a:pt x="34" y="88"/>
                      <a:pt x="35" y="87"/>
                      <a:pt x="35" y="85"/>
                    </a:cubicBezTo>
                    <a:cubicBezTo>
                      <a:pt x="35" y="84"/>
                      <a:pt x="34" y="82"/>
                      <a:pt x="32" y="82"/>
                    </a:cubicBezTo>
                    <a:cubicBezTo>
                      <a:pt x="32" y="70"/>
                      <a:pt x="32" y="70"/>
                      <a:pt x="32" y="70"/>
                    </a:cubicBezTo>
                    <a:cubicBezTo>
                      <a:pt x="57" y="86"/>
                      <a:pt x="57" y="86"/>
                      <a:pt x="57" y="86"/>
                    </a:cubicBezTo>
                    <a:cubicBezTo>
                      <a:pt x="57" y="85"/>
                      <a:pt x="57" y="85"/>
                      <a:pt x="57" y="85"/>
                    </a:cubicBezTo>
                    <a:cubicBezTo>
                      <a:pt x="57" y="87"/>
                      <a:pt x="57" y="89"/>
                      <a:pt x="58" y="92"/>
                    </a:cubicBezTo>
                    <a:cubicBezTo>
                      <a:pt x="60" y="100"/>
                      <a:pt x="64" y="100"/>
                      <a:pt x="67" y="109"/>
                    </a:cubicBezTo>
                    <a:cubicBezTo>
                      <a:pt x="67" y="109"/>
                      <a:pt x="67" y="110"/>
                      <a:pt x="67" y="110"/>
                    </a:cubicBezTo>
                    <a:cubicBezTo>
                      <a:pt x="67" y="110"/>
                      <a:pt x="67" y="110"/>
                      <a:pt x="67" y="110"/>
                    </a:cubicBezTo>
                    <a:cubicBezTo>
                      <a:pt x="66" y="111"/>
                      <a:pt x="66" y="113"/>
                      <a:pt x="65" y="113"/>
                    </a:cubicBezTo>
                    <a:cubicBezTo>
                      <a:pt x="61" y="114"/>
                      <a:pt x="61" y="116"/>
                      <a:pt x="62" y="118"/>
                    </a:cubicBezTo>
                    <a:cubicBezTo>
                      <a:pt x="62" y="120"/>
                      <a:pt x="65" y="133"/>
                      <a:pt x="66" y="138"/>
                    </a:cubicBezTo>
                    <a:cubicBezTo>
                      <a:pt x="67" y="141"/>
                      <a:pt x="70" y="144"/>
                      <a:pt x="70" y="148"/>
                    </a:cubicBezTo>
                    <a:cubicBezTo>
                      <a:pt x="72" y="155"/>
                      <a:pt x="75" y="161"/>
                      <a:pt x="80" y="166"/>
                    </a:cubicBezTo>
                    <a:cubicBezTo>
                      <a:pt x="81" y="167"/>
                      <a:pt x="82" y="169"/>
                      <a:pt x="82" y="170"/>
                    </a:cubicBezTo>
                    <a:cubicBezTo>
                      <a:pt x="81" y="175"/>
                      <a:pt x="81" y="181"/>
                      <a:pt x="80" y="186"/>
                    </a:cubicBezTo>
                    <a:cubicBezTo>
                      <a:pt x="80" y="187"/>
                      <a:pt x="78" y="189"/>
                      <a:pt x="77" y="189"/>
                    </a:cubicBezTo>
                    <a:cubicBezTo>
                      <a:pt x="73" y="190"/>
                      <a:pt x="72" y="193"/>
                      <a:pt x="71" y="195"/>
                    </a:cubicBezTo>
                    <a:cubicBezTo>
                      <a:pt x="70" y="199"/>
                      <a:pt x="69" y="203"/>
                      <a:pt x="67" y="206"/>
                    </a:cubicBezTo>
                    <a:cubicBezTo>
                      <a:pt x="67" y="207"/>
                      <a:pt x="65" y="209"/>
                      <a:pt x="64" y="209"/>
                    </a:cubicBezTo>
                    <a:cubicBezTo>
                      <a:pt x="56" y="212"/>
                      <a:pt x="49" y="214"/>
                      <a:pt x="41" y="217"/>
                    </a:cubicBezTo>
                    <a:cubicBezTo>
                      <a:pt x="33" y="220"/>
                      <a:pt x="12" y="233"/>
                      <a:pt x="4" y="237"/>
                    </a:cubicBezTo>
                    <a:cubicBezTo>
                      <a:pt x="0" y="239"/>
                      <a:pt x="2" y="256"/>
                      <a:pt x="2" y="256"/>
                    </a:cubicBezTo>
                    <a:cubicBezTo>
                      <a:pt x="235" y="256"/>
                      <a:pt x="235" y="256"/>
                      <a:pt x="235" y="256"/>
                    </a:cubicBezTo>
                    <a:cubicBezTo>
                      <a:pt x="235" y="256"/>
                      <a:pt x="238" y="238"/>
                      <a:pt x="233" y="236"/>
                    </a:cubicBezTo>
                    <a:close/>
                  </a:path>
                </a:pathLst>
              </a:custGeom>
              <a:solidFill>
                <a:schemeClr val="bg1"/>
              </a:solidFill>
              <a:ln>
                <a:noFill/>
              </a:ln>
            </p:spPr>
          </p:sp>
        </p:grpSp>
        <p:sp>
          <p:nvSpPr>
            <p:cNvPr id="5" name="文本框 4">
              <a:extLst>
                <a:ext uri="{FF2B5EF4-FFF2-40B4-BE49-F238E27FC236}">
                  <a16:creationId xmlns:a16="http://schemas.microsoft.com/office/drawing/2014/main" id="{BDBA0239-16AD-4BAF-081D-79EF25B57C95}"/>
                </a:ext>
              </a:extLst>
            </p:cNvPr>
            <p:cNvSpPr txBox="1"/>
            <p:nvPr/>
          </p:nvSpPr>
          <p:spPr>
            <a:xfrm>
              <a:off x="1435337" y="5478997"/>
              <a:ext cx="2264452" cy="338554"/>
            </a:xfrm>
            <a:prstGeom prst="rect">
              <a:avLst/>
            </a:prstGeom>
            <a:noFill/>
          </p:spPr>
          <p:txBody>
            <a:bodyPr wrap="square" rtlCol="0">
              <a:spAutoFit/>
            </a:bodyPr>
            <a:lstStyle/>
            <a:p>
              <a:pPr algn="ctr"/>
              <a:r>
                <a:rPr lang="zh-CN" altLang="en-US" sz="1600" b="1" dirty="0">
                  <a:solidFill>
                    <a:srgbClr val="0070C0"/>
                  </a:solidFill>
                  <a:latin typeface="印品黑体" panose="00000500000000000000" pitchFamily="2" charset="-122"/>
                  <a:ea typeface="印品黑体" panose="00000500000000000000" pitchFamily="2" charset="-122"/>
                </a:rPr>
                <a:t>答辩人：周兴龙</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grpSp>
        <p:nvGrpSpPr>
          <p:cNvPr id="8" name="组合 7">
            <a:extLst>
              <a:ext uri="{FF2B5EF4-FFF2-40B4-BE49-F238E27FC236}">
                <a16:creationId xmlns:a16="http://schemas.microsoft.com/office/drawing/2014/main" id="{C31D2196-E1ED-3EFB-1426-D9A19E782B52}"/>
              </a:ext>
            </a:extLst>
          </p:cNvPr>
          <p:cNvGrpSpPr/>
          <p:nvPr/>
        </p:nvGrpSpPr>
        <p:grpSpPr>
          <a:xfrm>
            <a:off x="6095998" y="5126867"/>
            <a:ext cx="2430167" cy="885873"/>
            <a:chOff x="1555122" y="4941155"/>
            <a:chExt cx="2430167" cy="885873"/>
          </a:xfrm>
        </p:grpSpPr>
        <p:grpSp>
          <p:nvGrpSpPr>
            <p:cNvPr id="9" name="组合 8">
              <a:extLst>
                <a:ext uri="{FF2B5EF4-FFF2-40B4-BE49-F238E27FC236}">
                  <a16:creationId xmlns:a16="http://schemas.microsoft.com/office/drawing/2014/main" id="{ED48F3AC-4BC4-19DC-F4D8-93CD907DE4ED}"/>
                </a:ext>
              </a:extLst>
            </p:cNvPr>
            <p:cNvGrpSpPr/>
            <p:nvPr/>
          </p:nvGrpSpPr>
          <p:grpSpPr>
            <a:xfrm>
              <a:off x="2548042" y="4941155"/>
              <a:ext cx="439400" cy="439400"/>
              <a:chOff x="4168207" y="5134847"/>
              <a:chExt cx="439400" cy="439400"/>
            </a:xfrm>
          </p:grpSpPr>
          <p:sp>
            <p:nvSpPr>
              <p:cNvPr id="11" name="椭圆 10">
                <a:extLst>
                  <a:ext uri="{FF2B5EF4-FFF2-40B4-BE49-F238E27FC236}">
                    <a16:creationId xmlns:a16="http://schemas.microsoft.com/office/drawing/2014/main" id="{0F060A2F-827A-05A1-E5F7-736028ECA5A9}"/>
                  </a:ext>
                </a:extLst>
              </p:cNvPr>
              <p:cNvSpPr/>
              <p:nvPr/>
            </p:nvSpPr>
            <p:spPr>
              <a:xfrm>
                <a:off x="4168207" y="5134847"/>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印品黑体" panose="00000500000000000000" pitchFamily="2" charset="-122"/>
                  <a:ea typeface="印品黑体" panose="00000500000000000000" pitchFamily="2" charset="-122"/>
                </a:endParaRPr>
              </a:p>
            </p:txBody>
          </p:sp>
          <p:sp>
            <p:nvSpPr>
              <p:cNvPr id="12" name="male-university-graduate-silhouette-with-the-cap_46143">
                <a:extLst>
                  <a:ext uri="{FF2B5EF4-FFF2-40B4-BE49-F238E27FC236}">
                    <a16:creationId xmlns:a16="http://schemas.microsoft.com/office/drawing/2014/main" id="{FFF03C0B-6B6A-7A01-4B44-3A3704810390}"/>
                  </a:ext>
                </a:extLst>
              </p:cNvPr>
              <p:cNvSpPr>
                <a:spLocks noChangeAspect="1"/>
              </p:cNvSpPr>
              <p:nvPr/>
            </p:nvSpPr>
            <p:spPr bwMode="auto">
              <a:xfrm>
                <a:off x="4276825" y="5224072"/>
                <a:ext cx="222164" cy="249201"/>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bg1"/>
              </a:solidFill>
              <a:ln>
                <a:noFill/>
              </a:ln>
            </p:spPr>
            <p:txBody>
              <a:bodyPr/>
              <a:lstStyle/>
              <a:p>
                <a:endParaRPr lang="zh-CN" altLang="en-US" dirty="0">
                  <a:latin typeface="印品黑体" panose="00000500000000000000" pitchFamily="2" charset="-122"/>
                  <a:ea typeface="印品黑体" panose="00000500000000000000" pitchFamily="2" charset="-122"/>
                </a:endParaRPr>
              </a:p>
            </p:txBody>
          </p:sp>
        </p:grpSp>
        <p:sp>
          <p:nvSpPr>
            <p:cNvPr id="10" name="文本框 35">
              <a:extLst>
                <a:ext uri="{FF2B5EF4-FFF2-40B4-BE49-F238E27FC236}">
                  <a16:creationId xmlns:a16="http://schemas.microsoft.com/office/drawing/2014/main" id="{53931D52-7000-87BD-B18B-766C9C233D25}"/>
                </a:ext>
              </a:extLst>
            </p:cNvPr>
            <p:cNvSpPr txBox="1"/>
            <p:nvPr/>
          </p:nvSpPr>
          <p:spPr>
            <a:xfrm>
              <a:off x="1555122" y="5488474"/>
              <a:ext cx="243016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0070C0"/>
                  </a:solidFill>
                  <a:latin typeface="印品黑体" panose="00000500000000000000" pitchFamily="2" charset="-122"/>
                  <a:ea typeface="印品黑体" panose="00000500000000000000" pitchFamily="2" charset="-122"/>
                </a:rPr>
                <a:t>指导老师：杨燕 </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grpSp>
        <p:nvGrpSpPr>
          <p:cNvPr id="13" name="组合 12">
            <a:extLst>
              <a:ext uri="{FF2B5EF4-FFF2-40B4-BE49-F238E27FC236}">
                <a16:creationId xmlns:a16="http://schemas.microsoft.com/office/drawing/2014/main" id="{26216A1A-839B-3DD8-719A-92E7E7FF1B59}"/>
              </a:ext>
            </a:extLst>
          </p:cNvPr>
          <p:cNvGrpSpPr/>
          <p:nvPr/>
        </p:nvGrpSpPr>
        <p:grpSpPr>
          <a:xfrm>
            <a:off x="2850240" y="5139725"/>
            <a:ext cx="2901317" cy="885873"/>
            <a:chOff x="1207531" y="5074676"/>
            <a:chExt cx="2901317" cy="885873"/>
          </a:xfrm>
        </p:grpSpPr>
        <p:grpSp>
          <p:nvGrpSpPr>
            <p:cNvPr id="14" name="组合 13">
              <a:extLst>
                <a:ext uri="{FF2B5EF4-FFF2-40B4-BE49-F238E27FC236}">
                  <a16:creationId xmlns:a16="http://schemas.microsoft.com/office/drawing/2014/main" id="{0804E1AE-5716-A5E5-9C88-59A9A23FE8F4}"/>
                </a:ext>
              </a:extLst>
            </p:cNvPr>
            <p:cNvGrpSpPr/>
            <p:nvPr/>
          </p:nvGrpSpPr>
          <p:grpSpPr>
            <a:xfrm>
              <a:off x="1207531" y="5074676"/>
              <a:ext cx="2901317" cy="885873"/>
              <a:chOff x="1276063" y="4931678"/>
              <a:chExt cx="2901317" cy="885873"/>
            </a:xfrm>
          </p:grpSpPr>
          <p:sp>
            <p:nvSpPr>
              <p:cNvPr id="16" name="椭圆 15">
                <a:extLst>
                  <a:ext uri="{FF2B5EF4-FFF2-40B4-BE49-F238E27FC236}">
                    <a16:creationId xmlns:a16="http://schemas.microsoft.com/office/drawing/2014/main" id="{BD4C4A7D-BD66-463C-0306-5CB96F6462EC}"/>
                  </a:ext>
                </a:extLst>
              </p:cNvPr>
              <p:cNvSpPr/>
              <p:nvPr/>
            </p:nvSpPr>
            <p:spPr>
              <a:xfrm>
                <a:off x="2498343" y="4931678"/>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17" name="文本框 16">
                <a:extLst>
                  <a:ext uri="{FF2B5EF4-FFF2-40B4-BE49-F238E27FC236}">
                    <a16:creationId xmlns:a16="http://schemas.microsoft.com/office/drawing/2014/main" id="{6356228A-8A53-CDEF-89AA-B8A2E145639D}"/>
                  </a:ext>
                </a:extLst>
              </p:cNvPr>
              <p:cNvSpPr txBox="1"/>
              <p:nvPr/>
            </p:nvSpPr>
            <p:spPr>
              <a:xfrm>
                <a:off x="1276063" y="5478997"/>
                <a:ext cx="2901317" cy="338554"/>
              </a:xfrm>
              <a:prstGeom prst="rect">
                <a:avLst/>
              </a:prstGeom>
              <a:noFill/>
            </p:spPr>
            <p:txBody>
              <a:bodyPr wrap="square" rtlCol="0">
                <a:spAutoFit/>
              </a:bodyPr>
              <a:lstStyle/>
              <a:p>
                <a:pPr algn="ctr"/>
                <a:r>
                  <a:rPr lang="zh-CN" altLang="en-US" sz="1600" b="1" dirty="0">
                    <a:solidFill>
                      <a:srgbClr val="0070C0"/>
                    </a:solidFill>
                    <a:latin typeface="印品黑体" panose="00000500000000000000" pitchFamily="2" charset="-122"/>
                    <a:ea typeface="印品黑体" panose="00000500000000000000" pitchFamily="2" charset="-122"/>
                  </a:rPr>
                  <a:t>专业：数据科学与大数据技术</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pic>
          <p:nvPicPr>
            <p:cNvPr id="15" name="图片 14">
              <a:extLst>
                <a:ext uri="{FF2B5EF4-FFF2-40B4-BE49-F238E27FC236}">
                  <a16:creationId xmlns:a16="http://schemas.microsoft.com/office/drawing/2014/main" id="{B71F6AF3-09E9-26E7-6B5D-44EFECDCC8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6617" y="5162079"/>
              <a:ext cx="265788" cy="248400"/>
            </a:xfrm>
            <a:prstGeom prst="rect">
              <a:avLst/>
            </a:prstGeom>
          </p:spPr>
        </p:pic>
      </p:grpSp>
      <p:grpSp>
        <p:nvGrpSpPr>
          <p:cNvPr id="21" name="组合 20">
            <a:extLst>
              <a:ext uri="{FF2B5EF4-FFF2-40B4-BE49-F238E27FC236}">
                <a16:creationId xmlns:a16="http://schemas.microsoft.com/office/drawing/2014/main" id="{498C5349-B018-40D6-2C6C-7699927384E2}"/>
              </a:ext>
            </a:extLst>
          </p:cNvPr>
          <p:cNvGrpSpPr/>
          <p:nvPr/>
        </p:nvGrpSpPr>
        <p:grpSpPr>
          <a:xfrm>
            <a:off x="9027944" y="5145665"/>
            <a:ext cx="2430167" cy="885873"/>
            <a:chOff x="9027944" y="5233964"/>
            <a:chExt cx="2430167" cy="885873"/>
          </a:xfrm>
        </p:grpSpPr>
        <p:grpSp>
          <p:nvGrpSpPr>
            <p:cNvPr id="22" name="组合 21">
              <a:extLst>
                <a:ext uri="{FF2B5EF4-FFF2-40B4-BE49-F238E27FC236}">
                  <a16:creationId xmlns:a16="http://schemas.microsoft.com/office/drawing/2014/main" id="{A1FF4CE6-D243-66E4-88C6-1D16993F6245}"/>
                </a:ext>
              </a:extLst>
            </p:cNvPr>
            <p:cNvGrpSpPr/>
            <p:nvPr/>
          </p:nvGrpSpPr>
          <p:grpSpPr>
            <a:xfrm>
              <a:off x="9027944" y="5233964"/>
              <a:ext cx="2430167" cy="885873"/>
              <a:chOff x="1555122" y="4941155"/>
              <a:chExt cx="2430167" cy="885873"/>
            </a:xfrm>
          </p:grpSpPr>
          <p:sp>
            <p:nvSpPr>
              <p:cNvPr id="24" name="椭圆 23">
                <a:extLst>
                  <a:ext uri="{FF2B5EF4-FFF2-40B4-BE49-F238E27FC236}">
                    <a16:creationId xmlns:a16="http://schemas.microsoft.com/office/drawing/2014/main" id="{04004CF9-10BD-16AD-9675-7355E90A863E}"/>
                  </a:ext>
                </a:extLst>
              </p:cNvPr>
              <p:cNvSpPr/>
              <p:nvPr/>
            </p:nvSpPr>
            <p:spPr>
              <a:xfrm>
                <a:off x="2548042" y="4941155"/>
                <a:ext cx="439400" cy="439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印品黑体" panose="00000500000000000000" pitchFamily="2" charset="-122"/>
                  <a:ea typeface="印品黑体" panose="00000500000000000000" pitchFamily="2" charset="-122"/>
                </a:endParaRPr>
              </a:p>
            </p:txBody>
          </p:sp>
          <p:sp>
            <p:nvSpPr>
              <p:cNvPr id="27" name="文本框 35">
                <a:extLst>
                  <a:ext uri="{FF2B5EF4-FFF2-40B4-BE49-F238E27FC236}">
                    <a16:creationId xmlns:a16="http://schemas.microsoft.com/office/drawing/2014/main" id="{E4A3B4B6-78BC-E81D-9C9B-70B0A77B2FD9}"/>
                  </a:ext>
                </a:extLst>
              </p:cNvPr>
              <p:cNvSpPr txBox="1"/>
              <p:nvPr/>
            </p:nvSpPr>
            <p:spPr>
              <a:xfrm>
                <a:off x="1555122" y="5488474"/>
                <a:ext cx="2430167"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0070C0"/>
                    </a:solidFill>
                    <a:latin typeface="印品黑体" panose="00000500000000000000" pitchFamily="2" charset="-122"/>
                    <a:ea typeface="印品黑体" panose="00000500000000000000" pitchFamily="2" charset="-122"/>
                  </a:rPr>
                  <a:t>答辩时间：</a:t>
                </a:r>
                <a:r>
                  <a:rPr lang="en-US" altLang="zh-CN" sz="1600" b="1" dirty="0">
                    <a:solidFill>
                      <a:srgbClr val="0070C0"/>
                    </a:solidFill>
                    <a:latin typeface="印品黑体" panose="00000500000000000000" pitchFamily="2" charset="-122"/>
                    <a:ea typeface="印品黑体" panose="00000500000000000000" pitchFamily="2" charset="-122"/>
                  </a:rPr>
                  <a:t>5</a:t>
                </a:r>
                <a:r>
                  <a:rPr lang="zh-CN" altLang="en-US" sz="1600" b="1" dirty="0">
                    <a:solidFill>
                      <a:srgbClr val="0070C0"/>
                    </a:solidFill>
                    <a:latin typeface="印品黑体" panose="00000500000000000000" pitchFamily="2" charset="-122"/>
                    <a:ea typeface="印品黑体" panose="00000500000000000000" pitchFamily="2" charset="-122"/>
                  </a:rPr>
                  <a:t>月</a:t>
                </a:r>
                <a:r>
                  <a:rPr lang="en-US" altLang="zh-CN" sz="1600" b="1" dirty="0">
                    <a:solidFill>
                      <a:srgbClr val="0070C0"/>
                    </a:solidFill>
                    <a:latin typeface="印品黑体" panose="00000500000000000000" pitchFamily="2" charset="-122"/>
                    <a:ea typeface="印品黑体" panose="00000500000000000000" pitchFamily="2" charset="-122"/>
                  </a:rPr>
                  <a:t>31</a:t>
                </a:r>
                <a:r>
                  <a:rPr lang="zh-CN" altLang="en-US" sz="1600" b="1" dirty="0">
                    <a:solidFill>
                      <a:srgbClr val="0070C0"/>
                    </a:solidFill>
                    <a:latin typeface="印品黑体" panose="00000500000000000000" pitchFamily="2" charset="-122"/>
                    <a:ea typeface="印品黑体" panose="00000500000000000000" pitchFamily="2" charset="-122"/>
                  </a:rPr>
                  <a:t>日</a:t>
                </a:r>
                <a:endParaRPr lang="en-US" altLang="zh-CN" sz="1600" b="1" dirty="0">
                  <a:solidFill>
                    <a:srgbClr val="0070C0"/>
                  </a:solidFill>
                  <a:latin typeface="印品黑体" panose="00000500000000000000" pitchFamily="2" charset="-122"/>
                  <a:ea typeface="印品黑体" panose="00000500000000000000" pitchFamily="2" charset="-122"/>
                </a:endParaRPr>
              </a:p>
            </p:txBody>
          </p:sp>
        </p:grpSp>
        <p:pic>
          <p:nvPicPr>
            <p:cNvPr id="23" name="图片 22">
              <a:extLst>
                <a:ext uri="{FF2B5EF4-FFF2-40B4-BE49-F238E27FC236}">
                  <a16:creationId xmlns:a16="http://schemas.microsoft.com/office/drawing/2014/main" id="{8A6ADBE6-C06C-51D7-566F-5F76C4573B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16364" y="5329464"/>
              <a:ext cx="248400" cy="248400"/>
            </a:xfrm>
            <a:prstGeom prst="rect">
              <a:avLst/>
            </a:prstGeom>
          </p:spPr>
        </p:pic>
      </p:grpSp>
      <p:sp>
        <p:nvSpPr>
          <p:cNvPr id="40" name="文本框 39">
            <a:extLst>
              <a:ext uri="{FF2B5EF4-FFF2-40B4-BE49-F238E27FC236}">
                <a16:creationId xmlns:a16="http://schemas.microsoft.com/office/drawing/2014/main" id="{FCACF6E7-8A01-B4CA-A97A-CFED99A92BCE}"/>
              </a:ext>
            </a:extLst>
          </p:cNvPr>
          <p:cNvSpPr txBox="1"/>
          <p:nvPr/>
        </p:nvSpPr>
        <p:spPr>
          <a:xfrm>
            <a:off x="11489638" y="6263493"/>
            <a:ext cx="407502" cy="307777"/>
          </a:xfrm>
          <a:prstGeom prst="rect">
            <a:avLst/>
          </a:prstGeom>
          <a:noFill/>
        </p:spPr>
        <p:txBody>
          <a:bodyPr wrap="square" rtlCol="0">
            <a:spAutoFit/>
          </a:bodyPr>
          <a:lstStyle/>
          <a:p>
            <a:fld id="{635112BE-C4F3-42A2-8F4C-3CE53417D223}" type="slidenum">
              <a:rPr lang="zh-CN" altLang="en-US" sz="1400" smtClean="0">
                <a:solidFill>
                  <a:srgbClr val="0070C0"/>
                </a:solidFill>
                <a:ea typeface="印品黑体" panose="00000500000000000000" pitchFamily="2" charset="-122"/>
              </a:rPr>
              <a:t>20</a:t>
            </a:fld>
            <a:endParaRPr lang="zh-CN" altLang="en-US" sz="1400" dirty="0">
              <a:solidFill>
                <a:srgbClr val="0070C0"/>
              </a:solidFill>
              <a:ea typeface="印品黑体" panose="00000500000000000000" pitchFamily="2" charset="-122"/>
            </a:endParaRPr>
          </a:p>
        </p:txBody>
      </p:sp>
    </p:spTree>
    <p:extLst>
      <p:ext uri="{BB962C8B-B14F-4D97-AF65-F5344CB8AC3E}">
        <p14:creationId xmlns:p14="http://schemas.microsoft.com/office/powerpoint/2010/main" val="25546540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ISLIDE.ICON" val="#35732;"/>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ba8ca89c-1cd4-43a2-9681-8218e4853af8}"/>
  <p:tag name="TABLE_ENDDRAG_ORIGIN_RECT" val="395*187"/>
  <p:tag name="TABLE_ENDDRAG_RECT" val="54*103*395*187"/>
</p:tagLst>
</file>

<file path=ppt/tags/tag19.xml><?xml version="1.0" encoding="utf-8"?>
<p:tagLst xmlns:a="http://schemas.openxmlformats.org/drawingml/2006/main" xmlns:r="http://schemas.openxmlformats.org/officeDocument/2006/relationships" xmlns:p="http://schemas.openxmlformats.org/presentationml/2006/main">
  <p:tag name="TIMING" val="|0.9"/>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自定义 22">
      <a:dk1>
        <a:sysClr val="windowText" lastClr="000000"/>
      </a:dk1>
      <a:lt1>
        <a:sysClr val="window" lastClr="FFFFFF"/>
      </a:lt1>
      <a:dk2>
        <a:srgbClr val="44546A"/>
      </a:dk2>
      <a:lt2>
        <a:srgbClr val="E7E6E6"/>
      </a:lt2>
      <a:accent1>
        <a:srgbClr val="0A73AE"/>
      </a:accent1>
      <a:accent2>
        <a:srgbClr val="0A73AE"/>
      </a:accent2>
      <a:accent3>
        <a:srgbClr val="0A73AE"/>
      </a:accent3>
      <a:accent4>
        <a:srgbClr val="0A73AE"/>
      </a:accent4>
      <a:accent5>
        <a:srgbClr val="0A73AE"/>
      </a:accent5>
      <a:accent6>
        <a:srgbClr val="70AD47"/>
      </a:accent6>
      <a:hlink>
        <a:srgbClr val="0563C1"/>
      </a:hlink>
      <a:folHlink>
        <a:srgbClr val="954F72"/>
      </a:folHlink>
    </a:clrScheme>
    <a:fontScheme name="mmhun255">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5539</TotalTime>
  <Words>2458</Words>
  <Application>Microsoft Office PowerPoint</Application>
  <PresentationFormat>宽屏</PresentationFormat>
  <Paragraphs>293</Paragraphs>
  <Slides>20</Slides>
  <Notes>20</Notes>
  <HiddenSlides>0</HiddenSlides>
  <MMClips>1</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30" baseType="lpstr">
      <vt:lpstr>-apple-system</vt:lpstr>
      <vt:lpstr>宋体</vt:lpstr>
      <vt:lpstr>微软雅黑</vt:lpstr>
      <vt:lpstr>印品黑体</vt:lpstr>
      <vt:lpstr>Arial</vt:lpstr>
      <vt:lpstr>Calibri</vt:lpstr>
      <vt:lpstr>Times New Roman</vt:lpstr>
      <vt:lpstr>Wingdings</vt:lpstr>
      <vt:lpstr>Office Theme</vt:lpstr>
      <vt:lpstr>Equation</vt:lpstr>
      <vt:lpstr>PowerPoint 演示文稿</vt:lpstr>
      <vt:lpstr>PowerPoint 演示文稿</vt:lpstr>
      <vt:lpstr>PowerPoint 演示文稿</vt:lpstr>
      <vt:lpstr>情感分析意义与发展</vt:lpstr>
      <vt:lpstr>预训练模型发展 </vt:lpstr>
      <vt:lpstr>PowerPoint 演示文稿</vt:lpstr>
      <vt:lpstr>算法流程</vt:lpstr>
      <vt:lpstr>数据分析</vt:lpstr>
      <vt:lpstr>上下文建模</vt:lpstr>
      <vt:lpstr>BERT+MMOE</vt:lpstr>
      <vt:lpstr>BERT+AT-LSTM</vt:lpstr>
      <vt:lpstr>BERT+多头注意力</vt:lpstr>
      <vt:lpstr>训练策略</vt:lpstr>
      <vt:lpstr>数据集介绍</vt:lpstr>
      <vt:lpstr>实验结果与模型融合</vt:lpstr>
      <vt:lpstr>PowerPoint 演示文稿</vt:lpstr>
      <vt:lpstr>系统可视化</vt:lpstr>
      <vt:lpstr>PowerPoint 演示文稿</vt:lpstr>
      <vt:lpstr>研究总结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2314981968@qq.com</dc:creator>
  <cp:lastModifiedBy>God Mo</cp:lastModifiedBy>
  <cp:revision>305</cp:revision>
  <dcterms:created xsi:type="dcterms:W3CDTF">2019-11-26T03:41:00Z</dcterms:created>
  <dcterms:modified xsi:type="dcterms:W3CDTF">2024-06-03T03:55:04Z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BC69EB345F4F457288BFAD1BFA019858</vt:lpwstr>
  </property>
  <property fmtid="{D5CDD505-2E9C-101B-9397-08002B2CF9AE}" pid="3" name="KSOProductBuildVer">
    <vt:lpwstr>2052-11.1.0.10700</vt:lpwstr>
  </property>
</Properties>
</file>